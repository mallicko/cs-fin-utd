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1"/>
  </p:sldMasterIdLst>
  <p:sldIdLst>
    <p:sldId id="256" r:id="rId2"/>
    <p:sldId id="257" r:id="rId3"/>
    <p:sldId id="258" r:id="rId4"/>
    <p:sldId id="260" r:id="rId5"/>
    <p:sldId id="259"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94660"/>
  </p:normalViewPr>
  <p:slideViewPr>
    <p:cSldViewPr snapToGrid="0">
      <p:cViewPr>
        <p:scale>
          <a:sx n="79" d="100"/>
          <a:sy n="79" d="100"/>
        </p:scale>
        <p:origin x="184" y="-296"/>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9798E-90C4-48E6-B39B-37FF65347ABD}"/>
              </a:ext>
            </a:extLst>
          </p:cNvPr>
          <p:cNvSpPr>
            <a:spLocks noGrp="1"/>
          </p:cNvSpPr>
          <p:nvPr>
            <p:ph type="ctrTitle"/>
          </p:nvPr>
        </p:nvSpPr>
        <p:spPr>
          <a:xfrm>
            <a:off x="2197100" y="1079500"/>
            <a:ext cx="7797799" cy="2138400"/>
          </a:xfrm>
        </p:spPr>
        <p:txBody>
          <a:bodyPr anchor="b">
            <a:normAutofit/>
          </a:bodyPr>
          <a:lstStyle>
            <a:lvl1pPr algn="ctr">
              <a:defRPr sz="2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93D95C8C-0A7F-40D9-A690-3D5898EFFE81}"/>
              </a:ext>
            </a:extLst>
          </p:cNvPr>
          <p:cNvSpPr>
            <a:spLocks noGrp="1"/>
          </p:cNvSpPr>
          <p:nvPr>
            <p:ph type="subTitle" idx="1"/>
          </p:nvPr>
        </p:nvSpPr>
        <p:spPr>
          <a:xfrm>
            <a:off x="3308350" y="4113213"/>
            <a:ext cx="5575300" cy="1655762"/>
          </a:xfrm>
        </p:spPr>
        <p:txBody>
          <a:bodyPr/>
          <a:lstStyle>
            <a:lvl1pPr marL="0" indent="0" algn="ctr">
              <a:buNone/>
              <a:defRPr sz="24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3D1322F3-E47A-4D6E-96A8-AB5C73BA9906}"/>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12/2/2024</a:t>
            </a:fld>
            <a:endParaRPr lang="en-US" dirty="0"/>
          </a:p>
        </p:txBody>
      </p:sp>
      <p:sp>
        <p:nvSpPr>
          <p:cNvPr id="5" name="Footer Placeholder 4">
            <a:extLst>
              <a:ext uri="{FF2B5EF4-FFF2-40B4-BE49-F238E27FC236}">
                <a16:creationId xmlns:a16="http://schemas.microsoft.com/office/drawing/2014/main" id="{737BF5CE-9E66-4FD5-949F-34E11607C6DF}"/>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4EEDAB7A-4032-416A-B04E-1F4878912E02}"/>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dirty="0"/>
          </a:p>
        </p:txBody>
      </p:sp>
      <p:cxnSp>
        <p:nvCxnSpPr>
          <p:cNvPr id="7" name="Straight Connector 6">
            <a:extLst>
              <a:ext uri="{FF2B5EF4-FFF2-40B4-BE49-F238E27FC236}">
                <a16:creationId xmlns:a16="http://schemas.microsoft.com/office/drawing/2014/main" id="{701C0CAB-6A03-4C6A-9FAA-219847753628}"/>
              </a:ext>
            </a:extLst>
          </p:cNvPr>
          <p:cNvCxnSpPr>
            <a:cxnSpLocks/>
          </p:cNvCxnSpPr>
          <p:nvPr/>
        </p:nvCxnSpPr>
        <p:spPr>
          <a:xfrm>
            <a:off x="5826000" y="3690871"/>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F982E0B2-AA9C-441C-A08E-A9DF9CF12116}"/>
              </a:ext>
            </a:extLst>
          </p:cNvPr>
          <p:cNvGrpSpPr/>
          <p:nvPr/>
        </p:nvGrpSpPr>
        <p:grpSpPr>
          <a:xfrm>
            <a:off x="9728046" y="4869342"/>
            <a:ext cx="1623711" cy="630920"/>
            <a:chOff x="9588346" y="4824892"/>
            <a:chExt cx="1623711" cy="630920"/>
          </a:xfrm>
        </p:grpSpPr>
        <p:sp>
          <p:nvSpPr>
            <p:cNvPr id="16" name="Freeform: Shape 15">
              <a:extLst>
                <a:ext uri="{FF2B5EF4-FFF2-40B4-BE49-F238E27FC236}">
                  <a16:creationId xmlns:a16="http://schemas.microsoft.com/office/drawing/2014/main" id="{A4A2E074-C10D-4C57-AB72-B631E4D77102}"/>
                </a:ext>
              </a:extLst>
            </p:cNvPr>
            <p:cNvSpPr/>
            <p:nvPr/>
          </p:nvSpPr>
          <p:spPr>
            <a:xfrm rot="2700000" flipH="1">
              <a:off x="10267789" y="4452443"/>
              <a:ext cx="571820" cy="1316717"/>
            </a:xfrm>
            <a:custGeom>
              <a:avLst/>
              <a:gdLst>
                <a:gd name="connsiteX0" fmla="*/ 282417 w 571820"/>
                <a:gd name="connsiteY0" fmla="*/ 0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71820" h="1316717">
                  <a:moveTo>
                    <a:pt x="282417" y="0"/>
                  </a:moveTo>
                  <a:lnTo>
                    <a:pt x="285910" y="3175"/>
                  </a:lnTo>
                  <a:lnTo>
                    <a:pt x="287393" y="1827"/>
                  </a:lnTo>
                  <a:lnTo>
                    <a:pt x="289403" y="0"/>
                  </a:lnTo>
                  <a:lnTo>
                    <a:pt x="289403" y="6349"/>
                  </a:lnTo>
                  <a:lnTo>
                    <a:pt x="309203" y="24345"/>
                  </a:lnTo>
                  <a:cubicBezTo>
                    <a:pt x="471461" y="186603"/>
                    <a:pt x="571820" y="410761"/>
                    <a:pt x="571820" y="658359"/>
                  </a:cubicBezTo>
                  <a:cubicBezTo>
                    <a:pt x="571820" y="905956"/>
                    <a:pt x="471461" y="1130114"/>
                    <a:pt x="309203" y="1292372"/>
                  </a:cubicBezTo>
                  <a:lnTo>
                    <a:pt x="289403" y="1310368"/>
                  </a:lnTo>
                  <a:lnTo>
                    <a:pt x="289403" y="1316717"/>
                  </a:lnTo>
                  <a:lnTo>
                    <a:pt x="287393" y="1314890"/>
                  </a:lnTo>
                  <a:lnTo>
                    <a:pt x="285910" y="1313542"/>
                  </a:lnTo>
                  <a:lnTo>
                    <a:pt x="282417" y="1316717"/>
                  </a:lnTo>
                  <a:lnTo>
                    <a:pt x="282417" y="1310367"/>
                  </a:lnTo>
                  <a:lnTo>
                    <a:pt x="262617" y="1292372"/>
                  </a:lnTo>
                  <a:cubicBezTo>
                    <a:pt x="100359" y="1130113"/>
                    <a:pt x="0" y="905956"/>
                    <a:pt x="0" y="658358"/>
                  </a:cubicBezTo>
                  <a:cubicBezTo>
                    <a:pt x="0" y="410761"/>
                    <a:pt x="100359" y="186603"/>
                    <a:pt x="262617" y="24345"/>
                  </a:cubicBezTo>
                  <a:lnTo>
                    <a:pt x="282417" y="6349"/>
                  </a:lnTo>
                  <a:close/>
                </a:path>
              </a:pathLst>
            </a:custGeom>
            <a:solidFill>
              <a:schemeClr val="accent4">
                <a:alpha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0B037EB3-1772-4BA8-A95A-E5DBDFEA32B0}"/>
                </a:ext>
              </a:extLst>
            </p:cNvPr>
            <p:cNvGrpSpPr/>
            <p:nvPr/>
          </p:nvGrpSpPr>
          <p:grpSpPr>
            <a:xfrm rot="2700000" flipH="1">
              <a:off x="10112436" y="4359902"/>
              <a:ext cx="571820" cy="1620000"/>
              <a:chOff x="8482785" y="4330454"/>
              <a:chExt cx="571820" cy="1620000"/>
            </a:xfrm>
          </p:grpSpPr>
          <p:sp>
            <p:nvSpPr>
              <p:cNvPr id="18" name="Freeform: Shape 17">
                <a:extLst>
                  <a:ext uri="{FF2B5EF4-FFF2-40B4-BE49-F238E27FC236}">
                    <a16:creationId xmlns:a16="http://schemas.microsoft.com/office/drawing/2014/main" id="{A1F47AC1-63D0-47F3-9728-1A0A0543494B}"/>
                  </a:ext>
                </a:extLst>
              </p:cNvPr>
              <p:cNvSpPr/>
              <p:nvPr/>
            </p:nvSpPr>
            <p:spPr>
              <a:xfrm>
                <a:off x="8482785" y="4333632"/>
                <a:ext cx="571820" cy="1311956"/>
              </a:xfrm>
              <a:custGeom>
                <a:avLst/>
                <a:gdLst>
                  <a:gd name="connsiteX0" fmla="*/ 282417 w 571820"/>
                  <a:gd name="connsiteY0" fmla="*/ 0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 name="connsiteX0" fmla="*/ 282417 w 571820"/>
                  <a:gd name="connsiteY0" fmla="*/ 6349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 name="connsiteX0" fmla="*/ 262617 w 571820"/>
                  <a:gd name="connsiteY0" fmla="*/ 24345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0" fmla="*/ 262617 w 571820"/>
                  <a:gd name="connsiteY0" fmla="*/ 24345 h 1316717"/>
                  <a:gd name="connsiteX1" fmla="*/ 285910 w 571820"/>
                  <a:gd name="connsiteY1" fmla="*/ 3175 h 1316717"/>
                  <a:gd name="connsiteX2" fmla="*/ 287393 w 571820"/>
                  <a:gd name="connsiteY2" fmla="*/ 1827 h 1316717"/>
                  <a:gd name="connsiteX3" fmla="*/ 289403 w 571820"/>
                  <a:gd name="connsiteY3" fmla="*/ 0 h 1316717"/>
                  <a:gd name="connsiteX4" fmla="*/ 309203 w 571820"/>
                  <a:gd name="connsiteY4" fmla="*/ 24345 h 1316717"/>
                  <a:gd name="connsiteX5" fmla="*/ 571820 w 571820"/>
                  <a:gd name="connsiteY5" fmla="*/ 658359 h 1316717"/>
                  <a:gd name="connsiteX6" fmla="*/ 309203 w 571820"/>
                  <a:gd name="connsiteY6" fmla="*/ 1292372 h 1316717"/>
                  <a:gd name="connsiteX7" fmla="*/ 289403 w 571820"/>
                  <a:gd name="connsiteY7" fmla="*/ 1310368 h 1316717"/>
                  <a:gd name="connsiteX8" fmla="*/ 289403 w 571820"/>
                  <a:gd name="connsiteY8" fmla="*/ 1316717 h 1316717"/>
                  <a:gd name="connsiteX9" fmla="*/ 287393 w 571820"/>
                  <a:gd name="connsiteY9" fmla="*/ 1314890 h 1316717"/>
                  <a:gd name="connsiteX10" fmla="*/ 285910 w 571820"/>
                  <a:gd name="connsiteY10" fmla="*/ 1313542 h 1316717"/>
                  <a:gd name="connsiteX11" fmla="*/ 282417 w 571820"/>
                  <a:gd name="connsiteY11" fmla="*/ 1316717 h 1316717"/>
                  <a:gd name="connsiteX12" fmla="*/ 282417 w 571820"/>
                  <a:gd name="connsiteY12" fmla="*/ 1310367 h 1316717"/>
                  <a:gd name="connsiteX13" fmla="*/ 262617 w 571820"/>
                  <a:gd name="connsiteY13" fmla="*/ 1292372 h 1316717"/>
                  <a:gd name="connsiteX14" fmla="*/ 0 w 571820"/>
                  <a:gd name="connsiteY14" fmla="*/ 658358 h 1316717"/>
                  <a:gd name="connsiteX15" fmla="*/ 262617 w 571820"/>
                  <a:gd name="connsiteY15" fmla="*/ 24345 h 1316717"/>
                  <a:gd name="connsiteX0" fmla="*/ 262617 w 571820"/>
                  <a:gd name="connsiteY0" fmla="*/ 22518 h 1314890"/>
                  <a:gd name="connsiteX1" fmla="*/ 285910 w 571820"/>
                  <a:gd name="connsiteY1" fmla="*/ 1348 h 1314890"/>
                  <a:gd name="connsiteX2" fmla="*/ 287393 w 571820"/>
                  <a:gd name="connsiteY2" fmla="*/ 0 h 1314890"/>
                  <a:gd name="connsiteX3" fmla="*/ 309203 w 571820"/>
                  <a:gd name="connsiteY3" fmla="*/ 22518 h 1314890"/>
                  <a:gd name="connsiteX4" fmla="*/ 571820 w 571820"/>
                  <a:gd name="connsiteY4" fmla="*/ 656532 h 1314890"/>
                  <a:gd name="connsiteX5" fmla="*/ 309203 w 571820"/>
                  <a:gd name="connsiteY5" fmla="*/ 1290545 h 1314890"/>
                  <a:gd name="connsiteX6" fmla="*/ 289403 w 571820"/>
                  <a:gd name="connsiteY6" fmla="*/ 1308541 h 1314890"/>
                  <a:gd name="connsiteX7" fmla="*/ 289403 w 571820"/>
                  <a:gd name="connsiteY7" fmla="*/ 1314890 h 1314890"/>
                  <a:gd name="connsiteX8" fmla="*/ 287393 w 571820"/>
                  <a:gd name="connsiteY8" fmla="*/ 1313063 h 1314890"/>
                  <a:gd name="connsiteX9" fmla="*/ 285910 w 571820"/>
                  <a:gd name="connsiteY9" fmla="*/ 1311715 h 1314890"/>
                  <a:gd name="connsiteX10" fmla="*/ 282417 w 571820"/>
                  <a:gd name="connsiteY10" fmla="*/ 1314890 h 1314890"/>
                  <a:gd name="connsiteX11" fmla="*/ 282417 w 571820"/>
                  <a:gd name="connsiteY11" fmla="*/ 1308540 h 1314890"/>
                  <a:gd name="connsiteX12" fmla="*/ 262617 w 571820"/>
                  <a:gd name="connsiteY12" fmla="*/ 1290545 h 1314890"/>
                  <a:gd name="connsiteX13" fmla="*/ 0 w 571820"/>
                  <a:gd name="connsiteY13" fmla="*/ 656531 h 1314890"/>
                  <a:gd name="connsiteX14" fmla="*/ 262617 w 571820"/>
                  <a:gd name="connsiteY14" fmla="*/ 22518 h 1314890"/>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82417 w 571820"/>
                  <a:gd name="connsiteY9" fmla="*/ 1313542 h 1313542"/>
                  <a:gd name="connsiteX10" fmla="*/ 282417 w 571820"/>
                  <a:gd name="connsiteY10" fmla="*/ 1307192 h 1313542"/>
                  <a:gd name="connsiteX11" fmla="*/ 262617 w 571820"/>
                  <a:gd name="connsiteY11" fmla="*/ 1289197 h 1313542"/>
                  <a:gd name="connsiteX12" fmla="*/ 0 w 571820"/>
                  <a:gd name="connsiteY12" fmla="*/ 655183 h 1313542"/>
                  <a:gd name="connsiteX13" fmla="*/ 262617 w 571820"/>
                  <a:gd name="connsiteY13"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82417 w 571820"/>
                  <a:gd name="connsiteY9" fmla="*/ 1313542 h 1313542"/>
                  <a:gd name="connsiteX10" fmla="*/ 262617 w 571820"/>
                  <a:gd name="connsiteY10" fmla="*/ 1289197 h 1313542"/>
                  <a:gd name="connsiteX11" fmla="*/ 0 w 571820"/>
                  <a:gd name="connsiteY11" fmla="*/ 655183 h 1313542"/>
                  <a:gd name="connsiteX12" fmla="*/ 262617 w 571820"/>
                  <a:gd name="connsiteY12"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62617 w 571820"/>
                  <a:gd name="connsiteY9" fmla="*/ 1289197 h 1313542"/>
                  <a:gd name="connsiteX10" fmla="*/ 0 w 571820"/>
                  <a:gd name="connsiteY10" fmla="*/ 655183 h 1313542"/>
                  <a:gd name="connsiteX11" fmla="*/ 262617 w 571820"/>
                  <a:gd name="connsiteY11"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62617 w 571820"/>
                  <a:gd name="connsiteY8" fmla="*/ 1289197 h 1313542"/>
                  <a:gd name="connsiteX9" fmla="*/ 0 w 571820"/>
                  <a:gd name="connsiteY9" fmla="*/ 655183 h 1313542"/>
                  <a:gd name="connsiteX10" fmla="*/ 262617 w 571820"/>
                  <a:gd name="connsiteY10"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62617 w 571820"/>
                  <a:gd name="connsiteY7" fmla="*/ 1289197 h 1313542"/>
                  <a:gd name="connsiteX8" fmla="*/ 0 w 571820"/>
                  <a:gd name="connsiteY8" fmla="*/ 655183 h 1313542"/>
                  <a:gd name="connsiteX9" fmla="*/ 262617 w 571820"/>
                  <a:gd name="connsiteY9" fmla="*/ 21170 h 1313542"/>
                  <a:gd name="connsiteX0" fmla="*/ 262617 w 571820"/>
                  <a:gd name="connsiteY0" fmla="*/ 21170 h 1364739"/>
                  <a:gd name="connsiteX1" fmla="*/ 285910 w 571820"/>
                  <a:gd name="connsiteY1" fmla="*/ 0 h 1364739"/>
                  <a:gd name="connsiteX2" fmla="*/ 309203 w 571820"/>
                  <a:gd name="connsiteY2" fmla="*/ 21170 h 1364739"/>
                  <a:gd name="connsiteX3" fmla="*/ 571820 w 571820"/>
                  <a:gd name="connsiteY3" fmla="*/ 655184 h 1364739"/>
                  <a:gd name="connsiteX4" fmla="*/ 309203 w 571820"/>
                  <a:gd name="connsiteY4" fmla="*/ 1289197 h 1364739"/>
                  <a:gd name="connsiteX5" fmla="*/ 289403 w 571820"/>
                  <a:gd name="connsiteY5" fmla="*/ 1307193 h 1364739"/>
                  <a:gd name="connsiteX6" fmla="*/ 177485 w 571820"/>
                  <a:gd name="connsiteY6" fmla="*/ 1364739 h 1364739"/>
                  <a:gd name="connsiteX7" fmla="*/ 262617 w 571820"/>
                  <a:gd name="connsiteY7" fmla="*/ 1289197 h 1364739"/>
                  <a:gd name="connsiteX8" fmla="*/ 0 w 571820"/>
                  <a:gd name="connsiteY8" fmla="*/ 655183 h 1364739"/>
                  <a:gd name="connsiteX9" fmla="*/ 262617 w 571820"/>
                  <a:gd name="connsiteY9" fmla="*/ 21170 h 1364739"/>
                  <a:gd name="connsiteX0" fmla="*/ 262617 w 571820"/>
                  <a:gd name="connsiteY0" fmla="*/ 21170 h 1364739"/>
                  <a:gd name="connsiteX1" fmla="*/ 285910 w 571820"/>
                  <a:gd name="connsiteY1" fmla="*/ 0 h 1364739"/>
                  <a:gd name="connsiteX2" fmla="*/ 309203 w 571820"/>
                  <a:gd name="connsiteY2" fmla="*/ 21170 h 1364739"/>
                  <a:gd name="connsiteX3" fmla="*/ 571820 w 571820"/>
                  <a:gd name="connsiteY3" fmla="*/ 655184 h 1364739"/>
                  <a:gd name="connsiteX4" fmla="*/ 309203 w 571820"/>
                  <a:gd name="connsiteY4" fmla="*/ 1289197 h 1364739"/>
                  <a:gd name="connsiteX5" fmla="*/ 285832 w 571820"/>
                  <a:gd name="connsiteY5" fmla="*/ 1311956 h 1364739"/>
                  <a:gd name="connsiteX6" fmla="*/ 177485 w 571820"/>
                  <a:gd name="connsiteY6" fmla="*/ 1364739 h 1364739"/>
                  <a:gd name="connsiteX7" fmla="*/ 262617 w 571820"/>
                  <a:gd name="connsiteY7" fmla="*/ 1289197 h 1364739"/>
                  <a:gd name="connsiteX8" fmla="*/ 0 w 571820"/>
                  <a:gd name="connsiteY8" fmla="*/ 655183 h 1364739"/>
                  <a:gd name="connsiteX9" fmla="*/ 262617 w 571820"/>
                  <a:gd name="connsiteY9" fmla="*/ 21170 h 1364739"/>
                  <a:gd name="connsiteX0" fmla="*/ 262617 w 571820"/>
                  <a:gd name="connsiteY0" fmla="*/ 21170 h 1311956"/>
                  <a:gd name="connsiteX1" fmla="*/ 285910 w 571820"/>
                  <a:gd name="connsiteY1" fmla="*/ 0 h 1311956"/>
                  <a:gd name="connsiteX2" fmla="*/ 309203 w 571820"/>
                  <a:gd name="connsiteY2" fmla="*/ 21170 h 1311956"/>
                  <a:gd name="connsiteX3" fmla="*/ 571820 w 571820"/>
                  <a:gd name="connsiteY3" fmla="*/ 655184 h 1311956"/>
                  <a:gd name="connsiteX4" fmla="*/ 309203 w 571820"/>
                  <a:gd name="connsiteY4" fmla="*/ 1289197 h 1311956"/>
                  <a:gd name="connsiteX5" fmla="*/ 285832 w 571820"/>
                  <a:gd name="connsiteY5" fmla="*/ 1311956 h 1311956"/>
                  <a:gd name="connsiteX6" fmla="*/ 262617 w 571820"/>
                  <a:gd name="connsiteY6" fmla="*/ 1289197 h 1311956"/>
                  <a:gd name="connsiteX7" fmla="*/ 0 w 571820"/>
                  <a:gd name="connsiteY7" fmla="*/ 655183 h 1311956"/>
                  <a:gd name="connsiteX8" fmla="*/ 262617 w 571820"/>
                  <a:gd name="connsiteY8" fmla="*/ 21170 h 1311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1820" h="1311956">
                    <a:moveTo>
                      <a:pt x="262617" y="21170"/>
                    </a:moveTo>
                    <a:lnTo>
                      <a:pt x="285910" y="0"/>
                    </a:lnTo>
                    <a:lnTo>
                      <a:pt x="309203" y="21170"/>
                    </a:lnTo>
                    <a:cubicBezTo>
                      <a:pt x="471461" y="183428"/>
                      <a:pt x="571820" y="407586"/>
                      <a:pt x="571820" y="655184"/>
                    </a:cubicBezTo>
                    <a:cubicBezTo>
                      <a:pt x="571820" y="902781"/>
                      <a:pt x="471461" y="1126939"/>
                      <a:pt x="309203" y="1289197"/>
                    </a:cubicBezTo>
                    <a:lnTo>
                      <a:pt x="285832" y="1311956"/>
                    </a:lnTo>
                    <a:lnTo>
                      <a:pt x="262617" y="1289197"/>
                    </a:lnTo>
                    <a:cubicBezTo>
                      <a:pt x="100359" y="1126938"/>
                      <a:pt x="0" y="902781"/>
                      <a:pt x="0" y="655183"/>
                    </a:cubicBezTo>
                    <a:cubicBezTo>
                      <a:pt x="0" y="407586"/>
                      <a:pt x="100359" y="183428"/>
                      <a:pt x="262617" y="21170"/>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9" name="Straight Connector 18">
                <a:extLst>
                  <a:ext uri="{FF2B5EF4-FFF2-40B4-BE49-F238E27FC236}">
                    <a16:creationId xmlns:a16="http://schemas.microsoft.com/office/drawing/2014/main" id="{803A57D6-0C36-4560-A08A-16768551EF6F}"/>
                  </a:ext>
                </a:extLst>
              </p:cNvPr>
              <p:cNvCxnSpPr>
                <a:cxnSpLocks/>
              </p:cNvCxnSpPr>
              <p:nvPr/>
            </p:nvCxnSpPr>
            <p:spPr>
              <a:xfrm>
                <a:off x="8768695" y="4330454"/>
                <a:ext cx="0" cy="162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14221081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A217A-A229-4751-8D09-0CAD914F628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A9DEA33-60C3-4B28-B3EF-E93D6D46A30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7D3B28-C66B-4279-AB67-2BC1D01239A4}"/>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12/2/2024</a:t>
            </a:fld>
            <a:endParaRPr lang="en-US"/>
          </a:p>
        </p:txBody>
      </p:sp>
      <p:sp>
        <p:nvSpPr>
          <p:cNvPr id="5" name="Footer Placeholder 4">
            <a:extLst>
              <a:ext uri="{FF2B5EF4-FFF2-40B4-BE49-F238E27FC236}">
                <a16:creationId xmlns:a16="http://schemas.microsoft.com/office/drawing/2014/main" id="{8928FF39-A0DA-4F77-9297-B83C86B575D9}"/>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69D7D65A-9D4E-42F6-A8BF-1EEAFB180710}"/>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36959719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017BB-B242-4CC6-887C-83E08CE2D54A}"/>
              </a:ext>
            </a:extLst>
          </p:cNvPr>
          <p:cNvSpPr>
            <a:spLocks noGrp="1"/>
          </p:cNvSpPr>
          <p:nvPr>
            <p:ph type="title"/>
          </p:nvPr>
        </p:nvSpPr>
        <p:spPr>
          <a:xfrm>
            <a:off x="1079500" y="2252663"/>
            <a:ext cx="4457700" cy="2349500"/>
          </a:xfrm>
        </p:spPr>
        <p:txBody>
          <a:bodyPr anchor="ctr" anchorCtr="0">
            <a:normAutofit/>
          </a:bodyPr>
          <a:lstStyle>
            <a:lvl1pPr algn="ctr">
              <a:defRPr sz="2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6695823-EA83-493F-8FEC-C72B5B9CF2FD}"/>
              </a:ext>
            </a:extLst>
          </p:cNvPr>
          <p:cNvSpPr>
            <a:spLocks noGrp="1"/>
          </p:cNvSpPr>
          <p:nvPr>
            <p:ph type="body" idx="1"/>
          </p:nvPr>
        </p:nvSpPr>
        <p:spPr>
          <a:xfrm>
            <a:off x="6654800" y="2252664"/>
            <a:ext cx="4451348" cy="2349500"/>
          </a:xfrm>
        </p:spPr>
        <p:txBody>
          <a:bodyPr anchor="ctr" anchorCtr="0"/>
          <a:lstStyle>
            <a:lvl1pPr marL="0" indent="0">
              <a:buNone/>
              <a:defRPr sz="2400" i="1">
                <a:solidFill>
                  <a:schemeClr val="tx1">
                    <a:alpha val="7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1E08E54-36BB-4AB4-BE1F-5FA8207BEAF8}"/>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12/2/2024</a:t>
            </a:fld>
            <a:endParaRPr lang="en-US"/>
          </a:p>
        </p:txBody>
      </p:sp>
      <p:sp>
        <p:nvSpPr>
          <p:cNvPr id="5" name="Footer Placeholder 4">
            <a:extLst>
              <a:ext uri="{FF2B5EF4-FFF2-40B4-BE49-F238E27FC236}">
                <a16:creationId xmlns:a16="http://schemas.microsoft.com/office/drawing/2014/main" id="{C0453A6A-C55A-40A1-A3BB-DB417047F547}"/>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6D6E656-7AC0-4BD3-AFE5-4B5122E2F2D8}"/>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grpSp>
        <p:nvGrpSpPr>
          <p:cNvPr id="20" name="Group 19">
            <a:extLst>
              <a:ext uri="{FF2B5EF4-FFF2-40B4-BE49-F238E27FC236}">
                <a16:creationId xmlns:a16="http://schemas.microsoft.com/office/drawing/2014/main" id="{E9ABE19D-0B51-4388-93D1-0CD6B767115D}"/>
              </a:ext>
            </a:extLst>
          </p:cNvPr>
          <p:cNvGrpSpPr/>
          <p:nvPr/>
        </p:nvGrpSpPr>
        <p:grpSpPr>
          <a:xfrm>
            <a:off x="999771" y="932104"/>
            <a:ext cx="913428" cy="1032464"/>
            <a:chOff x="999771" y="932104"/>
            <a:chExt cx="913428" cy="1032464"/>
          </a:xfrm>
        </p:grpSpPr>
        <p:grpSp>
          <p:nvGrpSpPr>
            <p:cNvPr id="21" name="Group 20">
              <a:extLst>
                <a:ext uri="{FF2B5EF4-FFF2-40B4-BE49-F238E27FC236}">
                  <a16:creationId xmlns:a16="http://schemas.microsoft.com/office/drawing/2014/main" id="{46226ED6-7133-4222-9552-0EA4B1B3C9FB}"/>
                </a:ext>
              </a:extLst>
            </p:cNvPr>
            <p:cNvGrpSpPr/>
            <p:nvPr/>
          </p:nvGrpSpPr>
          <p:grpSpPr>
            <a:xfrm rot="8100000" flipV="1">
              <a:off x="1047457" y="1290386"/>
              <a:ext cx="865742" cy="628383"/>
              <a:chOff x="558167" y="958515"/>
              <a:chExt cx="865742" cy="628383"/>
            </a:xfrm>
            <a:solidFill>
              <a:schemeClr val="accent3"/>
            </a:solidFill>
          </p:grpSpPr>
          <p:sp>
            <p:nvSpPr>
              <p:cNvPr id="28" name="Freeform: Shape 27">
                <a:extLst>
                  <a:ext uri="{FF2B5EF4-FFF2-40B4-BE49-F238E27FC236}">
                    <a16:creationId xmlns:a16="http://schemas.microsoft.com/office/drawing/2014/main" id="{BE810E40-D42F-4034-93BA-54446465D20B}"/>
                  </a:ext>
                </a:extLst>
              </p:cNvPr>
              <p:cNvSpPr/>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9" name="Freeform: Shape 28">
                <a:extLst>
                  <a:ext uri="{FF2B5EF4-FFF2-40B4-BE49-F238E27FC236}">
                    <a16:creationId xmlns:a16="http://schemas.microsoft.com/office/drawing/2014/main" id="{60F6BFC2-CA89-42B8-8A5A-E9F26BA87FBB}"/>
                  </a:ext>
                </a:extLst>
              </p:cNvPr>
              <p:cNvSpPr/>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22" name="Group 21">
              <a:extLst>
                <a:ext uri="{FF2B5EF4-FFF2-40B4-BE49-F238E27FC236}">
                  <a16:creationId xmlns:a16="http://schemas.microsoft.com/office/drawing/2014/main" id="{1CA36485-DC1D-48C9-91B2-425DBC66D471}"/>
                </a:ext>
              </a:extLst>
            </p:cNvPr>
            <p:cNvGrpSpPr/>
            <p:nvPr/>
          </p:nvGrpSpPr>
          <p:grpSpPr>
            <a:xfrm rot="10800000" flipH="1" flipV="1">
              <a:off x="999771" y="932104"/>
              <a:ext cx="864005" cy="1032464"/>
              <a:chOff x="2207971" y="2384401"/>
              <a:chExt cx="864005" cy="1032464"/>
            </a:xfrm>
          </p:grpSpPr>
          <p:sp>
            <p:nvSpPr>
              <p:cNvPr id="23" name="Freeform: Shape 22">
                <a:extLst>
                  <a:ext uri="{FF2B5EF4-FFF2-40B4-BE49-F238E27FC236}">
                    <a16:creationId xmlns:a16="http://schemas.microsoft.com/office/drawing/2014/main" id="{0ACF276E-196C-4923-B7D1-48A8E6A1669C}"/>
                  </a:ext>
                </a:extLst>
              </p:cNvPr>
              <p:cNvSpPr/>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4" name="Freeform: Shape 23">
                <a:extLst>
                  <a:ext uri="{FF2B5EF4-FFF2-40B4-BE49-F238E27FC236}">
                    <a16:creationId xmlns:a16="http://schemas.microsoft.com/office/drawing/2014/main" id="{FFE3686C-DFF6-4995-81B8-FA38F5BB0401}"/>
                  </a:ext>
                </a:extLst>
              </p:cNvPr>
              <p:cNvSpPr/>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25" name="Group 24">
                <a:extLst>
                  <a:ext uri="{FF2B5EF4-FFF2-40B4-BE49-F238E27FC236}">
                    <a16:creationId xmlns:a16="http://schemas.microsoft.com/office/drawing/2014/main" id="{9DCBF653-CCB9-47B2-9DD9-68847A45D82D}"/>
                  </a:ext>
                </a:extLst>
              </p:cNvPr>
              <p:cNvGrpSpPr/>
              <p:nvPr/>
            </p:nvGrpSpPr>
            <p:grpSpPr>
              <a:xfrm>
                <a:off x="2440769" y="2384401"/>
                <a:ext cx="313009" cy="1032464"/>
                <a:chOff x="2440769" y="2384401"/>
                <a:chExt cx="313009" cy="1032464"/>
              </a:xfrm>
            </p:grpSpPr>
            <p:cxnSp>
              <p:nvCxnSpPr>
                <p:cNvPr id="26" name="Straight Connector 25">
                  <a:extLst>
                    <a:ext uri="{FF2B5EF4-FFF2-40B4-BE49-F238E27FC236}">
                      <a16:creationId xmlns:a16="http://schemas.microsoft.com/office/drawing/2014/main" id="{7F081A1F-C7C9-4907-AAED-B4E9B64973FB}"/>
                    </a:ext>
                  </a:extLst>
                </p:cNvPr>
                <p:cNvCxnSpPr>
                  <a:cxnSpLocks/>
                </p:cNvCxnSpPr>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4F8F89A-0719-4D9A-8379-9EEBD7201052}"/>
                    </a:ext>
                  </a:extLst>
                </p:cNvPr>
                <p:cNvCxnSpPr>
                  <a:cxnSpLocks/>
                </p:cNvCxnSpPr>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30" name="Group 29">
            <a:extLst>
              <a:ext uri="{FF2B5EF4-FFF2-40B4-BE49-F238E27FC236}">
                <a16:creationId xmlns:a16="http://schemas.microsoft.com/office/drawing/2014/main" id="{E7AA5779-FF0F-4ACF-A56C-710A4CDEC8A3}"/>
              </a:ext>
            </a:extLst>
          </p:cNvPr>
          <p:cNvGrpSpPr/>
          <p:nvPr/>
        </p:nvGrpSpPr>
        <p:grpSpPr>
          <a:xfrm>
            <a:off x="1437136" y="649304"/>
            <a:ext cx="388541" cy="388541"/>
            <a:chOff x="5752675" y="5440856"/>
            <a:chExt cx="388541" cy="388541"/>
          </a:xfrm>
        </p:grpSpPr>
        <p:sp>
          <p:nvSpPr>
            <p:cNvPr id="31" name="Oval 30">
              <a:extLst>
                <a:ext uri="{FF2B5EF4-FFF2-40B4-BE49-F238E27FC236}">
                  <a16:creationId xmlns:a16="http://schemas.microsoft.com/office/drawing/2014/main" id="{5F0ADB13-4626-4F84-B513-0B58E65C248E}"/>
                </a:ext>
              </a:extLst>
            </p:cNvPr>
            <p:cNvSpPr/>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2" name="Oval 31">
              <a:extLst>
                <a:ext uri="{FF2B5EF4-FFF2-40B4-BE49-F238E27FC236}">
                  <a16:creationId xmlns:a16="http://schemas.microsoft.com/office/drawing/2014/main" id="{AF46BC46-AD78-4932-95BA-D3009154CA7A}"/>
                </a:ext>
              </a:extLst>
            </p:cNvPr>
            <p:cNvSpPr/>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cxnSp>
        <p:nvCxnSpPr>
          <p:cNvPr id="33" name="Straight Connector 32">
            <a:extLst>
              <a:ext uri="{FF2B5EF4-FFF2-40B4-BE49-F238E27FC236}">
                <a16:creationId xmlns:a16="http://schemas.microsoft.com/office/drawing/2014/main" id="{D38118F0-6EA8-4901-9161-9101C6DDD97E}"/>
              </a:ext>
            </a:extLst>
          </p:cNvPr>
          <p:cNvCxnSpPr>
            <a:cxnSpLocks/>
          </p:cNvCxnSpPr>
          <p:nvPr/>
        </p:nvCxnSpPr>
        <p:spPr>
          <a:xfrm rot="16200000" flipH="1">
            <a:off x="5826000" y="3429001"/>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40502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D013D-A80D-4455-B886-0C3448294C02}"/>
              </a:ext>
            </a:extLst>
          </p:cNvPr>
          <p:cNvSpPr>
            <a:spLocks noGrp="1"/>
          </p:cNvSpPr>
          <p:nvPr>
            <p:ph type="title"/>
          </p:nvPr>
        </p:nvSpPr>
        <p:spPr/>
        <p:txBody>
          <a:bodyPr/>
          <a:lstStyle>
            <a:lvl1pPr algn="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A99D3AB-20B9-4D90-8106-506F443682C8}"/>
              </a:ext>
            </a:extLst>
          </p:cNvPr>
          <p:cNvSpPr>
            <a:spLocks noGrp="1"/>
          </p:cNvSpPr>
          <p:nvPr>
            <p:ph sz="half" idx="1"/>
          </p:nvPr>
        </p:nvSpPr>
        <p:spPr>
          <a:xfrm>
            <a:off x="1085850" y="1790700"/>
            <a:ext cx="4740150" cy="3978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85F9DF39-257F-4C10-A7B4-1AA1C66F28E9}"/>
              </a:ext>
            </a:extLst>
          </p:cNvPr>
          <p:cNvSpPr>
            <a:spLocks noGrp="1"/>
          </p:cNvSpPr>
          <p:nvPr>
            <p:ph sz="half" idx="2"/>
          </p:nvPr>
        </p:nvSpPr>
        <p:spPr>
          <a:xfrm>
            <a:off x="6366000" y="1790700"/>
            <a:ext cx="4740150" cy="3978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E0E57E5E-B324-4633-AB65-4A53498B9FAD}"/>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12/2/2024</a:t>
            </a:fld>
            <a:endParaRPr lang="en-US"/>
          </a:p>
        </p:txBody>
      </p:sp>
      <p:sp>
        <p:nvSpPr>
          <p:cNvPr id="6" name="Footer Placeholder 5">
            <a:extLst>
              <a:ext uri="{FF2B5EF4-FFF2-40B4-BE49-F238E27FC236}">
                <a16:creationId xmlns:a16="http://schemas.microsoft.com/office/drawing/2014/main" id="{5B42A16D-8423-4C91-B839-F95380250FA3}"/>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063AD46B-C875-4F91-8991-4A4E5D768D92}"/>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34829953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170C3-74D3-4445-A879-4F7CF42ED29A}"/>
              </a:ext>
            </a:extLst>
          </p:cNvPr>
          <p:cNvSpPr>
            <a:spLocks noGrp="1"/>
          </p:cNvSpPr>
          <p:nvPr>
            <p:ph type="title"/>
          </p:nvPr>
        </p:nvSpPr>
        <p:spPr>
          <a:xfrm>
            <a:off x="1079500" y="1011238"/>
            <a:ext cx="10026650" cy="655637"/>
          </a:xfrm>
        </p:spPr>
        <p:txBody>
          <a:bodyPr>
            <a:normAutofit/>
          </a:bodyPr>
          <a:lstStyle>
            <a:lvl1pPr algn="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2B64494-3C1C-49FE-ADB2-6F41CEEA82EF}"/>
              </a:ext>
            </a:extLst>
          </p:cNvPr>
          <p:cNvSpPr>
            <a:spLocks noGrp="1"/>
          </p:cNvSpPr>
          <p:nvPr>
            <p:ph type="body" idx="1"/>
          </p:nvPr>
        </p:nvSpPr>
        <p:spPr>
          <a:xfrm>
            <a:off x="1079500" y="1854200"/>
            <a:ext cx="4741200" cy="553998"/>
          </a:xfrm>
        </p:spPr>
        <p:txBody>
          <a:bodyPr anchor="t" anchorCtr="0">
            <a:normAutofit/>
          </a:bodyPr>
          <a:lstStyle>
            <a:lvl1pPr marL="0" indent="0">
              <a:lnSpc>
                <a:spcPct val="100000"/>
              </a:lnSpc>
              <a:buNone/>
              <a:defRPr sz="1800" b="0" cap="all" spc="300" baseline="0">
                <a:solidFill>
                  <a:schemeClr val="tx1">
                    <a:alpha val="8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8EE19A6-8340-43A4-9B30-A27DEB9E2BF1}"/>
              </a:ext>
            </a:extLst>
          </p:cNvPr>
          <p:cNvSpPr>
            <a:spLocks noGrp="1"/>
          </p:cNvSpPr>
          <p:nvPr>
            <p:ph sz="half" idx="2"/>
          </p:nvPr>
        </p:nvSpPr>
        <p:spPr>
          <a:xfrm>
            <a:off x="1079500" y="2525561"/>
            <a:ext cx="4741200" cy="3243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7B9D4B31-0090-483A-BF84-CEA2B22D51D5}"/>
              </a:ext>
            </a:extLst>
          </p:cNvPr>
          <p:cNvSpPr>
            <a:spLocks noGrp="1"/>
          </p:cNvSpPr>
          <p:nvPr>
            <p:ph type="body" sz="quarter" idx="3"/>
          </p:nvPr>
        </p:nvSpPr>
        <p:spPr>
          <a:xfrm>
            <a:off x="6364950" y="1854200"/>
            <a:ext cx="4741200" cy="553998"/>
          </a:xfrm>
        </p:spPr>
        <p:txBody>
          <a:bodyPr anchor="t" anchorCtr="0">
            <a:normAutofit/>
          </a:bodyPr>
          <a:lstStyle>
            <a:lvl1pPr marL="0" indent="0">
              <a:lnSpc>
                <a:spcPct val="100000"/>
              </a:lnSpc>
              <a:buNone/>
              <a:defRPr sz="1800" b="0" cap="all" spc="300" baseline="0">
                <a:solidFill>
                  <a:schemeClr val="tx1">
                    <a:alpha val="8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8DB9E9-0BD8-4F85-9342-5C5BA0D35CEA}"/>
              </a:ext>
            </a:extLst>
          </p:cNvPr>
          <p:cNvSpPr>
            <a:spLocks noGrp="1"/>
          </p:cNvSpPr>
          <p:nvPr>
            <p:ph sz="quarter" idx="4"/>
          </p:nvPr>
        </p:nvSpPr>
        <p:spPr>
          <a:xfrm>
            <a:off x="6364950" y="2525560"/>
            <a:ext cx="4741200" cy="3243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52AE3D3E-6168-45C3-BAB4-04FFFB983541}"/>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12/2/2024</a:t>
            </a:fld>
            <a:endParaRPr lang="en-US"/>
          </a:p>
        </p:txBody>
      </p:sp>
      <p:sp>
        <p:nvSpPr>
          <p:cNvPr id="8" name="Footer Placeholder 7">
            <a:extLst>
              <a:ext uri="{FF2B5EF4-FFF2-40B4-BE49-F238E27FC236}">
                <a16:creationId xmlns:a16="http://schemas.microsoft.com/office/drawing/2014/main" id="{DA8F8D02-7CCF-4321-847A-CD553E52A342}"/>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9F966368-2A9A-4617-A2A9-E4E9ACD06381}"/>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34558561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0855A-C7D7-455F-BD47-AB4221DD0240}"/>
              </a:ext>
            </a:extLst>
          </p:cNvPr>
          <p:cNvSpPr>
            <a:spLocks noGrp="1"/>
          </p:cNvSpPr>
          <p:nvPr>
            <p:ph type="title"/>
          </p:nvPr>
        </p:nvSpPr>
        <p:spPr>
          <a:xfrm>
            <a:off x="1079500" y="1079500"/>
            <a:ext cx="10026650" cy="4689475"/>
          </a:xfrm>
        </p:spPr>
        <p:txBody>
          <a:bodyPr anchor="ctr"/>
          <a:lstStyle>
            <a:lvl1pPr algn="ctr">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1629F6FD-C2F8-4688-B52A-ED76F48B8B41}"/>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12/2/2024</a:t>
            </a:fld>
            <a:endParaRPr lang="en-US"/>
          </a:p>
        </p:txBody>
      </p:sp>
      <p:sp>
        <p:nvSpPr>
          <p:cNvPr id="4" name="Footer Placeholder 3">
            <a:extLst>
              <a:ext uri="{FF2B5EF4-FFF2-40B4-BE49-F238E27FC236}">
                <a16:creationId xmlns:a16="http://schemas.microsoft.com/office/drawing/2014/main" id="{AB358F0F-237C-4F8E-A5A7-48269F700B1D}"/>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68C3629E-70C3-44A4-A268-2194CD424AF9}"/>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37564416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0232D4-EC56-49D3-B967-D972B5E5E2C1}"/>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12/2/2024</a:t>
            </a:fld>
            <a:endParaRPr lang="en-US"/>
          </a:p>
        </p:txBody>
      </p:sp>
      <p:sp>
        <p:nvSpPr>
          <p:cNvPr id="3" name="Footer Placeholder 2">
            <a:extLst>
              <a:ext uri="{FF2B5EF4-FFF2-40B4-BE49-F238E27FC236}">
                <a16:creationId xmlns:a16="http://schemas.microsoft.com/office/drawing/2014/main" id="{0B2C3171-136A-405F-B1CF-C0DAFAA21E41}"/>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76523E7E-BA29-40D2-BE24-10E7F7050409}"/>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11019934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607EF-706F-47DD-B487-7C3E4EDE1945}"/>
              </a:ext>
            </a:extLst>
          </p:cNvPr>
          <p:cNvSpPr>
            <a:spLocks noGrp="1"/>
          </p:cNvSpPr>
          <p:nvPr>
            <p:ph type="title"/>
          </p:nvPr>
        </p:nvSpPr>
        <p:spPr>
          <a:xfrm>
            <a:off x="1071607" y="1011238"/>
            <a:ext cx="3906000" cy="1292400"/>
          </a:xfrm>
        </p:spPr>
        <p:txBody>
          <a:bodyPr anchor="t" anchorCtr="0">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8298442-7D9F-4D62-866B-FBA382F06C4C}"/>
              </a:ext>
            </a:extLst>
          </p:cNvPr>
          <p:cNvSpPr>
            <a:spLocks noGrp="1"/>
          </p:cNvSpPr>
          <p:nvPr>
            <p:ph idx="1"/>
          </p:nvPr>
        </p:nvSpPr>
        <p:spPr>
          <a:xfrm>
            <a:off x="5537200" y="955230"/>
            <a:ext cx="5583193" cy="4813745"/>
          </a:xfrm>
        </p:spPr>
        <p:txBody>
          <a:bodyPr/>
          <a:lstStyle>
            <a:lvl1pPr marL="0" indent="0">
              <a:lnSpc>
                <a:spcPct val="100000"/>
              </a:lnSpc>
              <a:buFontTx/>
              <a:buNone/>
              <a:defRPr sz="4800"/>
            </a:lvl1pPr>
            <a:lvl2pPr marL="0">
              <a:lnSpc>
                <a:spcPct val="100000"/>
              </a:lnSpc>
              <a:defRPr sz="4800"/>
            </a:lvl2pPr>
            <a:lvl3pPr marL="0" indent="0">
              <a:buNone/>
              <a:defRPr sz="2000"/>
            </a:lvl3pPr>
            <a:lvl4pPr marL="0">
              <a:defRPr sz="2000"/>
            </a:lvl4pPr>
            <a:lvl5pPr marL="360000">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67D1DB7-AC43-460E-B3C5-9F8B37D1B50A}"/>
              </a:ext>
            </a:extLst>
          </p:cNvPr>
          <p:cNvSpPr>
            <a:spLocks noGrp="1"/>
          </p:cNvSpPr>
          <p:nvPr>
            <p:ph type="body" sz="half" idx="2"/>
          </p:nvPr>
        </p:nvSpPr>
        <p:spPr>
          <a:xfrm>
            <a:off x="1079499" y="2664000"/>
            <a:ext cx="3905999" cy="3106800"/>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0C5DE9-6995-4F6E-AF64-6CE9A677971D}"/>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12/2/2024</a:t>
            </a:fld>
            <a:endParaRPr lang="en-US"/>
          </a:p>
        </p:txBody>
      </p:sp>
      <p:sp>
        <p:nvSpPr>
          <p:cNvPr id="6" name="Footer Placeholder 5">
            <a:extLst>
              <a:ext uri="{FF2B5EF4-FFF2-40B4-BE49-F238E27FC236}">
                <a16:creationId xmlns:a16="http://schemas.microsoft.com/office/drawing/2014/main" id="{388BC655-2B4D-48CA-90B9-740400332295}"/>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1314A7E0-1D83-4CE0-9FFE-3EEE2B3C27ED}"/>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27181886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F7F85-950A-4BED-AE31-5C85DE4FA488}"/>
              </a:ext>
            </a:extLst>
          </p:cNvPr>
          <p:cNvSpPr>
            <a:spLocks noGrp="1"/>
          </p:cNvSpPr>
          <p:nvPr>
            <p:ph type="title"/>
          </p:nvPr>
        </p:nvSpPr>
        <p:spPr>
          <a:xfrm>
            <a:off x="1079501" y="1011238"/>
            <a:ext cx="3905250" cy="1292662"/>
          </a:xfrm>
        </p:spPr>
        <p:txBody>
          <a:bodyPr anchor="t" anchorCtr="0">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813A008-3741-4305-8A06-C0D8404A32BB}"/>
              </a:ext>
            </a:extLst>
          </p:cNvPr>
          <p:cNvSpPr>
            <a:spLocks noGrp="1"/>
          </p:cNvSpPr>
          <p:nvPr>
            <p:ph type="pic" idx="1"/>
          </p:nvPr>
        </p:nvSpPr>
        <p:spPr>
          <a:xfrm>
            <a:off x="5537200" y="531813"/>
            <a:ext cx="6113812" cy="578484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BF2ADC63-3365-4920-AF26-600F4D2EA579}"/>
              </a:ext>
            </a:extLst>
          </p:cNvPr>
          <p:cNvSpPr>
            <a:spLocks noGrp="1"/>
          </p:cNvSpPr>
          <p:nvPr>
            <p:ph type="body" sz="half" idx="2"/>
          </p:nvPr>
        </p:nvSpPr>
        <p:spPr>
          <a:xfrm>
            <a:off x="1079500" y="2663825"/>
            <a:ext cx="3905250" cy="3105150"/>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C161BE-EF8B-4F4D-8197-61442EBC46BD}"/>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12/2/2024</a:t>
            </a:fld>
            <a:endParaRPr lang="en-US"/>
          </a:p>
        </p:txBody>
      </p:sp>
      <p:sp>
        <p:nvSpPr>
          <p:cNvPr id="6" name="Footer Placeholder 5">
            <a:extLst>
              <a:ext uri="{FF2B5EF4-FFF2-40B4-BE49-F238E27FC236}">
                <a16:creationId xmlns:a16="http://schemas.microsoft.com/office/drawing/2014/main" id="{9FD37897-BFE5-414E-9334-53116988DC37}"/>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F5BF024-9A20-4B80-976D-420DCCD1616D}"/>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36696674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B794F-0C7D-47A6-A355-9B54F3A082B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518BEFC-5F95-43C3-A662-CF24426CB374}"/>
              </a:ext>
            </a:extLst>
          </p:cNvPr>
          <p:cNvSpPr>
            <a:spLocks noGrp="1"/>
          </p:cNvSpPr>
          <p:nvPr>
            <p:ph type="body" orient="vert" idx="1"/>
          </p:nvPr>
        </p:nvSpPr>
        <p:spPr>
          <a:xfrm>
            <a:off x="1079500" y="1790700"/>
            <a:ext cx="10026650" cy="39782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E020A41-C226-41AB-8766-C9BF3E9BF9D0}"/>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12/2/2024</a:t>
            </a:fld>
            <a:endParaRPr lang="en-US"/>
          </a:p>
        </p:txBody>
      </p:sp>
      <p:sp>
        <p:nvSpPr>
          <p:cNvPr id="5" name="Footer Placeholder 4">
            <a:extLst>
              <a:ext uri="{FF2B5EF4-FFF2-40B4-BE49-F238E27FC236}">
                <a16:creationId xmlns:a16="http://schemas.microsoft.com/office/drawing/2014/main" id="{877795E9-017B-4505-810D-A5F553A56BC9}"/>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6626A1BD-3429-4C11-B230-8AD083EC3EC2}"/>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3870803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EA11CA2-18BF-408B-A40C-B43A0A7B80FA}"/>
              </a:ext>
            </a:extLst>
          </p:cNvPr>
          <p:cNvSpPr>
            <a:spLocks noGrp="1"/>
          </p:cNvSpPr>
          <p:nvPr>
            <p:ph type="title" orient="vert"/>
          </p:nvPr>
        </p:nvSpPr>
        <p:spPr>
          <a:xfrm>
            <a:off x="9899079" y="1079500"/>
            <a:ext cx="1292662" cy="4689476"/>
          </a:xfrm>
        </p:spPr>
        <p:txBody>
          <a:bodyPr vert="eaVert">
            <a:normAutofit/>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BAE424B6-12FC-41A1-AF7C-7E3931D97204}"/>
              </a:ext>
            </a:extLst>
          </p:cNvPr>
          <p:cNvSpPr>
            <a:spLocks noGrp="1"/>
          </p:cNvSpPr>
          <p:nvPr>
            <p:ph type="body" orient="vert" idx="1"/>
          </p:nvPr>
        </p:nvSpPr>
        <p:spPr>
          <a:xfrm>
            <a:off x="1079499" y="1079500"/>
            <a:ext cx="8495943" cy="468947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35CF957-F921-48CF-97FE-91190C1AE9B3}"/>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12/2/2024</a:t>
            </a:fld>
            <a:endParaRPr lang="en-US"/>
          </a:p>
        </p:txBody>
      </p:sp>
      <p:sp>
        <p:nvSpPr>
          <p:cNvPr id="5" name="Footer Placeholder 4">
            <a:extLst>
              <a:ext uri="{FF2B5EF4-FFF2-40B4-BE49-F238E27FC236}">
                <a16:creationId xmlns:a16="http://schemas.microsoft.com/office/drawing/2014/main" id="{6653F49D-6E0C-47F7-BAAD-A427913DC4D1}"/>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038A122-F390-46CF-BECF-3AE05CA585C4}"/>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33910504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C700152-D18D-4405-8FB2-5985831B57A0}"/>
              </a:ext>
            </a:extLst>
          </p:cNvPr>
          <p:cNvSpPr>
            <a:spLocks noGrp="1"/>
          </p:cNvSpPr>
          <p:nvPr>
            <p:ph type="title"/>
          </p:nvPr>
        </p:nvSpPr>
        <p:spPr>
          <a:xfrm>
            <a:off x="1079500" y="1011238"/>
            <a:ext cx="10026650" cy="655637"/>
          </a:xfrm>
          <a:prstGeom prst="rect">
            <a:avLst/>
          </a:prstGeom>
        </p:spPr>
        <p:txBody>
          <a:bodyPr vert="horz" lIns="0" tIns="0" rIns="0" bIns="0" rtlCol="0" anchor="t" anchorCtr="0">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22E92E1-0C4A-474E-8E29-8DB404101BA7}"/>
              </a:ext>
            </a:extLst>
          </p:cNvPr>
          <p:cNvSpPr>
            <a:spLocks noGrp="1"/>
          </p:cNvSpPr>
          <p:nvPr>
            <p:ph type="body" idx="1"/>
          </p:nvPr>
        </p:nvSpPr>
        <p:spPr>
          <a:xfrm>
            <a:off x="1079500" y="1790700"/>
            <a:ext cx="10026650" cy="3978275"/>
          </a:xfrm>
          <a:prstGeom prst="rect">
            <a:avLst/>
          </a:prstGeom>
        </p:spPr>
        <p:txBody>
          <a:bodyPr vert="horz" lIns="0" tIns="0" rIns="0" bIns="0" rtlCol="0" anchor="t" anchorCtr="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B122E245-B48B-4526-8D2D-9475E64B0624}"/>
              </a:ext>
            </a:extLst>
          </p:cNvPr>
          <p:cNvSpPr>
            <a:spLocks noGrp="1"/>
          </p:cNvSpPr>
          <p:nvPr>
            <p:ph type="dt" sz="half" idx="2"/>
          </p:nvPr>
        </p:nvSpPr>
        <p:spPr>
          <a:xfrm>
            <a:off x="541338" y="6401999"/>
            <a:ext cx="2206625" cy="369332"/>
          </a:xfrm>
          <a:prstGeom prst="rect">
            <a:avLst/>
          </a:prstGeom>
        </p:spPr>
        <p:txBody>
          <a:bodyPr vert="horz" lIns="0" tIns="0" rIns="0" bIns="0" rtlCol="0" anchor="ctr">
            <a:normAutofit/>
          </a:bodyPr>
          <a:lstStyle>
            <a:lvl1pPr algn="l">
              <a:defRPr sz="1000" cap="all" spc="300" baseline="0">
                <a:solidFill>
                  <a:schemeClr val="tx1">
                    <a:alpha val="70000"/>
                  </a:schemeClr>
                </a:solidFill>
              </a:defRPr>
            </a:lvl1pPr>
          </a:lstStyle>
          <a:p>
            <a:fld id="{64F0E216-BA48-4F04-AC4F-645AA0DD6AC6}" type="datetimeFigureOut">
              <a:rPr lang="en-US" smtClean="0"/>
              <a:pPr/>
              <a:t>12/2/2024</a:t>
            </a:fld>
            <a:endParaRPr lang="en-US" dirty="0"/>
          </a:p>
        </p:txBody>
      </p:sp>
      <p:sp>
        <p:nvSpPr>
          <p:cNvPr id="5" name="Footer Placeholder 4">
            <a:extLst>
              <a:ext uri="{FF2B5EF4-FFF2-40B4-BE49-F238E27FC236}">
                <a16:creationId xmlns:a16="http://schemas.microsoft.com/office/drawing/2014/main" id="{C2A0FE5C-A494-40F2-A357-786AFFA6318E}"/>
              </a:ext>
            </a:extLst>
          </p:cNvPr>
          <p:cNvSpPr>
            <a:spLocks noGrp="1"/>
          </p:cNvSpPr>
          <p:nvPr>
            <p:ph type="ftr" sz="quarter" idx="3"/>
          </p:nvPr>
        </p:nvSpPr>
        <p:spPr>
          <a:xfrm>
            <a:off x="3308350" y="6401999"/>
            <a:ext cx="5575300" cy="369332"/>
          </a:xfrm>
          <a:prstGeom prst="rect">
            <a:avLst/>
          </a:prstGeom>
        </p:spPr>
        <p:txBody>
          <a:bodyPr vert="horz" lIns="0" tIns="0" rIns="0" bIns="0" rtlCol="0" anchor="ctr">
            <a:normAutofit/>
          </a:bodyPr>
          <a:lstStyle>
            <a:lvl1pPr algn="ctr">
              <a:defRPr sz="1000" cap="all" spc="300" baseline="0">
                <a:solidFill>
                  <a:schemeClr val="tx1">
                    <a:alpha val="70000"/>
                  </a:schemeClr>
                </a:solidFill>
              </a:defRPr>
            </a:lvl1pPr>
          </a:lstStyle>
          <a:p>
            <a:endParaRPr lang="en-US" dirty="0"/>
          </a:p>
        </p:txBody>
      </p:sp>
      <p:sp>
        <p:nvSpPr>
          <p:cNvPr id="6" name="Slide Number Placeholder 5">
            <a:extLst>
              <a:ext uri="{FF2B5EF4-FFF2-40B4-BE49-F238E27FC236}">
                <a16:creationId xmlns:a16="http://schemas.microsoft.com/office/drawing/2014/main" id="{504686A1-EDE2-44D9-A671-F708A6F883D7}"/>
              </a:ext>
            </a:extLst>
          </p:cNvPr>
          <p:cNvSpPr>
            <a:spLocks noGrp="1"/>
          </p:cNvSpPr>
          <p:nvPr>
            <p:ph type="sldNum" sz="quarter" idx="4"/>
          </p:nvPr>
        </p:nvSpPr>
        <p:spPr>
          <a:xfrm>
            <a:off x="9442800" y="6401999"/>
            <a:ext cx="2208212" cy="369332"/>
          </a:xfrm>
          <a:prstGeom prst="rect">
            <a:avLst/>
          </a:prstGeom>
        </p:spPr>
        <p:txBody>
          <a:bodyPr vert="horz" lIns="0" tIns="0" rIns="0" bIns="0" rtlCol="0" anchor="ctr">
            <a:normAutofit/>
          </a:bodyPr>
          <a:lstStyle>
            <a:lvl1pPr algn="r">
              <a:defRPr sz="1000" cap="all" spc="300" baseline="0">
                <a:solidFill>
                  <a:schemeClr val="tx1">
                    <a:alpha val="70000"/>
                  </a:schemeClr>
                </a:solidFill>
              </a:defRPr>
            </a:lvl1p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2708622621"/>
      </p:ext>
    </p:extLst>
  </p:cSld>
  <p:clrMap bg1="dk1" tx1="lt1" bg2="dk2" tx2="lt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Lst>
  <p:txStyles>
    <p:titleStyle>
      <a:lvl1pPr algn="l" defTabSz="914400" rtl="0" eaLnBrk="1" latinLnBrk="0" hangingPunct="1">
        <a:lnSpc>
          <a:spcPct val="100000"/>
        </a:lnSpc>
        <a:spcBef>
          <a:spcPct val="0"/>
        </a:spcBef>
        <a:buNone/>
        <a:defRPr sz="2800" kern="1200" cap="all" spc="400" baseline="0">
          <a:solidFill>
            <a:schemeClr val="tx1"/>
          </a:solidFill>
          <a:latin typeface="+mj-lt"/>
          <a:ea typeface="+mj-ea"/>
          <a:cs typeface="+mj-cs"/>
        </a:defRPr>
      </a:lvl1pPr>
    </p:titleStyle>
    <p:bodyStyle>
      <a:lvl1pPr marL="360000" indent="-360000" algn="l" defTabSz="914400" rtl="0" eaLnBrk="1" latinLnBrk="0" hangingPunct="1">
        <a:lnSpc>
          <a:spcPct val="125000"/>
        </a:lnSpc>
        <a:spcBef>
          <a:spcPts val="1000"/>
        </a:spcBef>
        <a:buClr>
          <a:schemeClr val="accent1">
            <a:lumMod val="60000"/>
            <a:lumOff val="40000"/>
          </a:schemeClr>
        </a:buClr>
        <a:buFont typeface="Wingdings" panose="05000000000000000000" pitchFamily="2" charset="2"/>
        <a:buChar char=""/>
        <a:defRPr sz="2000" kern="1200">
          <a:solidFill>
            <a:schemeClr val="tx1">
              <a:alpha val="70000"/>
            </a:schemeClr>
          </a:solidFill>
          <a:latin typeface="+mn-lt"/>
          <a:ea typeface="+mn-ea"/>
          <a:cs typeface="+mn-cs"/>
        </a:defRPr>
      </a:lvl1pPr>
      <a:lvl2pPr marL="360000" indent="0" algn="l" defTabSz="914400" rtl="0" eaLnBrk="1" latinLnBrk="0" hangingPunct="1">
        <a:lnSpc>
          <a:spcPct val="125000"/>
        </a:lnSpc>
        <a:spcBef>
          <a:spcPts val="500"/>
        </a:spcBef>
        <a:buClr>
          <a:schemeClr val="accent1">
            <a:lumMod val="60000"/>
            <a:lumOff val="40000"/>
          </a:schemeClr>
        </a:buClr>
        <a:buFontTx/>
        <a:buNone/>
        <a:defRPr sz="2000" i="1" kern="1200">
          <a:solidFill>
            <a:schemeClr val="tx1">
              <a:alpha val="70000"/>
            </a:schemeClr>
          </a:solidFill>
          <a:latin typeface="+mn-lt"/>
          <a:ea typeface="+mn-ea"/>
          <a:cs typeface="+mn-cs"/>
        </a:defRPr>
      </a:lvl2pPr>
      <a:lvl3pPr marL="1080000" indent="-360000" algn="l" defTabSz="914400" rtl="0" eaLnBrk="1" latinLnBrk="0" hangingPunct="1">
        <a:lnSpc>
          <a:spcPct val="125000"/>
        </a:lnSpc>
        <a:spcBef>
          <a:spcPts val="500"/>
        </a:spcBef>
        <a:buClr>
          <a:schemeClr val="accent1">
            <a:lumMod val="60000"/>
            <a:lumOff val="40000"/>
          </a:schemeClr>
        </a:buClr>
        <a:buFont typeface="Wingdings" panose="05000000000000000000" pitchFamily="2" charset="2"/>
        <a:buChar char=""/>
        <a:defRPr sz="2000" kern="1200">
          <a:solidFill>
            <a:schemeClr val="tx1">
              <a:alpha val="70000"/>
            </a:schemeClr>
          </a:solidFill>
          <a:latin typeface="+mn-lt"/>
          <a:ea typeface="+mn-ea"/>
          <a:cs typeface="+mn-cs"/>
        </a:defRPr>
      </a:lvl3pPr>
      <a:lvl4pPr marL="1080000" indent="0" algn="l" defTabSz="914400" rtl="0" eaLnBrk="1" latinLnBrk="0" hangingPunct="1">
        <a:lnSpc>
          <a:spcPct val="125000"/>
        </a:lnSpc>
        <a:spcBef>
          <a:spcPts val="500"/>
        </a:spcBef>
        <a:buClr>
          <a:schemeClr val="accent1">
            <a:lumMod val="60000"/>
            <a:lumOff val="40000"/>
          </a:schemeClr>
        </a:buClr>
        <a:buFontTx/>
        <a:buNone/>
        <a:defRPr sz="2000" i="1" kern="1200">
          <a:solidFill>
            <a:schemeClr val="tx1">
              <a:alpha val="70000"/>
            </a:schemeClr>
          </a:solidFill>
          <a:latin typeface="+mn-lt"/>
          <a:ea typeface="+mn-ea"/>
          <a:cs typeface="+mn-cs"/>
        </a:defRPr>
      </a:lvl4pPr>
      <a:lvl5pPr marL="1800000" indent="-360000" algn="l" defTabSz="914400" rtl="0" eaLnBrk="1" latinLnBrk="0" hangingPunct="1">
        <a:lnSpc>
          <a:spcPct val="125000"/>
        </a:lnSpc>
        <a:spcBef>
          <a:spcPts val="500"/>
        </a:spcBef>
        <a:buClr>
          <a:schemeClr val="accent1">
            <a:lumMod val="60000"/>
            <a:lumOff val="40000"/>
          </a:schemeClr>
        </a:buClr>
        <a:buFont typeface="Wingdings" panose="05000000000000000000" pitchFamily="2" charset="2"/>
        <a:buChar char=""/>
        <a:defRPr sz="2000" kern="1200">
          <a:solidFill>
            <a:schemeClr val="tx1">
              <a:alpha val="7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hyperlink" Target="https://diggita.com/story.php?title=Recensione_e_descrizione_App_Duolingo" TargetMode="External"/><Relationship Id="rId2" Type="http://schemas.openxmlformats.org/officeDocument/2006/relationships/image" Target="../media/image3.png"/><Relationship Id="rId1" Type="http://schemas.openxmlformats.org/officeDocument/2006/relationships/slideLayout" Target="../slideLayouts/slideLayout9.xml"/><Relationship Id="rId5" Type="http://schemas.openxmlformats.org/officeDocument/2006/relationships/hyperlink" Target="http://www.flickr.com/photos/58180899@N07/8482986184/" TargetMode="External"/><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www.coursera.org/articles/history-of-ai.%20Accessed%201%20Dec.%202024"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011B0B3-5679-4759-90B8-3B908C4CBD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87C069CF-217C-DC36-AB7A-E62AB687D2EF}"/>
              </a:ext>
            </a:extLst>
          </p:cNvPr>
          <p:cNvSpPr>
            <a:spLocks noGrp="1"/>
          </p:cNvSpPr>
          <p:nvPr>
            <p:ph type="subTitle" idx="1"/>
          </p:nvPr>
        </p:nvSpPr>
        <p:spPr>
          <a:xfrm>
            <a:off x="3870326" y="4602162"/>
            <a:ext cx="4451347" cy="1720850"/>
          </a:xfrm>
        </p:spPr>
        <p:txBody>
          <a:bodyPr anchor="ctr">
            <a:normAutofit/>
          </a:bodyPr>
          <a:lstStyle/>
          <a:p>
            <a:r>
              <a:rPr lang="en-US" dirty="0"/>
              <a:t>Made By</a:t>
            </a:r>
          </a:p>
          <a:p>
            <a:r>
              <a:rPr lang="en-US" dirty="0"/>
              <a:t> </a:t>
            </a:r>
          </a:p>
          <a:p>
            <a:r>
              <a:rPr lang="en-US" dirty="0"/>
              <a:t>Swastik Mallick</a:t>
            </a:r>
          </a:p>
        </p:txBody>
      </p:sp>
      <p:pic>
        <p:nvPicPr>
          <p:cNvPr id="4" name="Picture 3" descr="Cloudy oil paint art">
            <a:extLst>
              <a:ext uri="{FF2B5EF4-FFF2-40B4-BE49-F238E27FC236}">
                <a16:creationId xmlns:a16="http://schemas.microsoft.com/office/drawing/2014/main" id="{B037DE3A-0C79-76F2-55B7-549DF71EEAB3}"/>
              </a:ext>
            </a:extLst>
          </p:cNvPr>
          <p:cNvPicPr>
            <a:picLocks noChangeAspect="1"/>
          </p:cNvPicPr>
          <p:nvPr/>
        </p:nvPicPr>
        <p:blipFill>
          <a:blip r:embed="rId2"/>
          <a:srcRect t="32725" b="17942"/>
          <a:stretch/>
        </p:blipFill>
        <p:spPr>
          <a:xfrm>
            <a:off x="20" y="10"/>
            <a:ext cx="12191977" cy="4014777"/>
          </a:xfrm>
          <a:prstGeom prst="rect">
            <a:avLst/>
          </a:prstGeom>
        </p:spPr>
      </p:pic>
      <p:cxnSp>
        <p:nvCxnSpPr>
          <p:cNvPr id="11" name="Straight Connector 10">
            <a:extLst>
              <a:ext uri="{FF2B5EF4-FFF2-40B4-BE49-F238E27FC236}">
                <a16:creationId xmlns:a16="http://schemas.microsoft.com/office/drawing/2014/main" id="{32E97E5C-7A5F-424E-AAE4-654396E9079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5400000">
            <a:off x="5826000" y="5462587"/>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BBA6566-C621-1CD1-3AE5-E509F6EE71B4}"/>
              </a:ext>
            </a:extLst>
          </p:cNvPr>
          <p:cNvSpPr>
            <a:spLocks noGrp="1"/>
          </p:cNvSpPr>
          <p:nvPr>
            <p:ph type="ctrTitle"/>
          </p:nvPr>
        </p:nvSpPr>
        <p:spPr>
          <a:xfrm>
            <a:off x="3167385" y="534988"/>
            <a:ext cx="6236741" cy="2611739"/>
          </a:xfrm>
        </p:spPr>
        <p:txBody>
          <a:bodyPr anchor="ctr">
            <a:normAutofit/>
          </a:bodyPr>
          <a:lstStyle/>
          <a:p>
            <a:r>
              <a:rPr lang="en-US" sz="3200" b="1" dirty="0">
                <a:solidFill>
                  <a:schemeClr val="bg2"/>
                </a:solidFill>
              </a:rPr>
              <a:t>Artificial Intelligence in Education</a:t>
            </a:r>
          </a:p>
        </p:txBody>
      </p:sp>
    </p:spTree>
    <p:extLst>
      <p:ext uri="{BB962C8B-B14F-4D97-AF65-F5344CB8AC3E}">
        <p14:creationId xmlns:p14="http://schemas.microsoft.com/office/powerpoint/2010/main" val="25850317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DD90D69-1E1F-17B6-8E3C-19C8787969F1}"/>
              </a:ext>
            </a:extLst>
          </p:cNvPr>
          <p:cNvSpPr>
            <a:spLocks noGrp="1"/>
          </p:cNvSpPr>
          <p:nvPr>
            <p:ph type="title"/>
          </p:nvPr>
        </p:nvSpPr>
        <p:spPr>
          <a:xfrm>
            <a:off x="4984750" y="1011237"/>
            <a:ext cx="6120000" cy="860400"/>
          </a:xfrm>
        </p:spPr>
        <p:txBody>
          <a:bodyPr vert="horz" lIns="0" tIns="0" rIns="0" bIns="0" rtlCol="0" anchor="b" anchorCtr="0">
            <a:normAutofit/>
          </a:bodyPr>
          <a:lstStyle/>
          <a:p>
            <a:pPr algn="ctr"/>
            <a:r>
              <a:rPr lang="en-US"/>
              <a:t>INTRODUCTION</a:t>
            </a:r>
          </a:p>
        </p:txBody>
      </p:sp>
      <p:pic>
        <p:nvPicPr>
          <p:cNvPr id="12" name="Content Placeholder 11" descr="3D face graphic">
            <a:extLst>
              <a:ext uri="{FF2B5EF4-FFF2-40B4-BE49-F238E27FC236}">
                <a16:creationId xmlns:a16="http://schemas.microsoft.com/office/drawing/2014/main" id="{38A52C4F-08FC-F33D-CC99-07C5C1259AE5}"/>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42337" r="19986" b="-1"/>
          <a:stretch/>
        </p:blipFill>
        <p:spPr>
          <a:xfrm>
            <a:off x="20" y="10"/>
            <a:ext cx="3870969" cy="6857990"/>
          </a:xfrm>
          <a:prstGeom prst="rect">
            <a:avLst/>
          </a:prstGeom>
        </p:spPr>
      </p:pic>
      <p:cxnSp>
        <p:nvCxnSpPr>
          <p:cNvPr id="19" name="Straight Connector 18">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34FB3DA9-C471-4FF5-0014-050AB7AAA96A}"/>
              </a:ext>
            </a:extLst>
          </p:cNvPr>
          <p:cNvSpPr>
            <a:spLocks noGrp="1"/>
          </p:cNvSpPr>
          <p:nvPr>
            <p:ph type="body" sz="half" idx="2"/>
          </p:nvPr>
        </p:nvSpPr>
        <p:spPr>
          <a:xfrm>
            <a:off x="4984750" y="2759076"/>
            <a:ext cx="6121400" cy="3009899"/>
          </a:xfrm>
        </p:spPr>
        <p:txBody>
          <a:bodyPr vert="horz" lIns="0" tIns="0" rIns="0" bIns="0" rtlCol="0" anchor="t" anchorCtr="0">
            <a:normAutofit/>
          </a:bodyPr>
          <a:lstStyle/>
          <a:p>
            <a:r>
              <a:rPr lang="en-US" dirty="0">
                <a:effectLst/>
              </a:rPr>
              <a:t>Artificial intelligence (AI) is rapidly reshaping the educational landscape, introducing unprecedented opportunities to enhance learning, expand accessibility, and streamline administrative processes. With its ability to tailor education to individual needs and automate repetitive tasks, AI offers a promising future for both educators and learners. </a:t>
            </a:r>
            <a:endParaRPr lang="en-US" dirty="0"/>
          </a:p>
        </p:txBody>
      </p:sp>
    </p:spTree>
    <p:extLst>
      <p:ext uri="{BB962C8B-B14F-4D97-AF65-F5344CB8AC3E}">
        <p14:creationId xmlns:p14="http://schemas.microsoft.com/office/powerpoint/2010/main" val="35206439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1D53D2-57DD-24FE-E6F3-DC611E4073A0}"/>
              </a:ext>
            </a:extLst>
          </p:cNvPr>
          <p:cNvSpPr>
            <a:spLocks noGrp="1"/>
          </p:cNvSpPr>
          <p:nvPr>
            <p:ph type="title"/>
          </p:nvPr>
        </p:nvSpPr>
        <p:spPr>
          <a:xfrm>
            <a:off x="1080000" y="540000"/>
            <a:ext cx="4426782" cy="1331637"/>
          </a:xfrm>
        </p:spPr>
        <p:txBody>
          <a:bodyPr vert="horz" lIns="0" tIns="0" rIns="0" bIns="0" rtlCol="0" anchor="b" anchorCtr="0">
            <a:normAutofit/>
          </a:bodyPr>
          <a:lstStyle/>
          <a:p>
            <a:pPr algn="ctr"/>
            <a:r>
              <a:rPr lang="en-US" dirty="0"/>
              <a:t>Personal System</a:t>
            </a:r>
          </a:p>
        </p:txBody>
      </p:sp>
      <p:cxnSp>
        <p:nvCxnSpPr>
          <p:cNvPr id="17" name="Straight Connector 16">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023391" y="2310207"/>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2D20A0F6-ECFB-EC42-4B71-31411CEB11A7}"/>
              </a:ext>
            </a:extLst>
          </p:cNvPr>
          <p:cNvSpPr>
            <a:spLocks noGrp="1"/>
          </p:cNvSpPr>
          <p:nvPr>
            <p:ph type="body" sz="half" idx="2"/>
          </p:nvPr>
        </p:nvSpPr>
        <p:spPr>
          <a:xfrm>
            <a:off x="1080000" y="2759076"/>
            <a:ext cx="4460874" cy="3009899"/>
          </a:xfrm>
        </p:spPr>
        <p:txBody>
          <a:bodyPr vert="horz" lIns="0" tIns="0" rIns="0" bIns="0" rtlCol="0" anchor="t" anchorCtr="0">
            <a:normAutofit/>
          </a:bodyPr>
          <a:lstStyle/>
          <a:p>
            <a:pPr>
              <a:lnSpc>
                <a:spcPct val="115000"/>
              </a:lnSpc>
            </a:pPr>
            <a:r>
              <a:rPr lang="en-US" sz="1600"/>
              <a:t>AI has been steadily integrating into education through tools like Duolingo, Khan Academy, and Microsoft Immersive Reader. These technologies leverage algorithms and data analysis to adapt to individual learning needs. For example, intelligent tutoring systems provide real-time feedback to students, creating a more interactive learning experience. But these tools are not new; their evolution has made education more efficient and accessible over the years.</a:t>
            </a:r>
          </a:p>
          <a:p>
            <a:pPr>
              <a:lnSpc>
                <a:spcPct val="115000"/>
              </a:lnSpc>
            </a:pPr>
            <a:endParaRPr lang="en-US" sz="1600"/>
          </a:p>
        </p:txBody>
      </p:sp>
      <p:sp>
        <p:nvSpPr>
          <p:cNvPr id="19" name="Rectangle 18">
            <a:extLst>
              <a:ext uri="{FF2B5EF4-FFF2-40B4-BE49-F238E27FC236}">
                <a16:creationId xmlns:a16="http://schemas.microsoft.com/office/drawing/2014/main" id="{C0B9CDC7-5D3C-4184-9491-855E593622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54794" y="0"/>
            <a:ext cx="5537206" cy="6858000"/>
          </a:xfrm>
          <a:prstGeom prst="rect">
            <a:avLst/>
          </a:prstGeom>
          <a:solidFill>
            <a:schemeClr val="bg1">
              <a:alpha val="2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pic>
        <p:nvPicPr>
          <p:cNvPr id="9" name="Picture 8" descr="A green owl with a yellow beak&#10;&#10;Description automatically generated">
            <a:extLst>
              <a:ext uri="{FF2B5EF4-FFF2-40B4-BE49-F238E27FC236}">
                <a16:creationId xmlns:a16="http://schemas.microsoft.com/office/drawing/2014/main" id="{1BD0ADC1-F1A2-D0ED-CFE4-3C7DFD1225FD}"/>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8054513" y="540000"/>
            <a:ext cx="2754000" cy="2754000"/>
          </a:xfrm>
          <a:prstGeom prst="rect">
            <a:avLst/>
          </a:prstGeom>
        </p:spPr>
      </p:pic>
      <p:pic>
        <p:nvPicPr>
          <p:cNvPr id="6" name="Picture 5" descr="A logo for a company&#10;&#10;Description automatically generated">
            <a:extLst>
              <a:ext uri="{FF2B5EF4-FFF2-40B4-BE49-F238E27FC236}">
                <a16:creationId xmlns:a16="http://schemas.microsoft.com/office/drawing/2014/main" id="{9E474B41-C59F-40C4-4572-3FDACB28934B}"/>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7816264" y="3564000"/>
            <a:ext cx="3230498" cy="2754000"/>
          </a:xfrm>
          <a:prstGeom prst="rect">
            <a:avLst/>
          </a:prstGeom>
        </p:spPr>
      </p:pic>
    </p:spTree>
    <p:extLst>
      <p:ext uri="{BB962C8B-B14F-4D97-AF65-F5344CB8AC3E}">
        <p14:creationId xmlns:p14="http://schemas.microsoft.com/office/powerpoint/2010/main" val="17272787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I officially enters the classroom: Khan Academy develops GPT-4 based  assistant Khanmigo - BusinessToday">
            <a:extLst>
              <a:ext uri="{FF2B5EF4-FFF2-40B4-BE49-F238E27FC236}">
                <a16:creationId xmlns:a16="http://schemas.microsoft.com/office/drawing/2014/main" id="{714EC3AE-2BB3-6B66-9EFF-209D89A69D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4781" y="3465320"/>
            <a:ext cx="5215467" cy="293232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ow Duolingo Combines Human Expertise With Powerful AI In Teaching">
            <a:extLst>
              <a:ext uri="{FF2B5EF4-FFF2-40B4-BE49-F238E27FC236}">
                <a16:creationId xmlns:a16="http://schemas.microsoft.com/office/drawing/2014/main" id="{A11C8A65-454A-79E4-D40E-303B8EA611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82947" y="501163"/>
            <a:ext cx="5215467" cy="3087284"/>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CFA685F7-D03B-86BE-427C-F78EF80D82E5}"/>
              </a:ext>
            </a:extLst>
          </p:cNvPr>
          <p:cNvSpPr txBox="1"/>
          <p:nvPr/>
        </p:nvSpPr>
        <p:spPr>
          <a:xfrm>
            <a:off x="1344990" y="1383695"/>
            <a:ext cx="3420534" cy="646331"/>
          </a:xfrm>
          <a:prstGeom prst="rect">
            <a:avLst/>
          </a:prstGeom>
          <a:noFill/>
        </p:spPr>
        <p:txBody>
          <a:bodyPr wrap="square" rtlCol="0">
            <a:spAutoFit/>
          </a:bodyPr>
          <a:lstStyle/>
          <a:p>
            <a:r>
              <a:rPr lang="en-US" sz="3600" dirty="0"/>
              <a:t>Khan Academy</a:t>
            </a:r>
          </a:p>
        </p:txBody>
      </p:sp>
      <p:sp>
        <p:nvSpPr>
          <p:cNvPr id="3" name="TextBox 2">
            <a:extLst>
              <a:ext uri="{FF2B5EF4-FFF2-40B4-BE49-F238E27FC236}">
                <a16:creationId xmlns:a16="http://schemas.microsoft.com/office/drawing/2014/main" id="{A3938758-D822-BE53-DE91-C56693F92A4F}"/>
              </a:ext>
            </a:extLst>
          </p:cNvPr>
          <p:cNvSpPr txBox="1"/>
          <p:nvPr/>
        </p:nvSpPr>
        <p:spPr>
          <a:xfrm>
            <a:off x="7180413" y="4719562"/>
            <a:ext cx="3420534" cy="646331"/>
          </a:xfrm>
          <a:prstGeom prst="rect">
            <a:avLst/>
          </a:prstGeom>
          <a:noFill/>
        </p:spPr>
        <p:txBody>
          <a:bodyPr wrap="square" rtlCol="0">
            <a:spAutoFit/>
          </a:bodyPr>
          <a:lstStyle/>
          <a:p>
            <a:pPr algn="ctr"/>
            <a:r>
              <a:rPr lang="en-US" sz="3600" dirty="0"/>
              <a:t>Duolingo</a:t>
            </a:r>
          </a:p>
        </p:txBody>
      </p:sp>
    </p:spTree>
    <p:extLst>
      <p:ext uri="{BB962C8B-B14F-4D97-AF65-F5344CB8AC3E}">
        <p14:creationId xmlns:p14="http://schemas.microsoft.com/office/powerpoint/2010/main" val="42389604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074FC-0945-BEC6-3597-1ACBED25DA01}"/>
              </a:ext>
            </a:extLst>
          </p:cNvPr>
          <p:cNvSpPr>
            <a:spLocks noGrp="1"/>
          </p:cNvSpPr>
          <p:nvPr>
            <p:ph type="title"/>
          </p:nvPr>
        </p:nvSpPr>
        <p:spPr/>
        <p:txBody>
          <a:bodyPr>
            <a:normAutofit fontScale="90000"/>
          </a:bodyPr>
          <a:lstStyle/>
          <a:p>
            <a:r>
              <a:rPr lang="en-US" b="1" dirty="0"/>
              <a:t>Intelligent Tutoring Systems</a:t>
            </a:r>
            <a:br>
              <a:rPr lang="en-US" b="1" dirty="0"/>
            </a:br>
            <a:endParaRPr lang="en-US" dirty="0"/>
          </a:p>
        </p:txBody>
      </p:sp>
      <p:sp>
        <p:nvSpPr>
          <p:cNvPr id="3" name="Text Placeholder 2">
            <a:extLst>
              <a:ext uri="{FF2B5EF4-FFF2-40B4-BE49-F238E27FC236}">
                <a16:creationId xmlns:a16="http://schemas.microsoft.com/office/drawing/2014/main" id="{8131431B-3FFA-CF23-5D2E-0D8C88739AEE}"/>
              </a:ext>
            </a:extLst>
          </p:cNvPr>
          <p:cNvSpPr>
            <a:spLocks noGrp="1"/>
          </p:cNvSpPr>
          <p:nvPr>
            <p:ph type="body" idx="1"/>
          </p:nvPr>
        </p:nvSpPr>
        <p:spPr>
          <a:xfrm>
            <a:off x="1079500" y="1854200"/>
            <a:ext cx="4741200" cy="3956352"/>
          </a:xfrm>
        </p:spPr>
        <p:txBody>
          <a:bodyPr>
            <a:normAutofit fontScale="92500" lnSpcReduction="20000"/>
          </a:bodyPr>
          <a:lstStyle/>
          <a:p>
            <a:r>
              <a:rPr lang="en-US" dirty="0"/>
              <a:t>Intelligent Tutoring Systems, or ITS, go beyond traditional online learning by offering real-time, interactive feedback. For example, Carnegie Learning’s MATHia helps students master algebra with adaptive problem sets. Studies have shown that ITS can significantly improve student performance. Despite these advantages, ITS cannot replicate the emotional intelligence of human tutors, which is often vital in encouraging students to persist through challenges.</a:t>
            </a:r>
          </a:p>
          <a:p>
            <a:endParaRPr lang="en-US" dirty="0"/>
          </a:p>
        </p:txBody>
      </p:sp>
      <p:sp>
        <p:nvSpPr>
          <p:cNvPr id="5" name="Text Placeholder 4">
            <a:extLst>
              <a:ext uri="{FF2B5EF4-FFF2-40B4-BE49-F238E27FC236}">
                <a16:creationId xmlns:a16="http://schemas.microsoft.com/office/drawing/2014/main" id="{C27B922F-7171-D0DC-B688-23944C35D9BC}"/>
              </a:ext>
            </a:extLst>
          </p:cNvPr>
          <p:cNvSpPr>
            <a:spLocks noGrp="1"/>
          </p:cNvSpPr>
          <p:nvPr>
            <p:ph type="body" sz="quarter" idx="3"/>
          </p:nvPr>
        </p:nvSpPr>
        <p:spPr/>
        <p:txBody>
          <a:bodyPr>
            <a:normAutofit fontScale="92500" lnSpcReduction="20000"/>
          </a:bodyPr>
          <a:lstStyle/>
          <a:p>
            <a:pPr algn="ctr"/>
            <a:r>
              <a:rPr lang="en-US" b="1" dirty="0"/>
              <a:t>MATHia</a:t>
            </a:r>
          </a:p>
        </p:txBody>
      </p:sp>
      <p:pic>
        <p:nvPicPr>
          <p:cNvPr id="2050" name="Picture 2" descr="Using the MATHia Unit Overview as a Teaching Tool - Carnegie Learning">
            <a:extLst>
              <a:ext uri="{FF2B5EF4-FFF2-40B4-BE49-F238E27FC236}">
                <a16:creationId xmlns:a16="http://schemas.microsoft.com/office/drawing/2014/main" id="{5F98E4C4-8E14-47AE-CB96-4286EA142D87}"/>
              </a:ext>
            </a:extLst>
          </p:cNvPr>
          <p:cNvPicPr>
            <a:picLocks noGrp="1" noChangeAspect="1" noChangeArrowheads="1"/>
          </p:cNvPicPr>
          <p:nvPr>
            <p:ph sz="quarter" idx="4"/>
          </p:nvPr>
        </p:nvPicPr>
        <p:blipFill>
          <a:blip r:embed="rId2">
            <a:extLst>
              <a:ext uri="{28A0092B-C50C-407E-A947-70E740481C1C}">
                <a14:useLocalDpi xmlns:a14="http://schemas.microsoft.com/office/drawing/2010/main" val="0"/>
              </a:ext>
            </a:extLst>
          </a:blip>
          <a:srcRect/>
          <a:stretch>
            <a:fillRect/>
          </a:stretch>
        </p:blipFill>
        <p:spPr bwMode="auto">
          <a:xfrm>
            <a:off x="6096000" y="2084789"/>
            <a:ext cx="5744381" cy="37555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3739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D4FD9-88C5-20E4-896D-912A83A6A4B1}"/>
              </a:ext>
            </a:extLst>
          </p:cNvPr>
          <p:cNvSpPr>
            <a:spLocks noGrp="1"/>
          </p:cNvSpPr>
          <p:nvPr>
            <p:ph type="title"/>
          </p:nvPr>
        </p:nvSpPr>
        <p:spPr/>
        <p:txBody>
          <a:bodyPr>
            <a:normAutofit fontScale="90000"/>
          </a:bodyPr>
          <a:lstStyle/>
          <a:p>
            <a:r>
              <a:rPr lang="en-US" b="1" dirty="0"/>
              <a:t>Accessibility Tools</a:t>
            </a:r>
            <a:br>
              <a:rPr lang="en-US" b="1" dirty="0"/>
            </a:br>
            <a:endParaRPr lang="en-US" dirty="0"/>
          </a:p>
        </p:txBody>
      </p:sp>
      <p:sp>
        <p:nvSpPr>
          <p:cNvPr id="3" name="Content Placeholder 2">
            <a:extLst>
              <a:ext uri="{FF2B5EF4-FFF2-40B4-BE49-F238E27FC236}">
                <a16:creationId xmlns:a16="http://schemas.microsoft.com/office/drawing/2014/main" id="{1EFAF39C-2EE2-1E34-AE5F-958CCFACF7C9}"/>
              </a:ext>
            </a:extLst>
          </p:cNvPr>
          <p:cNvSpPr>
            <a:spLocks noGrp="1"/>
          </p:cNvSpPr>
          <p:nvPr>
            <p:ph idx="1"/>
          </p:nvPr>
        </p:nvSpPr>
        <p:spPr>
          <a:xfrm>
            <a:off x="1079500" y="2316682"/>
            <a:ext cx="10026650" cy="3978275"/>
          </a:xfrm>
        </p:spPr>
        <p:txBody>
          <a:bodyPr/>
          <a:lstStyle/>
          <a:p>
            <a:r>
              <a:rPr lang="en-US" dirty="0"/>
              <a:t>AI is also revolutionizing accessibility in education. Tools like Microsoft Immersive Reader simplify text for learners with dyslexia, and speech-to-text applications empower students with physical or visual impairments. For instance, a visually impaired student I interviewed excelled in an online coding course using screen-reading software. However, high costs and limited availability of these tools in underfunded schools mean many students miss out on these benefits. Addressing these inequities is critical.</a:t>
            </a:r>
          </a:p>
          <a:p>
            <a:pPr marL="0" indent="0">
              <a:buNone/>
            </a:pPr>
            <a:endParaRPr lang="en-US" dirty="0"/>
          </a:p>
        </p:txBody>
      </p:sp>
    </p:spTree>
    <p:extLst>
      <p:ext uri="{BB962C8B-B14F-4D97-AF65-F5344CB8AC3E}">
        <p14:creationId xmlns:p14="http://schemas.microsoft.com/office/powerpoint/2010/main" val="4939765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DE11191-8910-2084-9E31-2657A4A4677F}"/>
              </a:ext>
            </a:extLst>
          </p:cNvPr>
          <p:cNvSpPr>
            <a:spLocks noGrp="1"/>
          </p:cNvSpPr>
          <p:nvPr>
            <p:ph type="title"/>
          </p:nvPr>
        </p:nvSpPr>
        <p:spPr>
          <a:xfrm>
            <a:off x="1080000" y="540033"/>
            <a:ext cx="4426782" cy="1331604"/>
          </a:xfrm>
        </p:spPr>
        <p:txBody>
          <a:bodyPr anchor="b">
            <a:normAutofit/>
          </a:bodyPr>
          <a:lstStyle/>
          <a:p>
            <a:pPr algn="ctr"/>
            <a:r>
              <a:rPr lang="en-US" b="1"/>
              <a:t>Administrative Applications</a:t>
            </a:r>
          </a:p>
        </p:txBody>
      </p:sp>
      <p:cxnSp>
        <p:nvCxnSpPr>
          <p:cNvPr id="3081" name="Straight Connector 3080">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023391"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E482D341-0DE3-946C-3E08-702D775D8686}"/>
              </a:ext>
            </a:extLst>
          </p:cNvPr>
          <p:cNvSpPr>
            <a:spLocks noGrp="1"/>
          </p:cNvSpPr>
          <p:nvPr>
            <p:ph idx="1"/>
          </p:nvPr>
        </p:nvSpPr>
        <p:spPr>
          <a:xfrm>
            <a:off x="1080000" y="2759076"/>
            <a:ext cx="4460874" cy="3009899"/>
          </a:xfrm>
        </p:spPr>
        <p:txBody>
          <a:bodyPr>
            <a:normAutofit/>
          </a:bodyPr>
          <a:lstStyle/>
          <a:p>
            <a:pPr>
              <a:lnSpc>
                <a:spcPct val="115000"/>
              </a:lnSpc>
            </a:pPr>
            <a:r>
              <a:rPr lang="en-US" sz="1400"/>
              <a:t>Beyond the classroom, AI streamlines administrative tasks. Automated grading tools like </a:t>
            </a:r>
            <a:r>
              <a:rPr lang="en-US" sz="1400" err="1"/>
              <a:t>Gradescope</a:t>
            </a:r>
            <a:r>
              <a:rPr lang="en-US" sz="1400"/>
              <a:t> save educators time, enabling them to focus on teaching and mentoring. AI can also manage attendance and scheduling with greater efficiency. However, these systems aren’t perfect. For example, automated grading often struggles with subjective assessments like essays. Human oversight remains necessary to ensure fairness and accuracy.</a:t>
            </a:r>
          </a:p>
        </p:txBody>
      </p:sp>
      <p:sp>
        <p:nvSpPr>
          <p:cNvPr id="3083" name="Rectangle 5">
            <a:extLst>
              <a:ext uri="{FF2B5EF4-FFF2-40B4-BE49-F238E27FC236}">
                <a16:creationId xmlns:a16="http://schemas.microsoft.com/office/drawing/2014/main" id="{B3E4F30C-F711-4B5B-BF39-0F71A2E8A8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555282" y="443194"/>
            <a:ext cx="4989600" cy="5760000"/>
          </a:xfrm>
          <a:custGeom>
            <a:avLst/>
            <a:gdLst>
              <a:gd name="connsiteX0" fmla="*/ 0 w 6660000"/>
              <a:gd name="connsiteY0" fmla="*/ 0 h 5760000"/>
              <a:gd name="connsiteX1" fmla="*/ 6660000 w 6660000"/>
              <a:gd name="connsiteY1" fmla="*/ 0 h 5760000"/>
              <a:gd name="connsiteX2" fmla="*/ 6660000 w 6660000"/>
              <a:gd name="connsiteY2" fmla="*/ 5760000 h 5760000"/>
              <a:gd name="connsiteX3" fmla="*/ 0 w 6660000"/>
              <a:gd name="connsiteY3" fmla="*/ 5760000 h 5760000"/>
              <a:gd name="connsiteX4" fmla="*/ 0 w 6660000"/>
              <a:gd name="connsiteY4" fmla="*/ 0 h 5760000"/>
              <a:gd name="connsiteX0" fmla="*/ 6660000 w 6751440"/>
              <a:gd name="connsiteY0" fmla="*/ 0 h 5760000"/>
              <a:gd name="connsiteX1" fmla="*/ 6660000 w 6751440"/>
              <a:gd name="connsiteY1" fmla="*/ 5760000 h 5760000"/>
              <a:gd name="connsiteX2" fmla="*/ 0 w 6751440"/>
              <a:gd name="connsiteY2" fmla="*/ 5760000 h 5760000"/>
              <a:gd name="connsiteX3" fmla="*/ 0 w 6751440"/>
              <a:gd name="connsiteY3" fmla="*/ 0 h 5760000"/>
              <a:gd name="connsiteX4" fmla="*/ 6751440 w 6751440"/>
              <a:gd name="connsiteY4" fmla="*/ 91440 h 5760000"/>
              <a:gd name="connsiteX0" fmla="*/ 6660000 w 6660000"/>
              <a:gd name="connsiteY0" fmla="*/ 0 h 5760000"/>
              <a:gd name="connsiteX1" fmla="*/ 6660000 w 6660000"/>
              <a:gd name="connsiteY1" fmla="*/ 5760000 h 5760000"/>
              <a:gd name="connsiteX2" fmla="*/ 0 w 6660000"/>
              <a:gd name="connsiteY2" fmla="*/ 5760000 h 5760000"/>
              <a:gd name="connsiteX3" fmla="*/ 0 w 6660000"/>
              <a:gd name="connsiteY3" fmla="*/ 0 h 5760000"/>
              <a:gd name="connsiteX4" fmla="*/ 5068690 w 6660000"/>
              <a:gd name="connsiteY4" fmla="*/ 224790 h 5760000"/>
              <a:gd name="connsiteX0" fmla="*/ 6660000 w 6660000"/>
              <a:gd name="connsiteY0" fmla="*/ 0 h 5760000"/>
              <a:gd name="connsiteX1" fmla="*/ 6660000 w 6660000"/>
              <a:gd name="connsiteY1" fmla="*/ 5760000 h 5760000"/>
              <a:gd name="connsiteX2" fmla="*/ 0 w 6660000"/>
              <a:gd name="connsiteY2" fmla="*/ 5760000 h 5760000"/>
              <a:gd name="connsiteX3" fmla="*/ 0 w 6660000"/>
              <a:gd name="connsiteY3" fmla="*/ 0 h 5760000"/>
              <a:gd name="connsiteX0" fmla="*/ 6660000 w 6660000"/>
              <a:gd name="connsiteY0" fmla="*/ 5760000 h 5760000"/>
              <a:gd name="connsiteX1" fmla="*/ 0 w 6660000"/>
              <a:gd name="connsiteY1" fmla="*/ 5760000 h 5760000"/>
              <a:gd name="connsiteX2" fmla="*/ 0 w 6660000"/>
              <a:gd name="connsiteY2" fmla="*/ 0 h 5760000"/>
            </a:gdLst>
            <a:ahLst/>
            <a:cxnLst>
              <a:cxn ang="0">
                <a:pos x="connsiteX0" y="connsiteY0"/>
              </a:cxn>
              <a:cxn ang="0">
                <a:pos x="connsiteX1" y="connsiteY1"/>
              </a:cxn>
              <a:cxn ang="0">
                <a:pos x="connsiteX2" y="connsiteY2"/>
              </a:cxn>
            </a:cxnLst>
            <a:rect l="l" t="t" r="r" b="b"/>
            <a:pathLst>
              <a:path w="6660000" h="5760000">
                <a:moveTo>
                  <a:pt x="6660000" y="5760000"/>
                </a:moveTo>
                <a:lnTo>
                  <a:pt x="0" y="5760000"/>
                </a:lnTo>
                <a:lnTo>
                  <a:pt x="0" y="0"/>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Role of AI in Education Industry - ColorWhistle ">
            <a:extLst>
              <a:ext uri="{FF2B5EF4-FFF2-40B4-BE49-F238E27FC236}">
                <a16:creationId xmlns:a16="http://schemas.microsoft.com/office/drawing/2014/main" id="{CD910DC4-AF16-0B84-9C92-35CC408C80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606" r="19372" b="1"/>
          <a:stretch/>
        </p:blipFill>
        <p:spPr bwMode="auto">
          <a:xfrm>
            <a:off x="6548670" y="443193"/>
            <a:ext cx="4996212" cy="5775279"/>
          </a:xfrm>
          <a:prstGeom prst="rect">
            <a:avLst/>
          </a:prstGeom>
          <a:noFill/>
          <a:extLst>
            <a:ext uri="{909E8E84-426E-40DD-AFC4-6F175D3DCCD1}">
              <a14:hiddenFill xmlns:a14="http://schemas.microsoft.com/office/drawing/2010/main">
                <a:solidFill>
                  <a:srgbClr val="FFFFFF"/>
                </a:solidFill>
              </a14:hiddenFill>
            </a:ext>
          </a:extLst>
        </p:spPr>
      </p:pic>
      <p:sp>
        <p:nvSpPr>
          <p:cNvPr id="3085" name="Rectangle 5">
            <a:extLst>
              <a:ext uri="{FF2B5EF4-FFF2-40B4-BE49-F238E27FC236}">
                <a16:creationId xmlns:a16="http://schemas.microsoft.com/office/drawing/2014/main" id="{2772F870-D2E8-4E62-8E21-7C7E9AB44F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6555282" y="6203194"/>
            <a:ext cx="4989600" cy="0"/>
          </a:xfrm>
          <a:custGeom>
            <a:avLst/>
            <a:gdLst>
              <a:gd name="connsiteX0" fmla="*/ 0 w 6660000"/>
              <a:gd name="connsiteY0" fmla="*/ 0 h 5760000"/>
              <a:gd name="connsiteX1" fmla="*/ 6660000 w 6660000"/>
              <a:gd name="connsiteY1" fmla="*/ 0 h 5760000"/>
              <a:gd name="connsiteX2" fmla="*/ 6660000 w 6660000"/>
              <a:gd name="connsiteY2" fmla="*/ 5760000 h 5760000"/>
              <a:gd name="connsiteX3" fmla="*/ 0 w 6660000"/>
              <a:gd name="connsiteY3" fmla="*/ 5760000 h 5760000"/>
              <a:gd name="connsiteX4" fmla="*/ 0 w 6660000"/>
              <a:gd name="connsiteY4" fmla="*/ 0 h 5760000"/>
              <a:gd name="connsiteX0" fmla="*/ 6660000 w 6751440"/>
              <a:gd name="connsiteY0" fmla="*/ 0 h 5760000"/>
              <a:gd name="connsiteX1" fmla="*/ 6660000 w 6751440"/>
              <a:gd name="connsiteY1" fmla="*/ 5760000 h 5760000"/>
              <a:gd name="connsiteX2" fmla="*/ 0 w 6751440"/>
              <a:gd name="connsiteY2" fmla="*/ 5760000 h 5760000"/>
              <a:gd name="connsiteX3" fmla="*/ 0 w 6751440"/>
              <a:gd name="connsiteY3" fmla="*/ 0 h 5760000"/>
              <a:gd name="connsiteX4" fmla="*/ 6751440 w 6751440"/>
              <a:gd name="connsiteY4" fmla="*/ 91440 h 5760000"/>
              <a:gd name="connsiteX0" fmla="*/ 6660000 w 6660000"/>
              <a:gd name="connsiteY0" fmla="*/ 0 h 5760000"/>
              <a:gd name="connsiteX1" fmla="*/ 6660000 w 6660000"/>
              <a:gd name="connsiteY1" fmla="*/ 5760000 h 5760000"/>
              <a:gd name="connsiteX2" fmla="*/ 0 w 6660000"/>
              <a:gd name="connsiteY2" fmla="*/ 5760000 h 5760000"/>
              <a:gd name="connsiteX3" fmla="*/ 0 w 6660000"/>
              <a:gd name="connsiteY3" fmla="*/ 0 h 5760000"/>
              <a:gd name="connsiteX4" fmla="*/ 5068690 w 6660000"/>
              <a:gd name="connsiteY4" fmla="*/ 224790 h 5760000"/>
              <a:gd name="connsiteX0" fmla="*/ 6660000 w 6660000"/>
              <a:gd name="connsiteY0" fmla="*/ 0 h 5760000"/>
              <a:gd name="connsiteX1" fmla="*/ 6660000 w 6660000"/>
              <a:gd name="connsiteY1" fmla="*/ 5760000 h 5760000"/>
              <a:gd name="connsiteX2" fmla="*/ 0 w 6660000"/>
              <a:gd name="connsiteY2" fmla="*/ 5760000 h 5760000"/>
              <a:gd name="connsiteX3" fmla="*/ 0 w 6660000"/>
              <a:gd name="connsiteY3" fmla="*/ 0 h 5760000"/>
              <a:gd name="connsiteX0" fmla="*/ 6660000 w 6660000"/>
              <a:gd name="connsiteY0" fmla="*/ 5760000 h 5760000"/>
              <a:gd name="connsiteX1" fmla="*/ 0 w 6660000"/>
              <a:gd name="connsiteY1" fmla="*/ 5760000 h 5760000"/>
              <a:gd name="connsiteX2" fmla="*/ 0 w 6660000"/>
              <a:gd name="connsiteY2" fmla="*/ 0 h 5760000"/>
              <a:gd name="connsiteX0" fmla="*/ 6660000 w 6660000"/>
              <a:gd name="connsiteY0" fmla="*/ 0 h 0"/>
              <a:gd name="connsiteX1" fmla="*/ 0 w 6660000"/>
              <a:gd name="connsiteY1" fmla="*/ 0 h 0"/>
            </a:gdLst>
            <a:ahLst/>
            <a:cxnLst>
              <a:cxn ang="0">
                <a:pos x="connsiteX0" y="connsiteY0"/>
              </a:cxn>
              <a:cxn ang="0">
                <a:pos x="connsiteX1" y="connsiteY1"/>
              </a:cxn>
            </a:cxnLst>
            <a:rect l="l" t="t" r="r" b="b"/>
            <a:pathLst>
              <a:path w="6660000">
                <a:moveTo>
                  <a:pt x="6660000" y="0"/>
                </a:moveTo>
                <a:lnTo>
                  <a:pt x="0" y="0"/>
                </a:lnTo>
              </a:path>
            </a:pathLst>
          </a:custGeom>
          <a:solidFill>
            <a:schemeClr val="tx2">
              <a:alpha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7" name="Rectangle 5">
            <a:extLst>
              <a:ext uri="{FF2B5EF4-FFF2-40B4-BE49-F238E27FC236}">
                <a16:creationId xmlns:a16="http://schemas.microsoft.com/office/drawing/2014/main" id="{A6E1E5C3-7E0A-4EFE-9FD9-A8CA2FDCC5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11544882" y="443194"/>
            <a:ext cx="0" cy="5760000"/>
          </a:xfrm>
          <a:custGeom>
            <a:avLst/>
            <a:gdLst>
              <a:gd name="connsiteX0" fmla="*/ 0 w 6660000"/>
              <a:gd name="connsiteY0" fmla="*/ 0 h 5760000"/>
              <a:gd name="connsiteX1" fmla="*/ 6660000 w 6660000"/>
              <a:gd name="connsiteY1" fmla="*/ 0 h 5760000"/>
              <a:gd name="connsiteX2" fmla="*/ 6660000 w 6660000"/>
              <a:gd name="connsiteY2" fmla="*/ 5760000 h 5760000"/>
              <a:gd name="connsiteX3" fmla="*/ 0 w 6660000"/>
              <a:gd name="connsiteY3" fmla="*/ 5760000 h 5760000"/>
              <a:gd name="connsiteX4" fmla="*/ 0 w 6660000"/>
              <a:gd name="connsiteY4" fmla="*/ 0 h 5760000"/>
              <a:gd name="connsiteX0" fmla="*/ 6660000 w 6751440"/>
              <a:gd name="connsiteY0" fmla="*/ 0 h 5760000"/>
              <a:gd name="connsiteX1" fmla="*/ 6660000 w 6751440"/>
              <a:gd name="connsiteY1" fmla="*/ 5760000 h 5760000"/>
              <a:gd name="connsiteX2" fmla="*/ 0 w 6751440"/>
              <a:gd name="connsiteY2" fmla="*/ 5760000 h 5760000"/>
              <a:gd name="connsiteX3" fmla="*/ 0 w 6751440"/>
              <a:gd name="connsiteY3" fmla="*/ 0 h 5760000"/>
              <a:gd name="connsiteX4" fmla="*/ 6751440 w 6751440"/>
              <a:gd name="connsiteY4" fmla="*/ 91440 h 5760000"/>
              <a:gd name="connsiteX0" fmla="*/ 6660000 w 6660000"/>
              <a:gd name="connsiteY0" fmla="*/ 0 h 5760000"/>
              <a:gd name="connsiteX1" fmla="*/ 6660000 w 6660000"/>
              <a:gd name="connsiteY1" fmla="*/ 5760000 h 5760000"/>
              <a:gd name="connsiteX2" fmla="*/ 0 w 6660000"/>
              <a:gd name="connsiteY2" fmla="*/ 5760000 h 5760000"/>
              <a:gd name="connsiteX3" fmla="*/ 0 w 6660000"/>
              <a:gd name="connsiteY3" fmla="*/ 0 h 5760000"/>
              <a:gd name="connsiteX4" fmla="*/ 5068690 w 6660000"/>
              <a:gd name="connsiteY4" fmla="*/ 224790 h 5760000"/>
              <a:gd name="connsiteX0" fmla="*/ 6660000 w 6660000"/>
              <a:gd name="connsiteY0" fmla="*/ 0 h 5760000"/>
              <a:gd name="connsiteX1" fmla="*/ 6660000 w 6660000"/>
              <a:gd name="connsiteY1" fmla="*/ 5760000 h 5760000"/>
              <a:gd name="connsiteX2" fmla="*/ 0 w 6660000"/>
              <a:gd name="connsiteY2" fmla="*/ 5760000 h 5760000"/>
              <a:gd name="connsiteX3" fmla="*/ 0 w 6660000"/>
              <a:gd name="connsiteY3" fmla="*/ 0 h 5760000"/>
              <a:gd name="connsiteX0" fmla="*/ 6660000 w 6660000"/>
              <a:gd name="connsiteY0" fmla="*/ 5760000 h 5760000"/>
              <a:gd name="connsiteX1" fmla="*/ 0 w 6660000"/>
              <a:gd name="connsiteY1" fmla="*/ 5760000 h 5760000"/>
              <a:gd name="connsiteX2" fmla="*/ 0 w 6660000"/>
              <a:gd name="connsiteY2" fmla="*/ 0 h 5760000"/>
              <a:gd name="connsiteX0" fmla="*/ 0 w 0"/>
              <a:gd name="connsiteY0" fmla="*/ 5760000 h 5760000"/>
              <a:gd name="connsiteX1" fmla="*/ 0 w 0"/>
              <a:gd name="connsiteY1" fmla="*/ 0 h 5760000"/>
            </a:gdLst>
            <a:ahLst/>
            <a:cxnLst>
              <a:cxn ang="0">
                <a:pos x="connsiteX0" y="connsiteY0"/>
              </a:cxn>
              <a:cxn ang="0">
                <a:pos x="connsiteX1" y="connsiteY1"/>
              </a:cxn>
            </a:cxnLst>
            <a:rect l="l" t="t" r="r" b="b"/>
            <a:pathLst>
              <a:path h="5760000">
                <a:moveTo>
                  <a:pt x="0" y="5760000"/>
                </a:moveTo>
                <a:lnTo>
                  <a:pt x="0" y="0"/>
                </a:lnTo>
              </a:path>
            </a:pathLst>
          </a:custGeom>
          <a:solidFill>
            <a:schemeClr val="tx2">
              <a:alpha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548584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78777-D416-CCFB-B0EC-25FD1612F7FA}"/>
              </a:ext>
            </a:extLst>
          </p:cNvPr>
          <p:cNvSpPr>
            <a:spLocks noGrp="1"/>
          </p:cNvSpPr>
          <p:nvPr>
            <p:ph type="title"/>
          </p:nvPr>
        </p:nvSpPr>
        <p:spPr/>
        <p:txBody>
          <a:bodyPr/>
          <a:lstStyle/>
          <a:p>
            <a:pPr algn="just"/>
            <a:r>
              <a:rPr lang="en-US" dirty="0"/>
              <a:t>Ethical </a:t>
            </a:r>
            <a:r>
              <a:rPr lang="en-US" sz="3100" dirty="0"/>
              <a:t>Concerns</a:t>
            </a:r>
            <a:r>
              <a:rPr lang="en-US" dirty="0"/>
              <a:t> &amp; Recommendation</a:t>
            </a:r>
          </a:p>
        </p:txBody>
      </p:sp>
      <p:sp>
        <p:nvSpPr>
          <p:cNvPr id="3" name="Content Placeholder 2">
            <a:extLst>
              <a:ext uri="{FF2B5EF4-FFF2-40B4-BE49-F238E27FC236}">
                <a16:creationId xmlns:a16="http://schemas.microsoft.com/office/drawing/2014/main" id="{580F2888-923E-E3E3-394B-07E02C8B01CC}"/>
              </a:ext>
            </a:extLst>
          </p:cNvPr>
          <p:cNvSpPr>
            <a:spLocks noGrp="1"/>
          </p:cNvSpPr>
          <p:nvPr>
            <p:ph sz="half" idx="1"/>
          </p:nvPr>
        </p:nvSpPr>
        <p:spPr/>
        <p:txBody>
          <a:bodyPr>
            <a:normAutofit fontScale="92500" lnSpcReduction="20000"/>
          </a:bodyPr>
          <a:lstStyle/>
          <a:p>
            <a:pPr marL="0" indent="0">
              <a:buNone/>
            </a:pPr>
            <a:r>
              <a:rPr lang="en-US" dirty="0"/>
              <a:t>While AI offers numerous benefits, it also raises significant ethical concerns. Data privacy is a major issue, as AI tools require extensive data collection. Algorithmic bias is another challenge; if AI systems are trained on biased datasets, they can perpetuate inequities. Additionally, there’s a digital divide—schools in low-income areas often lack the resources to adopt AI tools, leaving disadvantaged students further behind. Policymakers must prioritize equitable access to address these challenges.</a:t>
            </a:r>
          </a:p>
          <a:p>
            <a:pPr marL="0" indent="0">
              <a:buNone/>
            </a:pPr>
            <a:endParaRPr lang="en-US" dirty="0"/>
          </a:p>
        </p:txBody>
      </p:sp>
      <p:sp>
        <p:nvSpPr>
          <p:cNvPr id="4" name="Content Placeholder 3">
            <a:extLst>
              <a:ext uri="{FF2B5EF4-FFF2-40B4-BE49-F238E27FC236}">
                <a16:creationId xmlns:a16="http://schemas.microsoft.com/office/drawing/2014/main" id="{7A6AA034-58E8-62A1-ACB2-EA935E9F7A75}"/>
              </a:ext>
            </a:extLst>
          </p:cNvPr>
          <p:cNvSpPr>
            <a:spLocks noGrp="1"/>
          </p:cNvSpPr>
          <p:nvPr>
            <p:ph sz="half" idx="2"/>
          </p:nvPr>
        </p:nvSpPr>
        <p:spPr/>
        <p:txBody>
          <a:bodyPr>
            <a:normAutofit fontScale="92500" lnSpcReduction="20000"/>
          </a:bodyPr>
          <a:lstStyle/>
          <a:p>
            <a:pPr marL="0" indent="0">
              <a:buNone/>
            </a:pPr>
            <a:r>
              <a:rPr lang="en-US" dirty="0"/>
              <a:t>To ensure the responsible adoption of AI, I recommend starting with pilot programs to identify strengths and areas for improvement before scaling up. Educators need training to effectively integrate AI tools into their teaching. Policies must ensure data privacy and equitable access, particularly in underfunded schools. By taking these steps, we can harness the benefits of AI while minimizing its risks.</a:t>
            </a:r>
          </a:p>
          <a:p>
            <a:pPr marL="0" indent="0">
              <a:buNone/>
            </a:pPr>
            <a:endParaRPr lang="en-US" dirty="0"/>
          </a:p>
        </p:txBody>
      </p:sp>
    </p:spTree>
    <p:extLst>
      <p:ext uri="{BB962C8B-B14F-4D97-AF65-F5344CB8AC3E}">
        <p14:creationId xmlns:p14="http://schemas.microsoft.com/office/powerpoint/2010/main" val="1896507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34ACE-0D41-25C1-DAAD-FC4221407446}"/>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2F9928C5-ADA3-115B-89DD-E36C0086EF53}"/>
              </a:ext>
            </a:extLst>
          </p:cNvPr>
          <p:cNvSpPr>
            <a:spLocks noGrp="1"/>
          </p:cNvSpPr>
          <p:nvPr>
            <p:ph idx="1"/>
          </p:nvPr>
        </p:nvSpPr>
        <p:spPr/>
        <p:txBody>
          <a:bodyPr/>
          <a:lstStyle/>
          <a:p>
            <a:pPr marL="0" indent="0">
              <a:buNone/>
            </a:pPr>
            <a:r>
              <a:rPr lang="en-US" dirty="0"/>
              <a:t>In conclusion, AI holds immense potential to revolutionize education. From personalized learning to accessibility and administrative efficiency, its benefits are transformative. However, ethical and logistical challenges must be addressed. By adopting AI responsibly and equitably, we can create a future where technology complements traditional teaching methods, making education more inclusive, efficient, and effective.</a:t>
            </a:r>
          </a:p>
          <a:p>
            <a:pPr marL="0" indent="0">
              <a:buNone/>
            </a:pPr>
            <a:endParaRPr lang="en-US" dirty="0"/>
          </a:p>
        </p:txBody>
      </p:sp>
    </p:spTree>
    <p:extLst>
      <p:ext uri="{BB962C8B-B14F-4D97-AF65-F5344CB8AC3E}">
        <p14:creationId xmlns:p14="http://schemas.microsoft.com/office/powerpoint/2010/main" val="37433198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2FAF166-6F3F-ECDC-955C-F460EAD749D1}"/>
              </a:ext>
            </a:extLst>
          </p:cNvPr>
          <p:cNvSpPr txBox="1"/>
          <p:nvPr/>
        </p:nvSpPr>
        <p:spPr>
          <a:xfrm>
            <a:off x="4368350" y="0"/>
            <a:ext cx="3455299" cy="369332"/>
          </a:xfrm>
          <a:prstGeom prst="rect">
            <a:avLst/>
          </a:prstGeom>
          <a:noFill/>
        </p:spPr>
        <p:txBody>
          <a:bodyPr wrap="square" rtlCol="0">
            <a:spAutoFit/>
          </a:bodyPr>
          <a:lstStyle/>
          <a:p>
            <a:pPr algn="ctr"/>
            <a:r>
              <a:rPr lang="en-US" dirty="0"/>
              <a:t>Citations</a:t>
            </a:r>
          </a:p>
        </p:txBody>
      </p:sp>
      <p:sp>
        <p:nvSpPr>
          <p:cNvPr id="3" name="TextBox 2">
            <a:extLst>
              <a:ext uri="{FF2B5EF4-FFF2-40B4-BE49-F238E27FC236}">
                <a16:creationId xmlns:a16="http://schemas.microsoft.com/office/drawing/2014/main" id="{16231D04-0CAE-D5BF-109F-D66B819366A0}"/>
              </a:ext>
            </a:extLst>
          </p:cNvPr>
          <p:cNvSpPr txBox="1"/>
          <p:nvPr/>
        </p:nvSpPr>
        <p:spPr>
          <a:xfrm>
            <a:off x="250852" y="401700"/>
            <a:ext cx="11628255" cy="6432530"/>
          </a:xfrm>
          <a:prstGeom prst="rect">
            <a:avLst/>
          </a:prstGeom>
          <a:noFill/>
        </p:spPr>
        <p:txBody>
          <a:bodyPr wrap="square" rtlCol="0">
            <a:spAutoFit/>
          </a:bodyPr>
          <a:lstStyle/>
          <a:p>
            <a:pPr marL="457200" indent="-914400"/>
            <a:r>
              <a:rPr lang="en-US" sz="1700" dirty="0"/>
              <a:t>Duolingo. </a:t>
            </a:r>
            <a:r>
              <a:rPr lang="en-US" sz="1700" i="1" dirty="0"/>
              <a:t>How Duolingo Is Using Artificial Intelligence for Social Good.</a:t>
            </a:r>
            <a:r>
              <a:rPr lang="en-US" sz="1700" dirty="0"/>
              <a:t> 30 Mar. 2023, blog.duolingo.com/ai-improves-education. Accessed 1 Dec. 2024.</a:t>
            </a:r>
          </a:p>
          <a:p>
            <a:pPr marL="457200" indent="-914400"/>
            <a:endParaRPr lang="en-US" sz="1700" dirty="0"/>
          </a:p>
          <a:p>
            <a:pPr marL="457200" indent="-914400"/>
            <a:r>
              <a:rPr lang="en-US" sz="1700" dirty="0"/>
              <a:t>Coursera. </a:t>
            </a:r>
            <a:r>
              <a:rPr lang="en-US" sz="1700" i="1" dirty="0"/>
              <a:t>The History of AI: A Timeline of Artificial Intelligence.</a:t>
            </a:r>
            <a:r>
              <a:rPr lang="en-US" sz="1700" dirty="0"/>
              <a:t> Oct. 2023, </a:t>
            </a:r>
            <a:r>
              <a:rPr lang="en-US" sz="1700" dirty="0">
                <a:hlinkClick r:id="rId2"/>
              </a:rPr>
              <a:t>www.coursera.org/articles/history-of-ai. Accessed 1 Dec. 2024</a:t>
            </a:r>
            <a:r>
              <a:rPr lang="en-US" sz="1700" dirty="0"/>
              <a:t>.</a:t>
            </a:r>
          </a:p>
          <a:p>
            <a:pPr marL="457200" indent="-914400"/>
            <a:endParaRPr lang="en-US" sz="1700" dirty="0"/>
          </a:p>
          <a:p>
            <a:pPr marL="457200" indent="-914400"/>
            <a:r>
              <a:rPr lang="en-US" sz="1700" dirty="0"/>
              <a:t>Getting Smart. </a:t>
            </a:r>
            <a:r>
              <a:rPr lang="en-US" sz="1700" i="1" dirty="0"/>
              <a:t>New </a:t>
            </a:r>
            <a:r>
              <a:rPr lang="en-US" sz="1700" i="1" dirty="0" err="1"/>
              <a:t>DreamBox</a:t>
            </a:r>
            <a:r>
              <a:rPr lang="en-US" sz="1700" i="1" dirty="0"/>
              <a:t> Learning Feature Provides Personalized Learning Experiences.</a:t>
            </a:r>
            <a:r>
              <a:rPr lang="en-US" sz="1700" dirty="0"/>
              <a:t> 29 Apr. 2016, www.gettingsmart.com/new-dreambox-learning-feature-provides-personalized-learning. Accessed 1 Dec. 2024.</a:t>
            </a:r>
          </a:p>
          <a:p>
            <a:pPr marL="457200" indent="-914400"/>
            <a:endParaRPr lang="en-US" sz="1700" dirty="0"/>
          </a:p>
          <a:p>
            <a:pPr marL="457200" indent="-914400"/>
            <a:r>
              <a:rPr lang="en-US" sz="1700" dirty="0"/>
              <a:t>Khan Academy. </a:t>
            </a:r>
            <a:r>
              <a:rPr lang="en-US" sz="1700" i="1" dirty="0"/>
              <a:t>How We Built AI Tutoring Tools.</a:t>
            </a:r>
            <a:r>
              <a:rPr lang="en-US" sz="1700" dirty="0"/>
              <a:t> 7 Mar. 2024, blog.khanacademy.org/how-we-built-ai-tutoring-tools. Accessed 1 Dec. 2024.</a:t>
            </a:r>
          </a:p>
          <a:p>
            <a:pPr marL="457200" indent="-914400"/>
            <a:endParaRPr lang="en-US" sz="1700" dirty="0"/>
          </a:p>
          <a:p>
            <a:pPr marL="457200" indent="-914400"/>
            <a:r>
              <a:rPr lang="en-US" sz="1700" dirty="0"/>
              <a:t>How-To Geek. </a:t>
            </a:r>
            <a:r>
              <a:rPr lang="en-US" sz="1700" i="1" dirty="0"/>
              <a:t>How to Use Immersive Reader in Microsoft Word, Outlook, and OneNote.</a:t>
            </a:r>
            <a:r>
              <a:rPr lang="en-US" sz="1700" dirty="0"/>
              <a:t> 15 Mar. 2021, www.howtogeek.com/how-to-use-immersive-reader-in-microsoft-tools. Accessed 1 Dec. 2024.</a:t>
            </a:r>
          </a:p>
          <a:p>
            <a:pPr marL="457200" indent="-914400"/>
            <a:endParaRPr lang="en-US" sz="1700" dirty="0"/>
          </a:p>
          <a:p>
            <a:pPr marL="457200" indent="-914400"/>
            <a:r>
              <a:rPr lang="en-US" sz="1700" dirty="0" err="1"/>
              <a:t>Someka</a:t>
            </a:r>
            <a:r>
              <a:rPr lang="en-US" sz="1700" dirty="0"/>
              <a:t>. </a:t>
            </a:r>
            <a:r>
              <a:rPr lang="en-US" sz="1700" i="1" dirty="0"/>
              <a:t>AI Flowchart | AI Workflow.</a:t>
            </a:r>
            <a:r>
              <a:rPr lang="en-US" sz="1700" dirty="0"/>
              <a:t> 1 Jun. 2022, www.someka.net/templates/ai-workflow-templates. Accessed 1 Dec. 2024.</a:t>
            </a:r>
          </a:p>
          <a:p>
            <a:pPr marL="457200" indent="-914400"/>
            <a:endParaRPr lang="en-US" sz="1700" dirty="0"/>
          </a:p>
          <a:p>
            <a:pPr marL="457200" indent="-914400"/>
            <a:r>
              <a:rPr lang="en-US" sz="1700" dirty="0" err="1"/>
              <a:t>Cognilytica</a:t>
            </a:r>
            <a:r>
              <a:rPr lang="en-US" sz="1700" dirty="0"/>
              <a:t>. </a:t>
            </a:r>
            <a:r>
              <a:rPr lang="en-US" sz="1700" i="1" dirty="0"/>
              <a:t>Top 8 Ethical Concerns for AI.</a:t>
            </a:r>
            <a:r>
              <a:rPr lang="en-US" sz="1700" dirty="0"/>
              <a:t> 16 Aug. 2018, www.cognilytica.com/top-8-ethical-concerns-for-ai. Accessed 1 Dec. 2024.</a:t>
            </a:r>
          </a:p>
          <a:p>
            <a:pPr marL="457200" indent="-914400"/>
            <a:endParaRPr lang="en-US" dirty="0"/>
          </a:p>
          <a:p>
            <a:pPr marL="457200" indent="-914400"/>
            <a:r>
              <a:rPr lang="en-US" dirty="0"/>
              <a:t>Techopedia. </a:t>
            </a:r>
            <a:r>
              <a:rPr lang="en-US" i="1" dirty="0"/>
              <a:t>Transforming Education: AI-Powered Personalized Learning Revolution.</a:t>
            </a:r>
            <a:r>
              <a:rPr lang="en-US" dirty="0"/>
              <a:t> 15 Jun. 2023, www.techopedia.com/transforming-education-ai-powered-personalized-learning-revolution. Accessed 1 Dec. 2024.</a:t>
            </a:r>
          </a:p>
        </p:txBody>
      </p:sp>
    </p:spTree>
    <p:extLst>
      <p:ext uri="{BB962C8B-B14F-4D97-AF65-F5344CB8AC3E}">
        <p14:creationId xmlns:p14="http://schemas.microsoft.com/office/powerpoint/2010/main" val="4200539186"/>
      </p:ext>
    </p:extLst>
  </p:cSld>
  <p:clrMapOvr>
    <a:masterClrMapping/>
  </p:clrMapOvr>
</p:sld>
</file>

<file path=ppt/theme/theme1.xml><?xml version="1.0" encoding="utf-8"?>
<a:theme xmlns:a="http://schemas.openxmlformats.org/drawingml/2006/main" name="LeafVTI">
  <a:themeElements>
    <a:clrScheme name="AnalogousFromDarkSeedLeftStep">
      <a:dk1>
        <a:srgbClr val="000000"/>
      </a:dk1>
      <a:lt1>
        <a:srgbClr val="FFFFFF"/>
      </a:lt1>
      <a:dk2>
        <a:srgbClr val="1C2432"/>
      </a:dk2>
      <a:lt2>
        <a:srgbClr val="F2F3F0"/>
      </a:lt2>
      <a:accent1>
        <a:srgbClr val="844BC5"/>
      </a:accent1>
      <a:accent2>
        <a:srgbClr val="4842B7"/>
      </a:accent2>
      <a:accent3>
        <a:srgbClr val="4B78C5"/>
      </a:accent3>
      <a:accent4>
        <a:srgbClr val="3999B3"/>
      </a:accent4>
      <a:accent5>
        <a:srgbClr val="49C0A8"/>
      </a:accent5>
      <a:accent6>
        <a:srgbClr val="39B368"/>
      </a:accent6>
      <a:hlink>
        <a:srgbClr val="339A97"/>
      </a:hlink>
      <a:folHlink>
        <a:srgbClr val="7F7F7F"/>
      </a:folHlink>
    </a:clrScheme>
    <a:fontScheme name="Leaf">
      <a:majorFont>
        <a:latin typeface="Rockwell Nova Light"/>
        <a:ea typeface=""/>
        <a:cs typeface=""/>
      </a:majorFont>
      <a:minorFont>
        <a:latin typeface="Avenir Next LT Pro Light"/>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eafVTI" id="{AD13D32C-3873-4EF1-A28C-5D0E64FF0913}" vid="{0D2E0FD0-9C17-4337-BD21-33917FC300A9}"/>
    </a:ext>
  </a:extLst>
</a:theme>
</file>

<file path=docProps/app.xml><?xml version="1.0" encoding="utf-8"?>
<Properties xmlns="http://schemas.openxmlformats.org/officeDocument/2006/extended-properties" xmlns:vt="http://schemas.openxmlformats.org/officeDocument/2006/docPropsVTypes">
  <TotalTime>835</TotalTime>
  <Words>835</Words>
  <Application>Microsoft Office PowerPoint</Application>
  <PresentationFormat>Widescreen</PresentationFormat>
  <Paragraphs>38</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Avenir Next LT Pro Light</vt:lpstr>
      <vt:lpstr>Rockwell Nova Light</vt:lpstr>
      <vt:lpstr>Wingdings</vt:lpstr>
      <vt:lpstr>LeafVTI</vt:lpstr>
      <vt:lpstr>Artificial Intelligence in Education</vt:lpstr>
      <vt:lpstr>INTRODUCTION</vt:lpstr>
      <vt:lpstr>Personal System</vt:lpstr>
      <vt:lpstr>PowerPoint Presentation</vt:lpstr>
      <vt:lpstr>Intelligent Tutoring Systems </vt:lpstr>
      <vt:lpstr>Accessibility Tools </vt:lpstr>
      <vt:lpstr>Administrative Applications</vt:lpstr>
      <vt:lpstr>Ethical Concerns &amp; Recommendation</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Swastik Mallick</dc:creator>
  <cp:lastModifiedBy>Swastik Mallick</cp:lastModifiedBy>
  <cp:revision>2</cp:revision>
  <dcterms:created xsi:type="dcterms:W3CDTF">2024-12-02T17:23:41Z</dcterms:created>
  <dcterms:modified xsi:type="dcterms:W3CDTF">2024-12-03T07:19:04Z</dcterms:modified>
</cp:coreProperties>
</file>