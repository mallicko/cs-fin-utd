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49" r:id="rId2"/>
    <p:sldId id="423" r:id="rId3"/>
    <p:sldId id="409" r:id="rId4"/>
    <p:sldId id="424" r:id="rId5"/>
    <p:sldId id="410" r:id="rId6"/>
    <p:sldId id="425" r:id="rId7"/>
    <p:sldId id="411" r:id="rId8"/>
    <p:sldId id="426" r:id="rId9"/>
    <p:sldId id="428" r:id="rId10"/>
    <p:sldId id="414" r:id="rId11"/>
    <p:sldId id="429" r:id="rId12"/>
    <p:sldId id="427" r:id="rId13"/>
    <p:sldId id="431" r:id="rId14"/>
    <p:sldId id="432" r:id="rId15"/>
    <p:sldId id="433" r:id="rId16"/>
    <p:sldId id="435" r:id="rId17"/>
    <p:sldId id="419" r:id="rId18"/>
    <p:sldId id="436" r:id="rId19"/>
    <p:sldId id="437" r:id="rId20"/>
    <p:sldId id="438" r:id="rId21"/>
    <p:sldId id="439" r:id="rId22"/>
    <p:sldId id="441" r:id="rId23"/>
    <p:sldId id="442" r:id="rId24"/>
    <p:sldId id="443" r:id="rId25"/>
    <p:sldId id="44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Miller" initials="MM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8"/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5" autoAdjust="0"/>
    <p:restoredTop sz="71499" autoAdjust="0"/>
  </p:normalViewPr>
  <p:slideViewPr>
    <p:cSldViewPr>
      <p:cViewPr varScale="1">
        <p:scale>
          <a:sx n="62" d="100"/>
          <a:sy n="62" d="100"/>
        </p:scale>
        <p:origin x="19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0286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858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77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90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304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2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60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466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80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altLang="en-US" baseline="0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09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11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75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260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033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baseline="0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17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269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004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ct val="30000"/>
              </a:spcAft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A</a:t>
            </a:r>
            <a:r>
              <a:rPr lang="en-US" b="1" dirty="0">
                <a:ea typeface="+mn-ea"/>
                <a:cs typeface="Times New Roman" pitchFamily="18" charset="0"/>
              </a:rPr>
              <a:t>ssociations: </a:t>
            </a:r>
            <a:r>
              <a:rPr lang="en-US" dirty="0">
                <a:ea typeface="+mn-ea"/>
                <a:cs typeface="Times New Roman" pitchFamily="18" charset="0"/>
              </a:rPr>
              <a:t>Occurrences linked to single event</a:t>
            </a:r>
          </a:p>
          <a:p>
            <a:pPr marL="0" indent="0">
              <a:spcAft>
                <a:spcPct val="30000"/>
              </a:spcAft>
              <a:buFontTx/>
              <a:buNone/>
              <a:defRPr/>
            </a:pPr>
            <a:r>
              <a:rPr lang="en-US" b="1" dirty="0">
                <a:ea typeface="+mn-ea"/>
                <a:cs typeface="Times New Roman" pitchFamily="18" charset="0"/>
              </a:rPr>
              <a:t>Sequences: </a:t>
            </a:r>
            <a:r>
              <a:rPr lang="en-US" dirty="0">
                <a:ea typeface="+mn-ea"/>
                <a:cs typeface="Times New Roman" pitchFamily="18" charset="0"/>
              </a:rPr>
              <a:t>Events linked over time</a:t>
            </a:r>
          </a:p>
          <a:p>
            <a:pPr marL="0" indent="0">
              <a:spcAft>
                <a:spcPct val="30000"/>
              </a:spcAft>
              <a:buFontTx/>
              <a:buNone/>
              <a:defRPr/>
            </a:pPr>
            <a:r>
              <a:rPr lang="en-US" b="1" dirty="0">
                <a:ea typeface="+mn-ea"/>
                <a:cs typeface="Times New Roman" pitchFamily="18" charset="0"/>
              </a:rPr>
              <a:t>Classification: </a:t>
            </a:r>
            <a:r>
              <a:rPr lang="en-US" dirty="0">
                <a:ea typeface="+mn-ea"/>
                <a:cs typeface="Times New Roman" pitchFamily="18" charset="0"/>
              </a:rPr>
              <a:t>Recognizes patterns that describe group to which item belongs</a:t>
            </a:r>
          </a:p>
          <a:p>
            <a:pPr marL="0" indent="0">
              <a:spcAft>
                <a:spcPct val="30000"/>
              </a:spcAft>
              <a:buFontTx/>
              <a:buNone/>
              <a:defRPr/>
            </a:pPr>
            <a:r>
              <a:rPr lang="en-US" b="1" dirty="0">
                <a:ea typeface="+mn-ea"/>
                <a:cs typeface="Times New Roman" pitchFamily="18" charset="0"/>
              </a:rPr>
              <a:t>Clustering: </a:t>
            </a:r>
            <a:r>
              <a:rPr lang="en-US" dirty="0">
                <a:ea typeface="+mn-ea"/>
                <a:cs typeface="Times New Roman" pitchFamily="18" charset="0"/>
              </a:rPr>
              <a:t>Similar to classification when no groups have been defined; finds groupings within data</a:t>
            </a:r>
          </a:p>
          <a:p>
            <a:pPr marL="0" indent="0">
              <a:spcAft>
                <a:spcPct val="30000"/>
              </a:spcAft>
              <a:buFontTx/>
              <a:buNone/>
              <a:defRPr/>
            </a:pPr>
            <a:r>
              <a:rPr lang="en-US" b="1" dirty="0">
                <a:ea typeface="+mn-ea"/>
                <a:cs typeface="Times New Roman" pitchFamily="18" charset="0"/>
              </a:rPr>
              <a:t>Forecasting: </a:t>
            </a:r>
            <a:r>
              <a:rPr lang="en-US" dirty="0">
                <a:ea typeface="+mn-ea"/>
                <a:cs typeface="Times New Roman" pitchFamily="18" charset="0"/>
              </a:rPr>
              <a:t>Uses series of existing values to forecast what other values will 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73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75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38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19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2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000"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6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638"/>
              </a:buClr>
              <a:buSzPct val="100000"/>
              <a:defRPr sz="2800"/>
            </a:lvl1pPr>
            <a:lvl2pPr>
              <a:buClr>
                <a:srgbClr val="008638"/>
              </a:buClr>
              <a:defRPr sz="2000"/>
            </a:lvl2pPr>
            <a:lvl3pPr>
              <a:buClr>
                <a:srgbClr val="008638"/>
              </a:buClr>
              <a:defRPr/>
            </a:lvl3pPr>
            <a:lvl4pPr>
              <a:buClr>
                <a:srgbClr val="008638"/>
              </a:buClr>
              <a:defRPr/>
            </a:lvl4pPr>
            <a:lvl5pPr>
              <a:buClr>
                <a:srgbClr val="008638"/>
              </a:buClr>
              <a:defRPr/>
            </a:lvl5pPr>
            <a:lvl6pPr>
              <a:buClr>
                <a:srgbClr val="008638"/>
              </a:buClr>
              <a:defRPr/>
            </a:lvl6pPr>
            <a:lvl7pPr>
              <a:buClr>
                <a:srgbClr val="008638"/>
              </a:buClr>
              <a:defRPr/>
            </a:lvl7pPr>
            <a:lvl8pPr>
              <a:buClr>
                <a:srgbClr val="008638"/>
              </a:buClr>
              <a:defRPr/>
            </a:lvl8pPr>
            <a:lvl9pPr>
              <a:buClr>
                <a:srgbClr val="008638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61" r:id="rId5"/>
    <p:sldLayoutId id="2147483659" r:id="rId6"/>
    <p:sldLayoutId id="2147483658" r:id="rId7"/>
    <p:sldLayoutId id="2147483660" r:id="rId8"/>
    <p:sldLayoutId id="2147483651" r:id="rId9"/>
    <p:sldLayoutId id="2147483654" r:id="rId10"/>
    <p:sldLayoutId id="214748365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Information Systems: Managing the Digital Firm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300845"/>
            <a:ext cx="8229600" cy="478970"/>
          </a:xfrm>
        </p:spPr>
        <p:txBody>
          <a:bodyPr/>
          <a:lstStyle/>
          <a:p>
            <a:r>
              <a:rPr lang="en-US" dirty="0"/>
              <a:t>Fifteenth 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Foundations of Business </a:t>
            </a:r>
          </a:p>
          <a:p>
            <a:r>
              <a:rPr lang="en-US" dirty="0"/>
              <a:t>Intelligence: Databases and </a:t>
            </a:r>
          </a:p>
          <a:p>
            <a:r>
              <a:rPr lang="en-US" dirty="0"/>
              <a:t>Information Management</a:t>
            </a:r>
          </a:p>
        </p:txBody>
      </p:sp>
      <p:pic>
        <p:nvPicPr>
          <p:cNvPr id="6" name="Picture 5" descr="Book cove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76"/>
            <a:ext cx="2940655" cy="3763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732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the Traditional File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maintained separately by different departments</a:t>
            </a:r>
          </a:p>
          <a:p>
            <a:r>
              <a:rPr lang="en-US" dirty="0"/>
              <a:t>Data redundancy </a:t>
            </a:r>
          </a:p>
          <a:p>
            <a:r>
              <a:rPr lang="en-US" dirty="0"/>
              <a:t>Data inconsistency </a:t>
            </a:r>
          </a:p>
          <a:p>
            <a:r>
              <a:rPr lang="en-US" dirty="0"/>
              <a:t>Program-data dependence</a:t>
            </a:r>
          </a:p>
          <a:p>
            <a:r>
              <a:rPr lang="en-US" dirty="0"/>
              <a:t>Lack of flexibility</a:t>
            </a:r>
          </a:p>
          <a:p>
            <a:r>
              <a:rPr lang="en-US" dirty="0"/>
              <a:t>Poor security</a:t>
            </a:r>
          </a:p>
          <a:p>
            <a:r>
              <a:rPr lang="en-US" dirty="0"/>
              <a:t>Lack of data sharing and availability</a:t>
            </a:r>
          </a:p>
        </p:txBody>
      </p:sp>
    </p:spTree>
    <p:extLst>
      <p:ext uri="{BB962C8B-B14F-4D97-AF65-F5344CB8AC3E}">
        <p14:creationId xmlns:p14="http://schemas.microsoft.com/office/powerpoint/2010/main" val="98594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6.2: Traditional File Processing</a:t>
            </a:r>
          </a:p>
        </p:txBody>
      </p:sp>
      <p:pic>
        <p:nvPicPr>
          <p:cNvPr id="3" name="Picture 2" descr="Figure 6.2 illustrates traditional file processing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66800"/>
            <a:ext cx="7467600" cy="491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8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Database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Serves many applications by centralizing data and controlling redundant data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Database management system (DBMS)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Interfaces between applications and physical data files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Separates logical and physical views of data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Solves problems of traditional file environment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1900" dirty="0"/>
              <a:t>Controls redundancy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1900" dirty="0"/>
              <a:t>Eliminates inconsistency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1900" dirty="0"/>
              <a:t>Uncouples programs and data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1900" dirty="0"/>
              <a:t>Enables organization to centrally manage data and data security</a:t>
            </a:r>
          </a:p>
        </p:txBody>
      </p:sp>
    </p:spTree>
    <p:extLst>
      <p:ext uri="{BB962C8B-B14F-4D97-AF65-F5344CB8AC3E}">
        <p14:creationId xmlns:p14="http://schemas.microsoft.com/office/powerpoint/2010/main" val="374092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6.3: Human Resources Database with Multiple Views</a:t>
            </a:r>
          </a:p>
        </p:txBody>
      </p:sp>
      <p:pic>
        <p:nvPicPr>
          <p:cNvPr id="3" name="Picture 2" descr="Figure 6.3 illustrates a human resources database with multiple view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676400"/>
            <a:ext cx="722973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7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data as two-dimensional tables </a:t>
            </a:r>
          </a:p>
          <a:p>
            <a:r>
              <a:rPr lang="en-US" dirty="0"/>
              <a:t>Each table contains data on entity and attributes</a:t>
            </a:r>
          </a:p>
          <a:p>
            <a:r>
              <a:rPr lang="en-US" dirty="0"/>
              <a:t>Table: grid of columns and rows</a:t>
            </a:r>
          </a:p>
          <a:p>
            <a:pPr lvl="1"/>
            <a:r>
              <a:rPr lang="en-US" dirty="0"/>
              <a:t>Rows (tuples): Records for different entities</a:t>
            </a:r>
          </a:p>
          <a:p>
            <a:pPr lvl="1"/>
            <a:r>
              <a:rPr lang="en-US" dirty="0"/>
              <a:t>Fields (columns): Represents attribute for entity</a:t>
            </a:r>
          </a:p>
          <a:p>
            <a:pPr lvl="1"/>
            <a:r>
              <a:rPr lang="en-US" dirty="0"/>
              <a:t>Key field: Field used to uniquely identify each record</a:t>
            </a:r>
          </a:p>
          <a:p>
            <a:pPr lvl="1"/>
            <a:r>
              <a:rPr lang="en-US" dirty="0"/>
              <a:t>Primary key: Field in table used for key fields</a:t>
            </a:r>
          </a:p>
          <a:p>
            <a:pPr lvl="1"/>
            <a:r>
              <a:rPr lang="en-US" dirty="0"/>
              <a:t>Foreign key: Primary key used in second table as look-up field to identify records from original table</a:t>
            </a:r>
          </a:p>
        </p:txBody>
      </p:sp>
    </p:spTree>
    <p:extLst>
      <p:ext uri="{BB962C8B-B14F-4D97-AF65-F5344CB8AC3E}">
        <p14:creationId xmlns:p14="http://schemas.microsoft.com/office/powerpoint/2010/main" val="365629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6.4: Relational Database Tables</a:t>
            </a:r>
          </a:p>
        </p:txBody>
      </p:sp>
      <p:pic>
        <p:nvPicPr>
          <p:cNvPr id="3" name="Picture 2" descr="Figure 6.4 illustrates relational database table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43000"/>
            <a:ext cx="6858000" cy="497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1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of a Relational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basic operations used to develop useful sets of data</a:t>
            </a:r>
          </a:p>
          <a:p>
            <a:pPr lvl="1"/>
            <a:r>
              <a:rPr lang="en-US" dirty="0"/>
              <a:t>SELECT</a:t>
            </a:r>
          </a:p>
          <a:p>
            <a:pPr lvl="2"/>
            <a:r>
              <a:rPr lang="en-US" dirty="0"/>
              <a:t>Creates subset of data of all records that meet stated criteria</a:t>
            </a:r>
          </a:p>
          <a:p>
            <a:pPr lvl="1"/>
            <a:r>
              <a:rPr lang="en-US" dirty="0"/>
              <a:t>JOIN</a:t>
            </a:r>
          </a:p>
          <a:p>
            <a:pPr lvl="2"/>
            <a:r>
              <a:rPr lang="en-US" dirty="0"/>
              <a:t>Combines relational tables to provide user with more information than available in individual tables</a:t>
            </a:r>
          </a:p>
          <a:p>
            <a:pPr lvl="1"/>
            <a:r>
              <a:rPr lang="en-US" dirty="0"/>
              <a:t>PROJECT</a:t>
            </a:r>
          </a:p>
          <a:p>
            <a:pPr lvl="2"/>
            <a:r>
              <a:rPr lang="en-US" dirty="0"/>
              <a:t>Creates subset of columns in table, creating tables with only the information specified</a:t>
            </a:r>
          </a:p>
        </p:txBody>
      </p:sp>
    </p:spTree>
    <p:extLst>
      <p:ext uri="{BB962C8B-B14F-4D97-AF65-F5344CB8AC3E}">
        <p14:creationId xmlns:p14="http://schemas.microsoft.com/office/powerpoint/2010/main" val="2581240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Capabilities of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definition capability</a:t>
            </a:r>
          </a:p>
          <a:p>
            <a:r>
              <a:rPr lang="en-US" dirty="0"/>
              <a:t>Data dictionary</a:t>
            </a:r>
          </a:p>
          <a:p>
            <a:r>
              <a:rPr lang="en-US" dirty="0"/>
              <a:t>Querying and reporting</a:t>
            </a:r>
          </a:p>
          <a:p>
            <a:pPr lvl="1"/>
            <a:r>
              <a:rPr lang="en-US" dirty="0"/>
              <a:t>Data manipulation language</a:t>
            </a:r>
          </a:p>
          <a:p>
            <a:pPr lvl="2"/>
            <a:r>
              <a:rPr lang="en-US" dirty="0"/>
              <a:t>Structured Query Language (SQL)</a:t>
            </a:r>
          </a:p>
          <a:p>
            <a:r>
              <a:rPr lang="en-US" dirty="0"/>
              <a:t>Many DBMS have report generation capabilities for creating polished reports (Microsoft Access)</a:t>
            </a:r>
          </a:p>
        </p:txBody>
      </p:sp>
    </p:spTree>
    <p:extLst>
      <p:ext uri="{BB962C8B-B14F-4D97-AF65-F5344CB8AC3E}">
        <p14:creationId xmlns:p14="http://schemas.microsoft.com/office/powerpoint/2010/main" val="343723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6.7: Example of an SQL Query</a:t>
            </a:r>
          </a:p>
        </p:txBody>
      </p:sp>
      <p:pic>
        <p:nvPicPr>
          <p:cNvPr id="3" name="Picture 2" descr="Figure 6.7 shows an example of an SQL query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00"/>
            <a:ext cx="768818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6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design vs. physical design</a:t>
            </a:r>
          </a:p>
          <a:p>
            <a:r>
              <a:rPr lang="en-US" dirty="0"/>
              <a:t>Normalization</a:t>
            </a:r>
          </a:p>
          <a:p>
            <a:pPr lvl="1"/>
            <a:r>
              <a:rPr lang="en-US" dirty="0"/>
              <a:t>Streamlining complex groupings of data to minimize redundant data elements and awkward many-to-many relationships</a:t>
            </a:r>
          </a:p>
          <a:p>
            <a:r>
              <a:rPr lang="en-US" dirty="0"/>
              <a:t>Referential integrity</a:t>
            </a:r>
          </a:p>
          <a:p>
            <a:pPr lvl="1"/>
            <a:r>
              <a:rPr lang="en-US" altLang="en-US" dirty="0"/>
              <a:t>Rules used by RDBMS to ensure relationships between tables remain consistent</a:t>
            </a:r>
          </a:p>
          <a:p>
            <a:r>
              <a:rPr lang="en-US" dirty="0"/>
              <a:t>Entity-relationship diagram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A correct </a:t>
            </a:r>
            <a:r>
              <a:rPr lang="en-US" altLang="ja-JP" dirty="0">
                <a:solidFill>
                  <a:srgbClr val="0D0D0D"/>
                </a:solidFill>
              </a:rPr>
              <a:t>data model is essential for a system serving the business 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33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Non-relational Databases and Databases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Non-relational databases: </a:t>
            </a:r>
            <a:r>
              <a:rPr lang="ja-JP" altLang="en-US" dirty="0"/>
              <a:t>“</a:t>
            </a:r>
            <a:r>
              <a:rPr lang="en-US" altLang="ja-JP" dirty="0"/>
              <a:t>NoSQL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dirty="0"/>
              <a:t>More flexible data model</a:t>
            </a:r>
          </a:p>
          <a:p>
            <a:pPr lvl="1"/>
            <a:r>
              <a:rPr lang="en-US" altLang="en-US" dirty="0"/>
              <a:t>Data sets stored across distributed machines </a:t>
            </a:r>
          </a:p>
          <a:p>
            <a:pPr lvl="1"/>
            <a:r>
              <a:rPr lang="en-US" altLang="en-US" dirty="0"/>
              <a:t>Easier to scale</a:t>
            </a:r>
          </a:p>
          <a:p>
            <a:pPr lvl="1"/>
            <a:r>
              <a:rPr lang="en-US" altLang="en-US" dirty="0"/>
              <a:t>Handle large volumes of unstructured and structured data </a:t>
            </a:r>
          </a:p>
          <a:p>
            <a:r>
              <a:rPr lang="en-US" altLang="en-US" dirty="0"/>
              <a:t>Databases in the cloud</a:t>
            </a:r>
          </a:p>
          <a:p>
            <a:pPr lvl="1"/>
            <a:r>
              <a:rPr lang="en-US" altLang="en-US" dirty="0"/>
              <a:t>Appeal to start-ups, smaller businesses</a:t>
            </a:r>
          </a:p>
          <a:p>
            <a:pPr lvl="1"/>
            <a:r>
              <a:rPr lang="en-US" altLang="en-US" dirty="0"/>
              <a:t>Amazon Relational Database Service, Microsoft SQL Azure</a:t>
            </a:r>
          </a:p>
          <a:p>
            <a:pPr lvl="1"/>
            <a:r>
              <a:rPr lang="en-US" altLang="en-US" dirty="0"/>
              <a:t>Private clouds</a:t>
            </a:r>
          </a:p>
        </p:txBody>
      </p:sp>
    </p:spTree>
    <p:extLst>
      <p:ext uri="{BB962C8B-B14F-4D97-AF65-F5344CB8AC3E}">
        <p14:creationId xmlns:p14="http://schemas.microsoft.com/office/powerpoint/2010/main" val="2266798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of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Big data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Massive sets of unstructured/semi-structured data from web traffic, social media, sensors, and so on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Volumes too great for typical DBMS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Petabytes, exabytes of data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Can reveal more patterns, relationships and anomalies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Requires new tools and technologies to manage and analyze</a:t>
            </a:r>
          </a:p>
        </p:txBody>
      </p:sp>
    </p:spTree>
    <p:extLst>
      <p:ext uri="{BB962C8B-B14F-4D97-AF65-F5344CB8AC3E}">
        <p14:creationId xmlns:p14="http://schemas.microsoft.com/office/powerpoint/2010/main" val="2064561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Infrastructure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of tools for obtaining information from separate systems and from big data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Data warehouse 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Stores current and historical data from many core operational transaction systems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Consolidates and standardizes information for use across enterprise, but data cannot be altered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Provides analysis and reporting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1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Infrastructure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Data marts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Subset of data warehouse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Typically focus on single subject or line of business</a:t>
            </a:r>
          </a:p>
          <a:p>
            <a:pPr>
              <a:defRPr/>
            </a:pPr>
            <a:r>
              <a:rPr lang="en-US" dirty="0"/>
              <a:t>Hadoop</a:t>
            </a:r>
          </a:p>
          <a:p>
            <a:pPr lvl="1">
              <a:defRPr/>
            </a:pPr>
            <a:r>
              <a:rPr lang="en-US" dirty="0"/>
              <a:t>Enables distributed parallel processing of big data across inexpensive computers</a:t>
            </a:r>
          </a:p>
          <a:p>
            <a:pPr lvl="1">
              <a:defRPr/>
            </a:pPr>
            <a:r>
              <a:rPr lang="en-US" dirty="0"/>
              <a:t>Key services</a:t>
            </a:r>
          </a:p>
          <a:p>
            <a:pPr lvl="2">
              <a:defRPr/>
            </a:pPr>
            <a:r>
              <a:rPr lang="en-US" dirty="0"/>
              <a:t>Hadoop Distributed File System (HDFS): data storage</a:t>
            </a:r>
          </a:p>
          <a:p>
            <a:pPr lvl="2">
              <a:defRPr/>
            </a:pPr>
            <a:r>
              <a:rPr lang="en-US" dirty="0"/>
              <a:t>MapReduce: breaks data into clusters for work</a:t>
            </a:r>
          </a:p>
          <a:p>
            <a:pPr lvl="2">
              <a:defRPr/>
            </a:pPr>
            <a:r>
              <a:rPr lang="en-US" dirty="0"/>
              <a:t>Hbase: NoSQL database</a:t>
            </a:r>
          </a:p>
          <a:p>
            <a:pPr lvl="1">
              <a:defRPr/>
            </a:pPr>
            <a:r>
              <a:rPr lang="en-US" dirty="0"/>
              <a:t>Used Yahoo, NextBio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0655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Infrastructure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In-memory computing</a:t>
            </a:r>
          </a:p>
          <a:p>
            <a:pPr lvl="1">
              <a:defRPr/>
            </a:pPr>
            <a:r>
              <a:rPr lang="en-US" dirty="0"/>
              <a:t>Used in big data analysis</a:t>
            </a:r>
          </a:p>
          <a:p>
            <a:pPr lvl="1">
              <a:defRPr/>
            </a:pPr>
            <a:r>
              <a:rPr lang="en-US" dirty="0"/>
              <a:t>Uses computers main memory (RAM) for data storage to avoid delays in retrieving data from disk storage</a:t>
            </a:r>
          </a:p>
          <a:p>
            <a:pPr lvl="1">
              <a:defRPr/>
            </a:pPr>
            <a:r>
              <a:rPr lang="en-US" dirty="0"/>
              <a:t>Can reduce hours/days of processing to seconds</a:t>
            </a:r>
          </a:p>
          <a:p>
            <a:pPr lvl="1">
              <a:defRPr/>
            </a:pPr>
            <a:r>
              <a:rPr lang="en-US" dirty="0"/>
              <a:t>Requires optimized hardware</a:t>
            </a:r>
          </a:p>
          <a:p>
            <a:pPr>
              <a:defRPr/>
            </a:pPr>
            <a:r>
              <a:rPr lang="en-US" dirty="0"/>
              <a:t>Analytic platforms</a:t>
            </a:r>
          </a:p>
          <a:p>
            <a:pPr lvl="1">
              <a:defRPr/>
            </a:pPr>
            <a:r>
              <a:rPr lang="en-US" dirty="0"/>
              <a:t>High-speed platforms using both relational and non-relational tools optimized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971734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6.12: Contemporary Business Intelligence Infrastructure</a:t>
            </a:r>
          </a:p>
        </p:txBody>
      </p:sp>
      <p:pic>
        <p:nvPicPr>
          <p:cNvPr id="3" name="Picture 2" descr="Figure 6.12 illustrates a contemporary business intelligence infrastructur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62939"/>
            <a:ext cx="6477000" cy="44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27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Tools: Relationships, Patterns,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for consolidating, analyzing, and providing access to vast amounts of data to help users make better business decisions</a:t>
            </a:r>
          </a:p>
          <a:p>
            <a:pPr lvl="1"/>
            <a:r>
              <a:rPr lang="en-US" dirty="0"/>
              <a:t>Multidimensional data analysis (OLAP)</a:t>
            </a:r>
          </a:p>
          <a:p>
            <a:pPr lvl="1"/>
            <a:r>
              <a:rPr lang="en-US" dirty="0"/>
              <a:t>Data mining</a:t>
            </a:r>
          </a:p>
          <a:p>
            <a:pPr lvl="1"/>
            <a:r>
              <a:rPr lang="en-US" dirty="0"/>
              <a:t>Text mining</a:t>
            </a:r>
          </a:p>
          <a:p>
            <a:pPr lvl="1"/>
            <a:r>
              <a:rPr lang="en-US" dirty="0"/>
              <a:t>Web mining</a:t>
            </a:r>
          </a:p>
        </p:txBody>
      </p:sp>
    </p:spTree>
    <p:extLst>
      <p:ext uri="{BB962C8B-B14F-4D97-AF65-F5344CB8AC3E}">
        <p14:creationId xmlns:p14="http://schemas.microsoft.com/office/powerpoint/2010/main" val="1613328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Analytical Processing (OLAP)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Supports multidimensional data analysis</a:t>
            </a:r>
          </a:p>
          <a:p>
            <a:pPr lvl="1"/>
            <a:r>
              <a:rPr lang="en-US" dirty="0"/>
              <a:t>Viewing data using multiple dimensions</a:t>
            </a:r>
          </a:p>
          <a:p>
            <a:pPr lvl="1"/>
            <a:r>
              <a:rPr lang="en-US" dirty="0"/>
              <a:t>Each aspect of information (product, pricing, cost, region, time period) is different dimension</a:t>
            </a:r>
          </a:p>
          <a:p>
            <a:pPr lvl="1"/>
            <a:r>
              <a:rPr lang="en-US" dirty="0"/>
              <a:t>Example: How many washers sold in the East in June compared with other regions?</a:t>
            </a:r>
          </a:p>
          <a:p>
            <a:r>
              <a:rPr lang="en-US" dirty="0"/>
              <a:t>OLAP enables rapid, online answers to ad hoc queries</a:t>
            </a:r>
          </a:p>
        </p:txBody>
      </p:sp>
    </p:spTree>
    <p:extLst>
      <p:ext uri="{BB962C8B-B14F-4D97-AF65-F5344CB8AC3E}">
        <p14:creationId xmlns:p14="http://schemas.microsoft.com/office/powerpoint/2010/main" val="738086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Finds hidden patterns, relationships in datasets</a:t>
            </a:r>
          </a:p>
          <a:p>
            <a:pPr lvl="1"/>
            <a:r>
              <a:rPr lang="en-US" dirty="0"/>
              <a:t>Example: customer buying patterns</a:t>
            </a:r>
          </a:p>
          <a:p>
            <a:r>
              <a:rPr lang="en-US" dirty="0"/>
              <a:t>Infers rules to predict future behavior</a:t>
            </a:r>
          </a:p>
          <a:p>
            <a:r>
              <a:rPr lang="en-US" dirty="0"/>
              <a:t>Types of information obtainable from data mining:</a:t>
            </a:r>
          </a:p>
          <a:p>
            <a:pPr lvl="1"/>
            <a:r>
              <a:rPr lang="en-US" dirty="0"/>
              <a:t>Associations</a:t>
            </a:r>
          </a:p>
          <a:p>
            <a:pPr lvl="1"/>
            <a:r>
              <a:rPr lang="en-US" dirty="0"/>
              <a:t>Sequences</a:t>
            </a:r>
          </a:p>
          <a:p>
            <a:pPr lvl="1"/>
            <a:r>
              <a:rPr lang="en-US" dirty="0"/>
              <a:t>Classification</a:t>
            </a:r>
          </a:p>
          <a:p>
            <a:pPr lvl="1"/>
            <a:r>
              <a:rPr lang="en-US" dirty="0"/>
              <a:t>Clustering</a:t>
            </a:r>
          </a:p>
          <a:p>
            <a:pPr lvl="1"/>
            <a:r>
              <a:rPr lang="en-US" dirty="0"/>
              <a:t>Forecasting</a:t>
            </a:r>
          </a:p>
        </p:txBody>
      </p:sp>
    </p:spTree>
    <p:extLst>
      <p:ext uri="{BB962C8B-B14F-4D97-AF65-F5344CB8AC3E}">
        <p14:creationId xmlns:p14="http://schemas.microsoft.com/office/powerpoint/2010/main" val="1955360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Mining and Web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mining</a:t>
            </a:r>
          </a:p>
          <a:p>
            <a:pPr lvl="1"/>
            <a:r>
              <a:rPr lang="en-US" dirty="0"/>
              <a:t>Extracts key elements from large unstructured data sets </a:t>
            </a:r>
          </a:p>
          <a:p>
            <a:pPr lvl="1"/>
            <a:r>
              <a:rPr lang="en-US" dirty="0"/>
              <a:t>Sentiment analysis software</a:t>
            </a:r>
          </a:p>
          <a:p>
            <a:r>
              <a:rPr lang="en-US" dirty="0"/>
              <a:t>Web mining</a:t>
            </a:r>
          </a:p>
          <a:p>
            <a:pPr lvl="1"/>
            <a:r>
              <a:rPr lang="en-US" dirty="0"/>
              <a:t>Discovery and analysis of useful patterns and information from web</a:t>
            </a:r>
          </a:p>
          <a:p>
            <a:pPr lvl="1"/>
            <a:r>
              <a:rPr lang="en-US" dirty="0"/>
              <a:t>Web content mining</a:t>
            </a:r>
          </a:p>
          <a:p>
            <a:pPr lvl="1"/>
            <a:r>
              <a:rPr lang="en-US" dirty="0"/>
              <a:t>Web structure mining</a:t>
            </a:r>
          </a:p>
          <a:p>
            <a:pPr lvl="1"/>
            <a:r>
              <a:rPr lang="en-US" dirty="0"/>
              <a:t>Web usage mining</a:t>
            </a:r>
          </a:p>
        </p:txBody>
      </p:sp>
    </p:spTree>
    <p:extLst>
      <p:ext uri="{BB962C8B-B14F-4D97-AF65-F5344CB8AC3E}">
        <p14:creationId xmlns:p14="http://schemas.microsoft.com/office/powerpoint/2010/main" val="3646941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and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–"/>
              <a:defRPr/>
            </a:pPr>
            <a:r>
              <a:rPr lang="en-US" dirty="0"/>
              <a:t>Many companies use the web to make some internal databases available to customers or partners</a:t>
            </a:r>
          </a:p>
          <a:p>
            <a:pPr>
              <a:buFont typeface="Arial" charset="0"/>
              <a:buChar char="–"/>
              <a:defRPr/>
            </a:pPr>
            <a:r>
              <a:rPr lang="en-US" dirty="0"/>
              <a:t>Typical configuration includes: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Web server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Application server/middleware/CGI scripts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Database server (hosting DBMS)</a:t>
            </a:r>
          </a:p>
          <a:p>
            <a:pPr>
              <a:buFont typeface="Arial" charset="0"/>
              <a:buChar char="–"/>
              <a:defRPr/>
            </a:pPr>
            <a:r>
              <a:rPr lang="en-US" dirty="0"/>
              <a:t>Advantages of using the web for database access: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Ease of use of browser software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Web interface requires few or no changes to database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Inexpensive to add web interface to system</a:t>
            </a:r>
          </a:p>
        </p:txBody>
      </p:sp>
    </p:spTree>
    <p:extLst>
      <p:ext uri="{BB962C8B-B14F-4D97-AF65-F5344CB8AC3E}">
        <p14:creationId xmlns:p14="http://schemas.microsoft.com/office/powerpoint/2010/main" val="52094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Establishing an Information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Firm</a:t>
            </a:r>
            <a:r>
              <a:rPr lang="en-US" altLang="ja-JP" dirty="0"/>
              <a:t>’s rules, procedures, roles for sharing, managing, standardizing data</a:t>
            </a:r>
          </a:p>
          <a:p>
            <a:r>
              <a:rPr lang="en-US" altLang="en-US" dirty="0"/>
              <a:t>Data administration </a:t>
            </a:r>
          </a:p>
          <a:p>
            <a:pPr lvl="1"/>
            <a:r>
              <a:rPr lang="en-US" altLang="en-US" dirty="0"/>
              <a:t>Establishes policies and procedures to manage data</a:t>
            </a:r>
          </a:p>
          <a:p>
            <a:r>
              <a:rPr lang="en-US" altLang="en-US" dirty="0"/>
              <a:t>Data governance</a:t>
            </a:r>
          </a:p>
          <a:p>
            <a:pPr lvl="1"/>
            <a:r>
              <a:rPr lang="en-US" altLang="en-US" dirty="0"/>
              <a:t>Deals with policies and processes for managing availability, usability, integrity, and security of data, especially regarding government regulations</a:t>
            </a:r>
          </a:p>
          <a:p>
            <a:r>
              <a:rPr lang="en-US" altLang="en-US" dirty="0"/>
              <a:t>Database administration</a:t>
            </a:r>
          </a:p>
          <a:p>
            <a:pPr lvl="1"/>
            <a:r>
              <a:rPr lang="en-US" altLang="en-US" dirty="0"/>
              <a:t>Creating and maintaining database</a:t>
            </a:r>
          </a:p>
        </p:txBody>
      </p:sp>
    </p:spTree>
    <p:extLst>
      <p:ext uri="{BB962C8B-B14F-4D97-AF65-F5344CB8AC3E}">
        <p14:creationId xmlns:p14="http://schemas.microsoft.com/office/powerpoint/2010/main" val="3332372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Data Quality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than 25 percent of critical data in Fortune 1000 company databases are inaccurate or incomplete</a:t>
            </a:r>
          </a:p>
          <a:p>
            <a:r>
              <a:rPr lang="en-US" dirty="0"/>
              <a:t>Before new database is in place, a firm must:</a:t>
            </a:r>
          </a:p>
          <a:p>
            <a:pPr lvl="1"/>
            <a:r>
              <a:rPr lang="en-US" dirty="0"/>
              <a:t>Identify and correct faulty data </a:t>
            </a:r>
          </a:p>
          <a:p>
            <a:pPr lvl="1"/>
            <a:r>
              <a:rPr lang="en-US" dirty="0"/>
              <a:t>Establish better routines for editing data once database in operation</a:t>
            </a:r>
          </a:p>
          <a:p>
            <a:r>
              <a:rPr lang="en-US" dirty="0"/>
              <a:t>Data quality audit</a:t>
            </a:r>
          </a:p>
          <a:p>
            <a:r>
              <a:rPr lang="en-US" dirty="0"/>
              <a:t>Data cleansing</a:t>
            </a:r>
          </a:p>
        </p:txBody>
      </p:sp>
    </p:spTree>
    <p:extLst>
      <p:ext uri="{BB962C8B-B14F-4D97-AF65-F5344CB8AC3E}">
        <p14:creationId xmlns:p14="http://schemas.microsoft.com/office/powerpoint/2010/main" val="3048489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BC60-3B25-46C2-99F6-01350C8E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1BA0-084E-43BC-AA8C-BDE4D91DF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46135"/>
      </p:ext>
    </p:extLst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3659</TotalTime>
  <Words>1071</Words>
  <Application>Microsoft Office PowerPoint</Application>
  <PresentationFormat>On-screen Show (4:3)</PresentationFormat>
  <Paragraphs>194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Times New Roman</vt:lpstr>
      <vt:lpstr>Verdana</vt:lpstr>
      <vt:lpstr>Wingdings</vt:lpstr>
      <vt:lpstr>508 Lecture</vt:lpstr>
      <vt:lpstr>Management Information Systems: Managing the Digital Firm</vt:lpstr>
      <vt:lpstr>Problems with the Traditional File Environment</vt:lpstr>
      <vt:lpstr>Figure 6.2: Traditional File Processing</vt:lpstr>
      <vt:lpstr>Database Management Systems</vt:lpstr>
      <vt:lpstr>Figure 6.3: Human Resources Database with Multiple Views</vt:lpstr>
      <vt:lpstr>Relational DBMS</vt:lpstr>
      <vt:lpstr>Figure 6.4: Relational Database Tables</vt:lpstr>
      <vt:lpstr>Operations of a Relational DBMS</vt:lpstr>
      <vt:lpstr>Capabilities of Database Management Systems</vt:lpstr>
      <vt:lpstr>Figure 6.7: Example of an SQL Query</vt:lpstr>
      <vt:lpstr>Designing Databases</vt:lpstr>
      <vt:lpstr>Non-relational Databases and Databases in the Cloud</vt:lpstr>
      <vt:lpstr>The Challenge of Big Data</vt:lpstr>
      <vt:lpstr>Business Intelligence Infrastructure (1 of 3)</vt:lpstr>
      <vt:lpstr>Business Intelligence Infrastructure (2 of 3)</vt:lpstr>
      <vt:lpstr>Business Intelligence Infrastructure (3 of 3)</vt:lpstr>
      <vt:lpstr>Figure 6.12: Contemporary Business Intelligence Infrastructure</vt:lpstr>
      <vt:lpstr>Analytical Tools: Relationships, Patterns, Trends</vt:lpstr>
      <vt:lpstr>Online Analytical Processing (OLAP)</vt:lpstr>
      <vt:lpstr>Data Mining</vt:lpstr>
      <vt:lpstr>Text Mining and Web Mining</vt:lpstr>
      <vt:lpstr>Databases and the Web</vt:lpstr>
      <vt:lpstr>Establishing an Information Policy</vt:lpstr>
      <vt:lpstr>Ensuring Data Quality </vt:lpstr>
      <vt:lpstr>End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Management Information Systems:  Managing the Digital Firm, 15th edition</dc:subject>
  <dc:creator>Kenneth C. Laudon/Jane P. Laudon</dc:creator>
  <cp:keywords>Management Information Systems</cp:keywords>
  <cp:lastModifiedBy>Hansen, Atanas Y.</cp:lastModifiedBy>
  <cp:revision>223</cp:revision>
  <dcterms:created xsi:type="dcterms:W3CDTF">2014-07-14T20:04:21Z</dcterms:created>
  <dcterms:modified xsi:type="dcterms:W3CDTF">2018-08-07T17:25:16Z</dcterms:modified>
  <cp:category>Information Systems</cp:category>
</cp:coreProperties>
</file>