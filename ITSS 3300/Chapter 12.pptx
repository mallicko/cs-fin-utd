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49" r:id="rId2"/>
    <p:sldId id="351" r:id="rId3"/>
    <p:sldId id="415" r:id="rId4"/>
    <p:sldId id="369" r:id="rId5"/>
    <p:sldId id="416" r:id="rId6"/>
    <p:sldId id="409" r:id="rId7"/>
    <p:sldId id="417" r:id="rId8"/>
    <p:sldId id="418" r:id="rId9"/>
    <p:sldId id="419" r:id="rId10"/>
    <p:sldId id="420" r:id="rId11"/>
    <p:sldId id="421" r:id="rId12"/>
    <p:sldId id="422" r:id="rId13"/>
    <p:sldId id="410" r:id="rId14"/>
    <p:sldId id="423" r:id="rId15"/>
    <p:sldId id="436" r:id="rId16"/>
    <p:sldId id="426" r:id="rId17"/>
    <p:sldId id="427" r:id="rId18"/>
    <p:sldId id="428" r:id="rId19"/>
    <p:sldId id="429" r:id="rId20"/>
    <p:sldId id="430" r:id="rId21"/>
    <p:sldId id="411" r:id="rId22"/>
    <p:sldId id="432" r:id="rId23"/>
    <p:sldId id="413" r:id="rId24"/>
    <p:sldId id="433" r:id="rId25"/>
    <p:sldId id="434" r:id="rId26"/>
    <p:sldId id="435" r:id="rId27"/>
    <p:sldId id="437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gan Miller" initials="MM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38"/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7" autoAdjust="0"/>
    <p:restoredTop sz="76585" autoAdjust="0"/>
  </p:normalViewPr>
  <p:slideViewPr>
    <p:cSldViewPr>
      <p:cViewPr varScale="1">
        <p:scale>
          <a:sx n="66" d="100"/>
          <a:sy n="66" d="100"/>
        </p:scale>
        <p:origin x="183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10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968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576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5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63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83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02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582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731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737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3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840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63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899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482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39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38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943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5358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551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2027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608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000"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GH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63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638"/>
              </a:buClr>
              <a:buSzPct val="100000"/>
              <a:defRPr sz="2800"/>
            </a:lvl1pPr>
            <a:lvl2pPr>
              <a:buClr>
                <a:srgbClr val="008638"/>
              </a:buClr>
              <a:defRPr sz="2000"/>
            </a:lvl2pPr>
            <a:lvl3pPr>
              <a:buClr>
                <a:srgbClr val="008638"/>
              </a:buClr>
              <a:defRPr/>
            </a:lvl3pPr>
            <a:lvl4pPr>
              <a:buClr>
                <a:srgbClr val="008638"/>
              </a:buClr>
              <a:defRPr/>
            </a:lvl4pPr>
            <a:lvl5pPr>
              <a:buClr>
                <a:srgbClr val="008638"/>
              </a:buClr>
              <a:defRPr/>
            </a:lvl5pPr>
            <a:lvl6pPr>
              <a:buClr>
                <a:srgbClr val="008638"/>
              </a:buClr>
              <a:defRPr/>
            </a:lvl6pPr>
            <a:lvl7pPr>
              <a:buClr>
                <a:srgbClr val="008638"/>
              </a:buClr>
              <a:defRPr/>
            </a:lvl7pPr>
            <a:lvl8pPr>
              <a:buClr>
                <a:srgbClr val="008638"/>
              </a:buClr>
              <a:defRPr/>
            </a:lvl8pPr>
            <a:lvl9pPr>
              <a:buClr>
                <a:srgbClr val="008638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68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61" r:id="rId5"/>
    <p:sldLayoutId id="2147483659" r:id="rId6"/>
    <p:sldLayoutId id="2147483658" r:id="rId7"/>
    <p:sldLayoutId id="2147483660" r:id="rId8"/>
    <p:sldLayoutId id="2147483651" r:id="rId9"/>
    <p:sldLayoutId id="2147483654" r:id="rId10"/>
    <p:sldLayoutId id="214748365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Information Systems: Managing the Digital Firm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300845"/>
            <a:ext cx="8229600" cy="478970"/>
          </a:xfrm>
        </p:spPr>
        <p:txBody>
          <a:bodyPr/>
          <a:lstStyle/>
          <a:p>
            <a:r>
              <a:rPr lang="en-US" dirty="0"/>
              <a:t>Fifteenth edition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Chapter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Enhancing Decision Making</a:t>
            </a:r>
            <a:endParaRPr lang="en-US" b="1" dirty="0"/>
          </a:p>
        </p:txBody>
      </p:sp>
      <p:pic>
        <p:nvPicPr>
          <p:cNvPr id="6" name="Picture 5" descr="Book cove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57476"/>
            <a:ext cx="2940655" cy="3763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732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What Are the Different Types of Decisions, and How Does the Decision Making Process Work?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/>
          <a:lstStyle/>
          <a:p>
            <a:r>
              <a:rPr lang="en-US" altLang="en-US" dirty="0"/>
              <a:t>Business value of improved decision making</a:t>
            </a:r>
          </a:p>
          <a:p>
            <a:pPr lvl="1"/>
            <a:r>
              <a:rPr lang="en-US" altLang="en-US" dirty="0"/>
              <a:t>Improving hundreds of thousands of </a:t>
            </a:r>
            <a:r>
              <a:rPr lang="ja-JP" altLang="en-US" dirty="0"/>
              <a:t>“</a:t>
            </a:r>
            <a:r>
              <a:rPr lang="en-US" altLang="ja-JP" dirty="0"/>
              <a:t>small</a:t>
            </a:r>
            <a:r>
              <a:rPr lang="ja-JP" altLang="en-US" dirty="0"/>
              <a:t>”</a:t>
            </a:r>
            <a:r>
              <a:rPr lang="en-US" altLang="ja-JP" dirty="0"/>
              <a:t> decisions adds up to large annual value for the business</a:t>
            </a:r>
          </a:p>
          <a:p>
            <a:r>
              <a:rPr lang="en-US" altLang="en-US" dirty="0"/>
              <a:t>Types of decisions</a:t>
            </a:r>
          </a:p>
          <a:p>
            <a:pPr lvl="1"/>
            <a:r>
              <a:rPr lang="en-US" altLang="en-US" dirty="0"/>
              <a:t>Unstructured: Decision maker must provide judgment, evaluation, and insight to solve problem</a:t>
            </a:r>
          </a:p>
          <a:p>
            <a:pPr lvl="1"/>
            <a:r>
              <a:rPr lang="en-US" altLang="en-US" dirty="0"/>
              <a:t>Structured: Repetitive and routine; involve definite procedure for handling so they do not have to be treated each time as new</a:t>
            </a:r>
          </a:p>
          <a:p>
            <a:pPr lvl="1"/>
            <a:r>
              <a:rPr lang="en-US" altLang="en-US" dirty="0"/>
              <a:t>Semistructured: Only part of problem has clear-cut answer provided by accepted procedure</a:t>
            </a:r>
          </a:p>
        </p:txBody>
      </p:sp>
    </p:spTree>
    <p:extLst>
      <p:ext uri="{BB962C8B-B14F-4D97-AF65-F5344CB8AC3E}">
        <p14:creationId xmlns:p14="http://schemas.microsoft.com/office/powerpoint/2010/main" val="97956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What Are the Different Types of decisions, and How Does the Decision Making Process Work?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144963"/>
          </a:xfrm>
        </p:spPr>
        <p:txBody>
          <a:bodyPr/>
          <a:lstStyle/>
          <a:p>
            <a:r>
              <a:rPr lang="en-US" dirty="0"/>
              <a:t>Senior managers</a:t>
            </a:r>
          </a:p>
          <a:p>
            <a:pPr lvl="1"/>
            <a:r>
              <a:rPr lang="en-US" dirty="0"/>
              <a:t>Make many unstructured decisions</a:t>
            </a:r>
          </a:p>
          <a:p>
            <a:r>
              <a:rPr lang="en-US" dirty="0"/>
              <a:t>Middle managers</a:t>
            </a:r>
          </a:p>
          <a:p>
            <a:pPr lvl="1"/>
            <a:r>
              <a:rPr lang="en-US" dirty="0"/>
              <a:t>Make more structured decisions but these may include unstructured components</a:t>
            </a:r>
          </a:p>
          <a:p>
            <a:r>
              <a:rPr lang="en-US" dirty="0"/>
              <a:t>Operational managers and rank and file employees</a:t>
            </a:r>
          </a:p>
          <a:p>
            <a:pPr lvl="1"/>
            <a:r>
              <a:rPr lang="en-US" dirty="0"/>
              <a:t>Make more structured decisions</a:t>
            </a:r>
          </a:p>
        </p:txBody>
      </p:sp>
    </p:spTree>
    <p:extLst>
      <p:ext uri="{BB962C8B-B14F-4D97-AF65-F5344CB8AC3E}">
        <p14:creationId xmlns:p14="http://schemas.microsoft.com/office/powerpoint/2010/main" val="788059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12.1: Information Requirements of Key Decision-Making Groups in a Firm</a:t>
            </a:r>
          </a:p>
        </p:txBody>
      </p:sp>
      <p:pic>
        <p:nvPicPr>
          <p:cNvPr id="3" name="Picture 2" descr="This figure provides an illustration of how the nature of decision making changes as you move up and down the corporate hierarchy.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24000"/>
            <a:ext cx="7420157" cy="453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4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Decision Making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Intelligence</a:t>
            </a:r>
          </a:p>
          <a:p>
            <a:pPr lvl="1"/>
            <a:r>
              <a:rPr lang="en-US" dirty="0"/>
              <a:t>Discovering, identifying, and understanding the problems occurring in the organization</a:t>
            </a:r>
          </a:p>
          <a:p>
            <a:r>
              <a:rPr lang="en-US" dirty="0"/>
              <a:t>Design</a:t>
            </a:r>
          </a:p>
          <a:p>
            <a:pPr lvl="1"/>
            <a:r>
              <a:rPr lang="en-US" dirty="0"/>
              <a:t>Identifying and exploring solutions to the problem</a:t>
            </a:r>
          </a:p>
          <a:p>
            <a:r>
              <a:rPr lang="en-US" dirty="0"/>
              <a:t>Choice</a:t>
            </a:r>
          </a:p>
          <a:p>
            <a:pPr lvl="1"/>
            <a:r>
              <a:rPr lang="en-US" dirty="0"/>
              <a:t>Choosing among solution alternatives</a:t>
            </a:r>
          </a:p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Making chosen alternative work and continuing to monitor how well solution is working</a:t>
            </a:r>
          </a:p>
        </p:txBody>
      </p:sp>
    </p:spTree>
    <p:extLst>
      <p:ext uri="{BB962C8B-B14F-4D97-AF65-F5344CB8AC3E}">
        <p14:creationId xmlns:p14="http://schemas.microsoft.com/office/powerpoint/2010/main" val="3811107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12.2: Stages In Decision Making</a:t>
            </a:r>
          </a:p>
        </p:txBody>
      </p:sp>
      <p:pic>
        <p:nvPicPr>
          <p:cNvPr id="3" name="Picture 2" descr="This graphic illustrates the four stages of decision making.&#10;&#10;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066800"/>
            <a:ext cx="51054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7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Managerial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systems can only assist in some of the roles played by managers</a:t>
            </a:r>
          </a:p>
          <a:p>
            <a:r>
              <a:rPr lang="en-US" dirty="0"/>
              <a:t>Classical model of management: five functions</a:t>
            </a:r>
          </a:p>
          <a:p>
            <a:pPr lvl="1"/>
            <a:r>
              <a:rPr lang="en-US" dirty="0"/>
              <a:t>Planning, organizing, coordinating, deciding, and controlling</a:t>
            </a:r>
          </a:p>
          <a:p>
            <a:r>
              <a:rPr lang="en-US" dirty="0"/>
              <a:t>More contemporary behavioral models </a:t>
            </a:r>
          </a:p>
          <a:p>
            <a:pPr lvl="1"/>
            <a:r>
              <a:rPr lang="en-US" dirty="0"/>
              <a:t>Actual behavior of managers appears to be less systematic, more informal, less reflective, more reactive, and less well organized than in classical model</a:t>
            </a:r>
          </a:p>
        </p:txBody>
      </p:sp>
    </p:spTree>
    <p:extLst>
      <p:ext uri="{BB962C8B-B14F-4D97-AF65-F5344CB8AC3E}">
        <p14:creationId xmlns:p14="http://schemas.microsoft.com/office/powerpoint/2010/main" val="391518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Mintzberg</a:t>
            </a:r>
            <a:r>
              <a:rPr lang="en-US" altLang="ja-JP" dirty="0"/>
              <a:t>’s 10 Managerial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Interpersonal roles	</a:t>
            </a:r>
          </a:p>
          <a:p>
            <a:pPr lvl="1"/>
            <a:r>
              <a:rPr lang="en-US" altLang="en-US" sz="1600" dirty="0"/>
              <a:t>Figurehead</a:t>
            </a:r>
          </a:p>
          <a:p>
            <a:pPr lvl="1"/>
            <a:r>
              <a:rPr lang="en-US" altLang="en-US" sz="1600" dirty="0"/>
              <a:t>Leader</a:t>
            </a:r>
          </a:p>
          <a:p>
            <a:pPr lvl="1"/>
            <a:r>
              <a:rPr lang="en-US" altLang="en-US" sz="1600" dirty="0"/>
              <a:t>Liaison</a:t>
            </a:r>
          </a:p>
          <a:p>
            <a:r>
              <a:rPr lang="en-US" altLang="en-US" sz="2000" dirty="0"/>
              <a:t>Informational roles</a:t>
            </a:r>
          </a:p>
          <a:p>
            <a:pPr lvl="1"/>
            <a:r>
              <a:rPr lang="en-US" altLang="en-US" sz="1600" dirty="0"/>
              <a:t>Nerve center</a:t>
            </a:r>
          </a:p>
          <a:p>
            <a:pPr lvl="1"/>
            <a:r>
              <a:rPr lang="en-US" altLang="en-US" sz="1600" dirty="0"/>
              <a:t>Disseminator</a:t>
            </a:r>
          </a:p>
          <a:p>
            <a:pPr lvl="1"/>
            <a:r>
              <a:rPr lang="en-US" altLang="en-US" sz="1600" dirty="0"/>
              <a:t>Spokesperson</a:t>
            </a:r>
          </a:p>
          <a:p>
            <a:r>
              <a:rPr lang="en-US" altLang="en-US" sz="2000" dirty="0"/>
              <a:t>Decisional roles</a:t>
            </a:r>
          </a:p>
          <a:p>
            <a:pPr lvl="1"/>
            <a:r>
              <a:rPr lang="en-US" altLang="en-US" sz="1600" dirty="0"/>
              <a:t>Entrepreneur</a:t>
            </a:r>
          </a:p>
          <a:p>
            <a:pPr lvl="1"/>
            <a:r>
              <a:rPr lang="en-US" altLang="en-US" sz="1600" dirty="0"/>
              <a:t>Disturbance handler</a:t>
            </a:r>
          </a:p>
          <a:p>
            <a:pPr lvl="1"/>
            <a:r>
              <a:rPr lang="en-US" altLang="en-US" sz="1600" dirty="0"/>
              <a:t>Resource allocator</a:t>
            </a:r>
          </a:p>
          <a:p>
            <a:pPr lvl="1"/>
            <a:r>
              <a:rPr lang="en-US" altLang="en-US" sz="1600" dirty="0"/>
              <a:t>Negotiator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549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main reasons why investments in IT do not always produce positive results</a:t>
            </a:r>
          </a:p>
          <a:p>
            <a:pPr lvl="1"/>
            <a:r>
              <a:rPr lang="en-US" dirty="0"/>
              <a:t>Information quality</a:t>
            </a:r>
          </a:p>
          <a:p>
            <a:pPr lvl="2"/>
            <a:r>
              <a:rPr lang="en-US" dirty="0"/>
              <a:t>High-quality decisions require high-quality information</a:t>
            </a:r>
          </a:p>
          <a:p>
            <a:pPr lvl="1"/>
            <a:r>
              <a:rPr lang="en-US" dirty="0"/>
              <a:t>Management filters</a:t>
            </a:r>
          </a:p>
          <a:p>
            <a:pPr lvl="2"/>
            <a:r>
              <a:rPr lang="en-US" dirty="0"/>
              <a:t>Managers have selective attention and have variety of biases that reject information that does not conform to prior conceptions</a:t>
            </a:r>
          </a:p>
          <a:p>
            <a:pPr lvl="1"/>
            <a:r>
              <a:rPr lang="en-US" dirty="0"/>
              <a:t>Organizational inertia and politics</a:t>
            </a:r>
          </a:p>
          <a:p>
            <a:pPr lvl="2"/>
            <a:r>
              <a:rPr lang="en-US" dirty="0"/>
              <a:t>Strong forces within organizations resist making decisions calling for major change</a:t>
            </a:r>
          </a:p>
        </p:txBody>
      </p:sp>
    </p:spTree>
    <p:extLst>
      <p:ext uri="{BB962C8B-B14F-4D97-AF65-F5344CB8AC3E}">
        <p14:creationId xmlns:p14="http://schemas.microsoft.com/office/powerpoint/2010/main" val="4242356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High-Velocity Automated Decision Making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Made possible through computer algorithms precisely defining steps for a highly structured decision</a:t>
            </a:r>
          </a:p>
          <a:p>
            <a:pPr lvl="1"/>
            <a:r>
              <a:rPr lang="en-US" altLang="en-US" dirty="0"/>
              <a:t>Humans taken out of decision</a:t>
            </a:r>
          </a:p>
          <a:p>
            <a:r>
              <a:rPr lang="en-US" altLang="en-US" dirty="0"/>
              <a:t>For example: High-speed computer trading programs</a:t>
            </a:r>
          </a:p>
          <a:p>
            <a:pPr lvl="1"/>
            <a:r>
              <a:rPr lang="en-US" altLang="en-US" dirty="0"/>
              <a:t>Trades executed in 30 milliseconds</a:t>
            </a:r>
          </a:p>
          <a:p>
            <a:r>
              <a:rPr lang="en-US" altLang="en-US" dirty="0"/>
              <a:t>Require safeguards to ensure proper operation and regulation</a:t>
            </a:r>
          </a:p>
        </p:txBody>
      </p:sp>
    </p:spTree>
    <p:extLst>
      <p:ext uri="{BB962C8B-B14F-4D97-AF65-F5344CB8AC3E}">
        <p14:creationId xmlns:p14="http://schemas.microsoft.com/office/powerpoint/2010/main" val="34159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Business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intelligence</a:t>
            </a:r>
          </a:p>
          <a:p>
            <a:pPr lvl="1"/>
            <a:r>
              <a:rPr lang="en-US" dirty="0"/>
              <a:t>Infrastructure for collecting, storing, analyzing data produced by business</a:t>
            </a:r>
          </a:p>
          <a:p>
            <a:pPr lvl="1"/>
            <a:r>
              <a:rPr lang="en-US" dirty="0"/>
              <a:t>Databases, data warehouses, data marts</a:t>
            </a:r>
          </a:p>
          <a:p>
            <a:r>
              <a:rPr lang="en-US" dirty="0"/>
              <a:t>Business analytics</a:t>
            </a:r>
          </a:p>
          <a:p>
            <a:pPr lvl="1"/>
            <a:r>
              <a:rPr lang="en-US" dirty="0"/>
              <a:t>Tools and techniques for analyzing data</a:t>
            </a:r>
          </a:p>
          <a:p>
            <a:pPr lvl="1"/>
            <a:r>
              <a:rPr lang="en-US" dirty="0"/>
              <a:t>OLAP, statistics, models, data mining</a:t>
            </a:r>
          </a:p>
          <a:p>
            <a:r>
              <a:rPr lang="en-US" dirty="0"/>
              <a:t>Business intelligence vendors</a:t>
            </a:r>
          </a:p>
          <a:p>
            <a:pPr lvl="1"/>
            <a:r>
              <a:rPr lang="en-US" dirty="0"/>
              <a:t>Create business intelligence and analytics purchased by firms</a:t>
            </a:r>
          </a:p>
        </p:txBody>
      </p:sp>
    </p:spTree>
    <p:extLst>
      <p:ext uri="{BB962C8B-B14F-4D97-AF65-F5344CB8AC3E}">
        <p14:creationId xmlns:p14="http://schemas.microsoft.com/office/powerpoint/2010/main" val="2567230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Business Intelligence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Six elements in the business intelligence environment</a:t>
            </a:r>
          </a:p>
          <a:p>
            <a:pPr lvl="1"/>
            <a:r>
              <a:rPr lang="en-US" altLang="en-US" dirty="0"/>
              <a:t>Data from the business environment</a:t>
            </a:r>
          </a:p>
          <a:p>
            <a:pPr lvl="1"/>
            <a:r>
              <a:rPr lang="en-US" altLang="en-US" dirty="0"/>
              <a:t>Business intelligence infrastructure</a:t>
            </a:r>
          </a:p>
          <a:p>
            <a:pPr lvl="1"/>
            <a:r>
              <a:rPr lang="en-US" altLang="en-US" dirty="0"/>
              <a:t>Business analytics toolset</a:t>
            </a:r>
          </a:p>
          <a:p>
            <a:pPr lvl="1"/>
            <a:r>
              <a:rPr lang="en-US" altLang="en-US" dirty="0"/>
              <a:t>Managerial users and methods</a:t>
            </a:r>
          </a:p>
          <a:p>
            <a:pPr lvl="1"/>
            <a:r>
              <a:rPr lang="en-US" altLang="en-US" dirty="0"/>
              <a:t>Delivery platform—MIS, DSS, ESS</a:t>
            </a:r>
          </a:p>
          <a:p>
            <a:pPr lvl="1"/>
            <a:r>
              <a:rPr lang="en-US" altLang="en-US" dirty="0"/>
              <a:t>User interface</a:t>
            </a:r>
          </a:p>
          <a:p>
            <a:pPr lvl="2"/>
            <a:r>
              <a:rPr lang="en-US" altLang="en-US" dirty="0"/>
              <a:t>Data visualization tools</a:t>
            </a:r>
          </a:p>
        </p:txBody>
      </p:sp>
    </p:spTree>
    <p:extLst>
      <p:ext uri="{BB962C8B-B14F-4D97-AF65-F5344CB8AC3E}">
        <p14:creationId xmlns:p14="http://schemas.microsoft.com/office/powerpoint/2010/main" val="2387289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12.3: Business Intelligence and Analytics for Decision Support</a:t>
            </a:r>
          </a:p>
        </p:txBody>
      </p:sp>
      <p:pic>
        <p:nvPicPr>
          <p:cNvPr id="3" name="Picture 2" descr="This graphic looks at the different elements in the business intelligence environmen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00200"/>
            <a:ext cx="6955413" cy="436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30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Intelligence and Analytics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 is to deliver accurate real-time information to decision makers</a:t>
            </a:r>
          </a:p>
          <a:p>
            <a:r>
              <a:rPr lang="en-US" dirty="0"/>
              <a:t>Main analytic functionalities of BI systems</a:t>
            </a:r>
          </a:p>
          <a:p>
            <a:pPr lvl="1"/>
            <a:r>
              <a:rPr lang="en-US" dirty="0"/>
              <a:t>Production reports</a:t>
            </a:r>
          </a:p>
          <a:p>
            <a:pPr lvl="1"/>
            <a:r>
              <a:rPr lang="en-US" dirty="0"/>
              <a:t>Parameterized reports</a:t>
            </a:r>
          </a:p>
          <a:p>
            <a:pPr lvl="1"/>
            <a:r>
              <a:rPr lang="en-US" dirty="0"/>
              <a:t>Dashboards/scorecards</a:t>
            </a:r>
          </a:p>
          <a:p>
            <a:pPr lvl="1"/>
            <a:r>
              <a:rPr lang="en-US" dirty="0"/>
              <a:t>Ad hoc query/search/report creation</a:t>
            </a:r>
          </a:p>
          <a:p>
            <a:pPr lvl="1"/>
            <a:r>
              <a:rPr lang="en-US" dirty="0"/>
              <a:t>Drill down</a:t>
            </a:r>
          </a:p>
          <a:p>
            <a:pPr lvl="1"/>
            <a:r>
              <a:rPr lang="en-US" dirty="0"/>
              <a:t>Forecasts, scenarios, models</a:t>
            </a:r>
          </a:p>
        </p:txBody>
      </p:sp>
    </p:spTree>
    <p:extLst>
      <p:ext uri="{BB962C8B-B14F-4D97-AF65-F5344CB8AC3E}">
        <p14:creationId xmlns:p14="http://schemas.microsoft.com/office/powerpoint/2010/main" val="2757772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12.4:  Examples of Business Intelligence Predefined Production Reports</a:t>
            </a:r>
          </a:p>
        </p:txBody>
      </p:sp>
      <p:graphicFrame>
        <p:nvGraphicFramePr>
          <p:cNvPr id="6" name="Content Placeholder 5" descr="This table lists examples of business intelligence predefined production report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53636"/>
              </p:ext>
            </p:extLst>
          </p:nvPr>
        </p:nvGraphicFramePr>
        <p:xfrm>
          <a:off x="457200" y="1600200"/>
          <a:ext cx="8229600" cy="44246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BUSINESS FUNCTIONAL AREA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PRODUCTION REPORTS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Sales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Forecast sales; sales team performance; cross-selling; sales cycle times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Service/call center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Customer satisfaction; service cost; resolution rates; churn rates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Marketing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Campaign effectiveness; loyalty and attrition; market basket analysis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Procurement and support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Direct and indirect spending; off-contract purchases; supplier performance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Supply chain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Backlog; fulfillment status; order cycle time; bill of materials analysis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Financials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General ledger; accounts receivable and payable; cash flow; profitability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Human resources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kern="1200" baseline="0" dirty="0"/>
                        <a:t>Employee productivity; compensation; workforce demographics; retention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675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variety of data, techniques to predict future trends and behavior patterns</a:t>
            </a:r>
          </a:p>
          <a:p>
            <a:pPr lvl="1"/>
            <a:r>
              <a:rPr lang="en-US" dirty="0"/>
              <a:t>Statistical analysis</a:t>
            </a:r>
          </a:p>
          <a:p>
            <a:pPr lvl="1"/>
            <a:r>
              <a:rPr lang="en-US" dirty="0"/>
              <a:t>Data mining</a:t>
            </a:r>
          </a:p>
          <a:p>
            <a:pPr lvl="1"/>
            <a:r>
              <a:rPr lang="en-US" dirty="0"/>
              <a:t>Historical data</a:t>
            </a:r>
          </a:p>
          <a:p>
            <a:pPr lvl="1"/>
            <a:r>
              <a:rPr lang="en-US" dirty="0"/>
              <a:t>Assumptions	</a:t>
            </a:r>
          </a:p>
          <a:p>
            <a:r>
              <a:rPr lang="en-US" dirty="0"/>
              <a:t>Incorporated into numerous BI applications for sales, marketing, finance, fraud detection, health care</a:t>
            </a:r>
          </a:p>
          <a:p>
            <a:pPr lvl="1"/>
            <a:r>
              <a:rPr lang="en-US" dirty="0"/>
              <a:t>Credit scoring</a:t>
            </a:r>
          </a:p>
          <a:p>
            <a:pPr lvl="1"/>
            <a:r>
              <a:rPr lang="en-US" dirty="0"/>
              <a:t>Predicting responses to direct marketing campaigns</a:t>
            </a:r>
          </a:p>
        </p:txBody>
      </p:sp>
    </p:spTree>
    <p:extLst>
      <p:ext uri="{BB962C8B-B14F-4D97-AF65-F5344CB8AC3E}">
        <p14:creationId xmlns:p14="http://schemas.microsoft.com/office/powerpoint/2010/main" val="2273424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data: Massive datasets collected from social media, online and in-store customer data, and so on</a:t>
            </a:r>
          </a:p>
          <a:p>
            <a:r>
              <a:rPr lang="en-US" dirty="0"/>
              <a:t>Help create real-time, personalized shopping experiences for major online retailers</a:t>
            </a:r>
          </a:p>
          <a:p>
            <a:r>
              <a:rPr lang="en-US" dirty="0"/>
              <a:t>Smart cities</a:t>
            </a:r>
          </a:p>
          <a:p>
            <a:pPr lvl="1"/>
            <a:r>
              <a:rPr lang="en-US" dirty="0"/>
              <a:t>Public records</a:t>
            </a:r>
          </a:p>
          <a:p>
            <a:pPr lvl="1"/>
            <a:r>
              <a:rPr lang="en-US" dirty="0"/>
              <a:t>Sensors, location data from smartphones</a:t>
            </a:r>
          </a:p>
          <a:p>
            <a:pPr lvl="1"/>
            <a:r>
              <a:rPr lang="en-US" dirty="0"/>
              <a:t>Ability to evaluate effect of one service change on system</a:t>
            </a:r>
          </a:p>
        </p:txBody>
      </p:sp>
    </p:spTree>
    <p:extLst>
      <p:ext uri="{BB962C8B-B14F-4D97-AF65-F5344CB8AC3E}">
        <p14:creationId xmlns:p14="http://schemas.microsoft.com/office/powerpoint/2010/main" val="3214288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Intelligence and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Operational intelligence: Business activity monitoring</a:t>
            </a:r>
          </a:p>
          <a:p>
            <a:pPr>
              <a:defRPr/>
            </a:pPr>
            <a:r>
              <a:rPr lang="en-US" dirty="0"/>
              <a:t>Collection and use of data generated by sensors</a:t>
            </a:r>
          </a:p>
          <a:p>
            <a:pPr>
              <a:defRPr/>
            </a:pPr>
            <a:r>
              <a:rPr lang="en-US" dirty="0"/>
              <a:t>Internet of Things</a:t>
            </a:r>
          </a:p>
          <a:p>
            <a:pPr lvl="1">
              <a:defRPr/>
            </a:pPr>
            <a:r>
              <a:rPr lang="en-US" dirty="0"/>
              <a:t>Creating huge streams of data from web activities, sensors, and other monitoring devices</a:t>
            </a:r>
          </a:p>
          <a:p>
            <a:pPr>
              <a:defRPr/>
            </a:pPr>
            <a:r>
              <a:rPr lang="en-US" dirty="0"/>
              <a:t>Software for operational intelligence and analytics enable companies to analyze their big data</a:t>
            </a:r>
          </a:p>
        </p:txBody>
      </p:sp>
    </p:spTree>
    <p:extLst>
      <p:ext uri="{BB962C8B-B14F-4D97-AF65-F5344CB8AC3E}">
        <p14:creationId xmlns:p14="http://schemas.microsoft.com/office/powerpoint/2010/main" val="2367532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 Analytics and Geographic Information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 analytics</a:t>
            </a:r>
          </a:p>
          <a:p>
            <a:pPr lvl="1"/>
            <a:r>
              <a:rPr lang="en-US" dirty="0"/>
              <a:t>Ability to gain business insight from the location (geographic) component of data</a:t>
            </a:r>
          </a:p>
          <a:p>
            <a:pPr lvl="2"/>
            <a:r>
              <a:rPr lang="en-US" dirty="0"/>
              <a:t>Mobile phones</a:t>
            </a:r>
          </a:p>
          <a:p>
            <a:pPr lvl="2"/>
            <a:r>
              <a:rPr lang="en-US" dirty="0"/>
              <a:t>Sensors, scanning devices</a:t>
            </a:r>
          </a:p>
          <a:p>
            <a:pPr lvl="2"/>
            <a:r>
              <a:rPr lang="en-US" dirty="0"/>
              <a:t>Map data</a:t>
            </a:r>
          </a:p>
          <a:p>
            <a:r>
              <a:rPr lang="en-US" dirty="0"/>
              <a:t>Geographic information systems (GIS)</a:t>
            </a:r>
          </a:p>
          <a:p>
            <a:pPr lvl="1"/>
            <a:r>
              <a:rPr lang="en-US" dirty="0"/>
              <a:t>Ties location-related data to maps</a:t>
            </a:r>
          </a:p>
          <a:p>
            <a:pPr lvl="1"/>
            <a:r>
              <a:rPr lang="en-US" dirty="0"/>
              <a:t>Example: For helping local governments calculate response times to disasters</a:t>
            </a:r>
          </a:p>
        </p:txBody>
      </p:sp>
    </p:spTree>
    <p:extLst>
      <p:ext uri="{BB962C8B-B14F-4D97-AF65-F5344CB8AC3E}">
        <p14:creationId xmlns:p14="http://schemas.microsoft.com/office/powerpoint/2010/main" val="3579889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Strategies for Developing BI and BA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One-stop integrated solution</a:t>
            </a:r>
          </a:p>
          <a:p>
            <a:pPr lvl="1"/>
            <a:r>
              <a:rPr lang="en-US" altLang="en-US" dirty="0"/>
              <a:t>Hardware firms sell software that run optimally on their hardware</a:t>
            </a:r>
          </a:p>
          <a:p>
            <a:pPr lvl="1"/>
            <a:r>
              <a:rPr lang="en-US" altLang="en-US" dirty="0"/>
              <a:t>Makes firm dependent on single vendor</a:t>
            </a:r>
          </a:p>
          <a:p>
            <a:r>
              <a:rPr lang="en-US" altLang="en-US" dirty="0"/>
              <a:t>Multiple best-of-breed solution</a:t>
            </a:r>
          </a:p>
          <a:p>
            <a:pPr lvl="1"/>
            <a:r>
              <a:rPr lang="en-US" altLang="en-US" dirty="0"/>
              <a:t>Greater flexibility and independence</a:t>
            </a:r>
          </a:p>
          <a:p>
            <a:pPr lvl="1"/>
            <a:r>
              <a:rPr lang="en-US" altLang="en-US" dirty="0"/>
              <a:t>Potential difficulties in integration</a:t>
            </a:r>
          </a:p>
          <a:p>
            <a:pPr lvl="1"/>
            <a:r>
              <a:rPr lang="en-US" altLang="en-US" dirty="0"/>
              <a:t>Must deal with multiple vendors</a:t>
            </a:r>
          </a:p>
          <a:p>
            <a:r>
              <a:rPr lang="en-US" altLang="en-US" dirty="0"/>
              <a:t>All BI and BA systems bring high switching costs</a:t>
            </a:r>
          </a:p>
        </p:txBody>
      </p:sp>
    </p:spTree>
    <p:extLst>
      <p:ext uri="{BB962C8B-B14F-4D97-AF65-F5344CB8AC3E}">
        <p14:creationId xmlns:p14="http://schemas.microsoft.com/office/powerpoint/2010/main" val="3559341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12.4: Business Intelligence Users</a:t>
            </a:r>
          </a:p>
        </p:txBody>
      </p:sp>
      <p:pic>
        <p:nvPicPr>
          <p:cNvPr id="3" name="Picture 2" descr="This graphic looks at the different types of users and what they use BI applications for.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1447800"/>
            <a:ext cx="811778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4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for </a:t>
            </a:r>
            <a:r>
              <a:rPr lang="en-US" dirty="0" err="1"/>
              <a:t>Semistructured</a:t>
            </a:r>
            <a:r>
              <a:rPr lang="en-US" dirty="0"/>
              <a:t>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Decision-support systems</a:t>
            </a:r>
          </a:p>
          <a:p>
            <a:pPr lvl="1"/>
            <a:r>
              <a:rPr lang="en-US" altLang="en-US" dirty="0"/>
              <a:t>Support for semistructured decisions</a:t>
            </a:r>
          </a:p>
          <a:p>
            <a:r>
              <a:rPr lang="en-US" altLang="en-US" dirty="0"/>
              <a:t>Use mathematical or analytical models</a:t>
            </a:r>
          </a:p>
          <a:p>
            <a:r>
              <a:rPr lang="en-US" altLang="en-US" dirty="0"/>
              <a:t>Allow varied types of analysis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What-if</a:t>
            </a:r>
            <a:r>
              <a:rPr lang="ja-JP" altLang="en-US" dirty="0"/>
              <a:t>”</a:t>
            </a:r>
            <a:r>
              <a:rPr lang="en-US" altLang="ja-JP" dirty="0"/>
              <a:t> analysis</a:t>
            </a:r>
          </a:p>
          <a:p>
            <a:pPr lvl="1"/>
            <a:r>
              <a:rPr lang="en-US" altLang="en-US" dirty="0"/>
              <a:t>Sensitivity analysis</a:t>
            </a:r>
          </a:p>
          <a:p>
            <a:pPr lvl="1"/>
            <a:r>
              <a:rPr lang="en-US" altLang="en-US" dirty="0"/>
              <a:t>Backward sensitivity analysis</a:t>
            </a:r>
          </a:p>
          <a:p>
            <a:pPr lvl="1"/>
            <a:r>
              <a:rPr lang="en-US" altLang="en-US" dirty="0"/>
              <a:t>Multidimensional analysis / OLAP</a:t>
            </a:r>
          </a:p>
          <a:p>
            <a:pPr lvl="2"/>
            <a:r>
              <a:rPr lang="en-US" altLang="en-US" dirty="0"/>
              <a:t>For example: pivot tables</a:t>
            </a:r>
          </a:p>
        </p:txBody>
      </p:sp>
    </p:spTree>
    <p:extLst>
      <p:ext uri="{BB962C8B-B14F-4D97-AF65-F5344CB8AC3E}">
        <p14:creationId xmlns:p14="http://schemas.microsoft.com/office/powerpoint/2010/main" val="2342803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12.6: A Pivot Table That Examines Customer Regional Distribution and Advertising Source</a:t>
            </a:r>
          </a:p>
        </p:txBody>
      </p:sp>
      <p:pic>
        <p:nvPicPr>
          <p:cNvPr id="3" name="Picture 2" descr="This graphic shows the same Microsoft Excel spreadsheet with a PivotTable with two dimensions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91" y="2019300"/>
            <a:ext cx="7504018" cy="422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86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Support for Senior Management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ESS: decision support for senior management</a:t>
            </a:r>
          </a:p>
          <a:p>
            <a:pPr lvl="1"/>
            <a:r>
              <a:rPr lang="en-US" dirty="0"/>
              <a:t>Help executives focus on important performance information</a:t>
            </a:r>
          </a:p>
          <a:p>
            <a:r>
              <a:rPr lang="en-US" dirty="0"/>
              <a:t>Balanced scorecard method</a:t>
            </a:r>
          </a:p>
          <a:p>
            <a:pPr lvl="1"/>
            <a:r>
              <a:rPr lang="en-US" dirty="0"/>
              <a:t>Measures outcomes on four dimensions </a:t>
            </a:r>
          </a:p>
          <a:p>
            <a:pPr lvl="2"/>
            <a:r>
              <a:rPr lang="en-US" dirty="0"/>
              <a:t>Financial</a:t>
            </a:r>
          </a:p>
          <a:p>
            <a:pPr lvl="2"/>
            <a:r>
              <a:rPr lang="en-US" dirty="0"/>
              <a:t>Business process</a:t>
            </a:r>
          </a:p>
          <a:p>
            <a:pPr lvl="2"/>
            <a:r>
              <a:rPr lang="en-US" dirty="0"/>
              <a:t>Customer</a:t>
            </a:r>
          </a:p>
          <a:p>
            <a:pPr lvl="2"/>
            <a:r>
              <a:rPr lang="en-US" dirty="0"/>
              <a:t>Learning and growth</a:t>
            </a:r>
          </a:p>
          <a:p>
            <a:pPr lvl="1"/>
            <a:r>
              <a:rPr lang="en-US" dirty="0"/>
              <a:t>Key performance indicators (KPIs) measure each dimension</a:t>
            </a:r>
          </a:p>
        </p:txBody>
      </p:sp>
    </p:spTree>
    <p:extLst>
      <p:ext uri="{BB962C8B-B14F-4D97-AF65-F5344CB8AC3E}">
        <p14:creationId xmlns:p14="http://schemas.microsoft.com/office/powerpoint/2010/main" val="1107652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Support for Senior Management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Business performance management (BPM)</a:t>
            </a:r>
          </a:p>
          <a:p>
            <a:pPr lvl="1"/>
            <a:r>
              <a:rPr lang="en-US" altLang="en-US" dirty="0"/>
              <a:t>Translates firm</a:t>
            </a:r>
            <a:r>
              <a:rPr lang="en-US" altLang="ja-JP" dirty="0"/>
              <a:t>’s strategies (e.g., differentiation, low-cost producer, scope of operation) into operational targets</a:t>
            </a:r>
          </a:p>
          <a:p>
            <a:pPr lvl="1"/>
            <a:r>
              <a:rPr lang="en-US" altLang="en-US" dirty="0"/>
              <a:t>KPIs developed to measure progress toward targets</a:t>
            </a:r>
          </a:p>
          <a:p>
            <a:r>
              <a:rPr lang="en-US" altLang="en-US" dirty="0"/>
              <a:t>Data for ESS </a:t>
            </a:r>
          </a:p>
          <a:p>
            <a:pPr lvl="1"/>
            <a:r>
              <a:rPr lang="en-US" altLang="en-US" dirty="0"/>
              <a:t>Internal data from enterprise applications	</a:t>
            </a:r>
          </a:p>
          <a:p>
            <a:pPr lvl="1"/>
            <a:r>
              <a:rPr lang="en-US" altLang="en-US" dirty="0"/>
              <a:t>External data such as financial market databases</a:t>
            </a:r>
          </a:p>
          <a:p>
            <a:pPr lvl="1"/>
            <a:r>
              <a:rPr lang="en-US" altLang="en-US" dirty="0"/>
              <a:t>Drill-down capabilities</a:t>
            </a:r>
          </a:p>
        </p:txBody>
      </p:sp>
    </p:spTree>
    <p:extLst>
      <p:ext uri="{BB962C8B-B14F-4D97-AF65-F5344CB8AC3E}">
        <p14:creationId xmlns:p14="http://schemas.microsoft.com/office/powerpoint/2010/main" val="2392567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Decision-Support Systems (GDSS)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system to facilitate solution of unstructured problems by group</a:t>
            </a:r>
          </a:p>
          <a:p>
            <a:r>
              <a:rPr lang="en-US" dirty="0"/>
              <a:t>Specialized tools</a:t>
            </a:r>
          </a:p>
          <a:p>
            <a:pPr lvl="1"/>
            <a:r>
              <a:rPr lang="en-US" dirty="0"/>
              <a:t>Virtual collaboration rooms</a:t>
            </a:r>
          </a:p>
          <a:p>
            <a:pPr lvl="1"/>
            <a:r>
              <a:rPr lang="en-US" dirty="0"/>
              <a:t>Software to collect, rank, edit participant ideas and responses</a:t>
            </a:r>
          </a:p>
          <a:p>
            <a:r>
              <a:rPr lang="en-US" dirty="0"/>
              <a:t>Promotes collaborative atmosphere, anonymity</a:t>
            </a:r>
          </a:p>
          <a:p>
            <a:r>
              <a:rPr lang="en-US" dirty="0"/>
              <a:t>Cisco’s Collaboration Meeting Rooms Hybrid (CMR)</a:t>
            </a:r>
          </a:p>
          <a:p>
            <a:r>
              <a:rPr lang="en-US" dirty="0"/>
              <a:t>Skype </a:t>
            </a:r>
            <a:r>
              <a:rPr lang="en-US"/>
              <a:t>for Business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745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BA40-3E44-44A3-8B5B-58A13B5B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1EB39-4A89-4128-8EFF-25D48B227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86749"/>
      </p:ext>
    </p:extLst>
  </p:cSld>
  <p:clrMapOvr>
    <a:masterClrMapping/>
  </p:clrMapOvr>
</p:sld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3658</TotalTime>
  <Words>1123</Words>
  <Application>Microsoft Office PowerPoint</Application>
  <PresentationFormat>On-screen Show (4:3)</PresentationFormat>
  <Paragraphs>227</Paragraphs>
  <Slides>27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Times New Roman</vt:lpstr>
      <vt:lpstr>Verdana</vt:lpstr>
      <vt:lpstr>Wingdings</vt:lpstr>
      <vt:lpstr>508 Lecture</vt:lpstr>
      <vt:lpstr>Management Information Systems: Managing the Digital Firm</vt:lpstr>
      <vt:lpstr>What Are the Different Types of Decisions, and How Does the Decision Making Process Work? (1 of 2)</vt:lpstr>
      <vt:lpstr>What Are the Different Types of decisions, and How Does the Decision Making Process Work? (2 of 2)</vt:lpstr>
      <vt:lpstr>Figure 12.1: Information Requirements of Key Decision-Making Groups in a Firm</vt:lpstr>
      <vt:lpstr>The Decision Making Process</vt:lpstr>
      <vt:lpstr>Figure 12.2: Stages In Decision Making</vt:lpstr>
      <vt:lpstr>Managerial Roles</vt:lpstr>
      <vt:lpstr>Mintzberg’s 10 Managerial Roles</vt:lpstr>
      <vt:lpstr>Real-World Decision Making</vt:lpstr>
      <vt:lpstr>High-Velocity Automated Decision Making</vt:lpstr>
      <vt:lpstr>What Is Business Intelligence?</vt:lpstr>
      <vt:lpstr>The Business Intelligence Environment</vt:lpstr>
      <vt:lpstr>Figure 12.3: Business Intelligence and Analytics for Decision Support</vt:lpstr>
      <vt:lpstr>Business Intelligence and Analytics Capabilities</vt:lpstr>
      <vt:lpstr>Table 12.4:  Examples of Business Intelligence Predefined Production Reports</vt:lpstr>
      <vt:lpstr>Predictive Analytics</vt:lpstr>
      <vt:lpstr>Big Data Analytics</vt:lpstr>
      <vt:lpstr>Operational Intelligence and Analytics</vt:lpstr>
      <vt:lpstr>Location Analytics and Geographic Information Systems</vt:lpstr>
      <vt:lpstr>Management Strategies for Developing BI and BA Capabilities</vt:lpstr>
      <vt:lpstr>Figure 12.4: Business Intelligence Users</vt:lpstr>
      <vt:lpstr>Support for Semistructured Decisions</vt:lpstr>
      <vt:lpstr>Figure 12.6: A Pivot Table That Examines Customer Regional Distribution and Advertising Source</vt:lpstr>
      <vt:lpstr>Decision Support for Senior Management (1 of 2)</vt:lpstr>
      <vt:lpstr>Decision Support for Senior Management (2 of 2)</vt:lpstr>
      <vt:lpstr>Group Decision-Support Systems (GDSS)</vt:lpstr>
      <vt:lpstr>End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Compliant Lecture PowerPoint</dc:title>
  <dc:subject>Management Information Systems:  Managing the Digital Firm, 15th edition</dc:subject>
  <dc:creator>Kenneth C. Laudon/Jane P. Laudon</dc:creator>
  <cp:keywords>Management Information Systems</cp:keywords>
  <cp:lastModifiedBy>Hansen, Atanas Y.</cp:lastModifiedBy>
  <cp:revision>217</cp:revision>
  <dcterms:created xsi:type="dcterms:W3CDTF">2014-07-14T20:04:21Z</dcterms:created>
  <dcterms:modified xsi:type="dcterms:W3CDTF">2018-08-07T17:26:55Z</dcterms:modified>
  <cp:category>Information Systems</cp:category>
</cp:coreProperties>
</file>