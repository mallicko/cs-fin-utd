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349" r:id="rId2"/>
    <p:sldId id="351" r:id="rId3"/>
    <p:sldId id="416" r:id="rId4"/>
    <p:sldId id="369" r:id="rId5"/>
    <p:sldId id="417" r:id="rId6"/>
    <p:sldId id="418" r:id="rId7"/>
    <p:sldId id="419" r:id="rId8"/>
    <p:sldId id="420" r:id="rId9"/>
    <p:sldId id="422" r:id="rId10"/>
    <p:sldId id="424" r:id="rId11"/>
    <p:sldId id="426" r:id="rId12"/>
    <p:sldId id="427" r:id="rId13"/>
    <p:sldId id="429" r:id="rId14"/>
    <p:sldId id="430" r:id="rId15"/>
    <p:sldId id="431" r:id="rId16"/>
    <p:sldId id="432" r:id="rId17"/>
    <p:sldId id="433" r:id="rId18"/>
    <p:sldId id="436" r:id="rId19"/>
    <p:sldId id="455" r:id="rId20"/>
    <p:sldId id="438" r:id="rId21"/>
    <p:sldId id="440" r:id="rId22"/>
    <p:sldId id="441" r:id="rId23"/>
    <p:sldId id="456" r:id="rId24"/>
    <p:sldId id="443" r:id="rId25"/>
    <p:sldId id="444" r:id="rId26"/>
    <p:sldId id="446" r:id="rId27"/>
    <p:sldId id="447" r:id="rId28"/>
    <p:sldId id="414" r:id="rId29"/>
    <p:sldId id="448" r:id="rId30"/>
    <p:sldId id="449" r:id="rId31"/>
    <p:sldId id="451" r:id="rId32"/>
    <p:sldId id="452" r:id="rId33"/>
    <p:sldId id="453" r:id="rId34"/>
    <p:sldId id="457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egan Miller" initials="MM" lastIdx="2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638"/>
    <a:srgbClr val="007FA3"/>
    <a:srgbClr val="D4EAE4"/>
    <a:srgbClr val="0015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25" autoAdjust="0"/>
    <p:restoredTop sz="77289" autoAdjust="0"/>
  </p:normalViewPr>
  <p:slideViewPr>
    <p:cSldViewPr>
      <p:cViewPr varScale="1">
        <p:scale>
          <a:sx n="67" d="100"/>
          <a:sy n="67" d="100"/>
        </p:scale>
        <p:origin x="1810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87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1794" y="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8D874E-E9D5-433B-A149-BDF6BFDD40A8}" type="datetimeFigureOut">
              <a:rPr lang="en-US" smtClean="0"/>
              <a:t>8/7/2018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DCAA22-461C-45B4-A301-BFCA580174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1922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051F04-9E25-42C3-8BC5-EC2E8469D95E}" type="datetimeFigureOut">
              <a:rPr lang="en-US" smtClean="0"/>
              <a:t>8/7/2018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3D6722-9B4D-4E29-B226-C325925A81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59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9689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5458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baseline="0" dirty="0"/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alt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55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3338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841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8995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0941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 </a:t>
            </a:r>
          </a:p>
          <a:p>
            <a:pPr eaLnBrk="1" hangingPunct="1"/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7279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2848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3466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3271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 </a:t>
            </a:r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3476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  <a:endParaRPr lang="en-US" altLang="ja-JP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4333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8890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 </a:t>
            </a:r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19850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800" dirty="0"/>
              <a:t> </a:t>
            </a:r>
            <a:endParaRPr lang="en-US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dirty="0"/>
              <a:t> </a:t>
            </a:r>
            <a:endParaRPr lang="en-US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2129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4102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3234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28321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5801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5036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5309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4721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5202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0439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516360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dirty="0"/>
          </a:p>
          <a:p>
            <a:pPr eaLnBrk="1" hangingPunct="1"/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09699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62745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2697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919737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255760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843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white">
          <a:xfrm>
            <a:off x="0" y="0"/>
            <a:ext cx="9144000" cy="3886200"/>
          </a:xfrm>
          <a:prstGeom prst="rect">
            <a:avLst/>
          </a:prstGeom>
          <a:solidFill>
            <a:srgbClr val="007FA3"/>
          </a:solidFill>
          <a:ln>
            <a:solidFill>
              <a:srgbClr val="007F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0"/>
            <a:ext cx="7772400" cy="2838451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4687" y="3962400"/>
            <a:ext cx="7794626" cy="17526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8/7/2018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7980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Ope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62282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16430"/>
            <a:ext cx="8229600" cy="478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rgbClr val="007FA3"/>
                </a:solidFill>
              </a:defRPr>
            </a:lvl1pPr>
            <a:lvl2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Add edition here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5029200" y="1600201"/>
            <a:ext cx="3657600" cy="1600199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3000" baseline="0"/>
            </a:lvl1pPr>
            <a:lvl2pPr marL="0" indent="0">
              <a:spcBef>
                <a:spcPts val="0"/>
              </a:spcBef>
              <a:buNone/>
              <a:defRPr sz="4400"/>
            </a:lvl2pPr>
            <a:lvl3pPr marL="0" indent="0">
              <a:spcBef>
                <a:spcPts val="0"/>
              </a:spcBef>
              <a:buNone/>
              <a:defRPr sz="4400"/>
            </a:lvl3pPr>
            <a:lvl4pPr marL="0" indent="0">
              <a:spcBef>
                <a:spcPts val="0"/>
              </a:spcBef>
              <a:buNone/>
              <a:defRPr sz="4400"/>
            </a:lvl4pPr>
            <a:lvl5pPr marL="0" indent="0">
              <a:spcBef>
                <a:spcPts val="0"/>
              </a:spcBef>
              <a:buNone/>
              <a:defRPr sz="4400"/>
            </a:lvl5pPr>
            <a:lvl6pPr marL="0" indent="0">
              <a:spcBef>
                <a:spcPts val="0"/>
              </a:spcBef>
              <a:buNone/>
              <a:defRPr sz="4400"/>
            </a:lvl6pPr>
            <a:lvl7pPr marL="0" indent="0">
              <a:spcBef>
                <a:spcPts val="0"/>
              </a:spcBef>
              <a:buNone/>
              <a:defRPr sz="4400"/>
            </a:lvl7pPr>
            <a:lvl8pPr marL="0" indent="0">
              <a:spcBef>
                <a:spcPts val="0"/>
              </a:spcBef>
              <a:buNone/>
              <a:defRPr sz="4400"/>
            </a:lvl8pPr>
            <a:lvl9pPr marL="0" indent="0">
              <a:spcBef>
                <a:spcPts val="0"/>
              </a:spcBef>
              <a:buNone/>
              <a:defRPr sz="4400"/>
            </a:lvl9pPr>
          </a:lstStyle>
          <a:p>
            <a:pPr lvl="0"/>
            <a:r>
              <a:rPr lang="en-US" dirty="0"/>
              <a:t>Chapter ##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5029200" y="3200400"/>
            <a:ext cx="3657600" cy="292576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200"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/>
            </a:lvl7pPr>
            <a:lvl8pPr marL="0" indent="0">
              <a:spcBef>
                <a:spcPts val="0"/>
              </a:spcBef>
              <a:buNone/>
              <a:defRPr/>
            </a:lvl8pPr>
            <a:lvl9pPr marL="0" indent="0"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16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93969" y="6165337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8/7/2018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 descr="Pearso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76789"/>
            <a:ext cx="918000" cy="279915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1600200" y="6429345"/>
            <a:ext cx="71628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700" b="1" dirty="0">
                <a:ea typeface="Verdana" panose="020B0604030504040204" pitchFamily="34" charset="0"/>
                <a:cs typeface="Verdana" panose="020B0604030504040204" pitchFamily="34" charset="0"/>
              </a:rPr>
              <a:t>Copyright © 2018, 2017, 2016 Pearson Education, Inc.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981062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earning Objectiv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62282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Learning Objectives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16430"/>
            <a:ext cx="8229600" cy="4027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rgbClr val="007FA3"/>
                </a:solidFill>
              </a:defRPr>
            </a:lvl1pPr>
            <a:lvl2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Click to add Learning Objective(s)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4"/>
          </p:nvPr>
        </p:nvSpPr>
        <p:spPr>
          <a:xfrm>
            <a:off x="457200" y="1600200"/>
            <a:ext cx="8229600" cy="4525963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2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8/7/2018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463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007FA3"/>
              </a:buClr>
              <a:buSzPct val="100000"/>
              <a:defRPr sz="2800"/>
            </a:lvl1pPr>
            <a:lvl2pPr>
              <a:buClr>
                <a:srgbClr val="007FA3"/>
              </a:buClr>
              <a:defRPr sz="2000"/>
            </a:lvl2pPr>
            <a:lvl3pPr>
              <a:buClr>
                <a:srgbClr val="007FA3"/>
              </a:buClr>
              <a:defRPr/>
            </a:lvl3pPr>
            <a:lvl4pPr>
              <a:buClr>
                <a:srgbClr val="007FA3"/>
              </a:buClr>
              <a:defRPr/>
            </a:lvl4pPr>
            <a:lvl5pPr>
              <a:buClr>
                <a:srgbClr val="007FA3"/>
              </a:buClr>
              <a:defRPr/>
            </a:lvl5pPr>
            <a:lvl6pPr>
              <a:buClr>
                <a:srgbClr val="007FA3"/>
              </a:buClr>
              <a:defRPr/>
            </a:lvl6pPr>
            <a:lvl7pPr>
              <a:buClr>
                <a:srgbClr val="007FA3"/>
              </a:buClr>
              <a:defRPr/>
            </a:lvl7pPr>
            <a:lvl8pPr>
              <a:buClr>
                <a:srgbClr val="007FA3"/>
              </a:buClr>
              <a:defRPr/>
            </a:lvl8pPr>
            <a:lvl9pPr>
              <a:buClr>
                <a:srgbClr val="007FA3"/>
              </a:buCl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6335713" y="113072"/>
            <a:ext cx="2133600" cy="182880"/>
          </a:xfrm>
        </p:spPr>
        <p:txBody>
          <a:bodyPr/>
          <a:lstStyle/>
          <a:p>
            <a:fld id="{A9DF6EFB-3F44-496C-A842-1E0B3D3B975A}" type="datetimeFigureOut">
              <a:rPr lang="en-US" smtClean="0"/>
              <a:pPr/>
              <a:t>8/7/2018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69312" y="113072"/>
            <a:ext cx="551783" cy="182880"/>
          </a:xfrm>
        </p:spPr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909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SIGHT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8638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008638"/>
              </a:buClr>
              <a:buSzPct val="100000"/>
              <a:defRPr sz="2800"/>
            </a:lvl1pPr>
            <a:lvl2pPr>
              <a:buClr>
                <a:srgbClr val="008638"/>
              </a:buClr>
              <a:defRPr sz="2000"/>
            </a:lvl2pPr>
            <a:lvl3pPr>
              <a:buClr>
                <a:srgbClr val="008638"/>
              </a:buClr>
              <a:defRPr/>
            </a:lvl3pPr>
            <a:lvl4pPr>
              <a:buClr>
                <a:srgbClr val="008638"/>
              </a:buClr>
              <a:defRPr/>
            </a:lvl4pPr>
            <a:lvl5pPr>
              <a:buClr>
                <a:srgbClr val="008638"/>
              </a:buClr>
              <a:defRPr/>
            </a:lvl5pPr>
            <a:lvl6pPr>
              <a:buClr>
                <a:srgbClr val="008638"/>
              </a:buClr>
              <a:defRPr/>
            </a:lvl6pPr>
            <a:lvl7pPr>
              <a:buClr>
                <a:srgbClr val="008638"/>
              </a:buClr>
              <a:defRPr/>
            </a:lvl7pPr>
            <a:lvl8pPr>
              <a:buClr>
                <a:srgbClr val="008638"/>
              </a:buClr>
              <a:defRPr/>
            </a:lvl8pPr>
            <a:lvl9pPr>
              <a:buClr>
                <a:srgbClr val="008638"/>
              </a:buCl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6335713" y="113072"/>
            <a:ext cx="2133600" cy="182880"/>
          </a:xfrm>
        </p:spPr>
        <p:txBody>
          <a:bodyPr/>
          <a:lstStyle/>
          <a:p>
            <a:fld id="{A9DF6EFB-3F44-496C-A842-1E0B3D3B975A}" type="datetimeFigureOut">
              <a:rPr lang="en-US" smtClean="0"/>
              <a:pPr/>
              <a:t>8/7/2018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69312" y="113072"/>
            <a:ext cx="551783" cy="182880"/>
          </a:xfrm>
        </p:spPr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687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18872" indent="-118872">
              <a:buClr>
                <a:srgbClr val="007FA3"/>
              </a:buClr>
              <a:buSzPct val="25000"/>
              <a:defRPr sz="1600"/>
            </a:lvl1pPr>
            <a:lvl2pPr marL="569913" indent="-285750">
              <a:buClr>
                <a:srgbClr val="007FA3"/>
              </a:buClr>
              <a:defRPr sz="1600"/>
            </a:lvl2pPr>
            <a:lvl3pPr>
              <a:buClr>
                <a:srgbClr val="007FA3"/>
              </a:buClr>
              <a:defRPr sz="1600"/>
            </a:lvl3pPr>
            <a:lvl4pPr>
              <a:buClr>
                <a:srgbClr val="007FA3"/>
              </a:buClr>
              <a:defRPr sz="1600"/>
            </a:lvl4pPr>
            <a:lvl5pPr>
              <a:buClr>
                <a:srgbClr val="007FA3"/>
              </a:buClr>
              <a:defRPr sz="1600"/>
            </a:lvl5pPr>
            <a:lvl6pPr>
              <a:buClr>
                <a:srgbClr val="007FA3"/>
              </a:buClr>
              <a:defRPr sz="1600"/>
            </a:lvl6pPr>
            <a:lvl7pPr>
              <a:buClr>
                <a:srgbClr val="007FA3"/>
              </a:buClr>
              <a:defRPr sz="1600"/>
            </a:lvl7pPr>
            <a:lvl8pPr>
              <a:buClr>
                <a:srgbClr val="007FA3"/>
              </a:buClr>
              <a:defRPr sz="1600"/>
            </a:lvl8pPr>
            <a:lvl9pPr>
              <a:buClr>
                <a:srgbClr val="007FA3"/>
              </a:buCl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8/7/2018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00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gur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1066800"/>
          </a:xfrm>
        </p:spPr>
        <p:txBody>
          <a:bodyPr anchor="t"/>
          <a:lstStyle>
            <a:lvl1pPr>
              <a:defRPr sz="3400">
                <a:solidFill>
                  <a:srgbClr val="007FA3"/>
                </a:solidFill>
              </a:defRPr>
            </a:lvl1pPr>
          </a:lstStyle>
          <a:p>
            <a:r>
              <a:rPr lang="en-US" dirty="0"/>
              <a:t>Click to add figure number and 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5368160"/>
            <a:ext cx="8229600" cy="916856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800"/>
            </a:lvl1pPr>
            <a:lvl2pPr marL="0" indent="0">
              <a:spcBef>
                <a:spcPts val="0"/>
              </a:spcBef>
              <a:buNone/>
              <a:defRPr sz="1600"/>
            </a:lvl2pPr>
            <a:lvl3pPr marL="0" indent="0">
              <a:spcBef>
                <a:spcPts val="0"/>
              </a:spcBef>
              <a:buNone/>
              <a:defRPr sz="1600"/>
            </a:lvl3pPr>
            <a:lvl4pPr marL="0" indent="0">
              <a:spcBef>
                <a:spcPts val="0"/>
              </a:spcBef>
              <a:buNone/>
              <a:defRPr sz="1600"/>
            </a:lvl4pPr>
            <a:lvl5pPr marL="0" indent="0">
              <a:spcBef>
                <a:spcPts val="0"/>
              </a:spcBef>
              <a:buNone/>
              <a:defRPr sz="1600"/>
            </a:lvl5pPr>
            <a:lvl6pPr marL="0" indent="0">
              <a:spcBef>
                <a:spcPts val="0"/>
              </a:spcBef>
              <a:buNone/>
              <a:defRPr sz="1600"/>
            </a:lvl6pPr>
            <a:lvl7pPr marL="0" indent="0">
              <a:spcBef>
                <a:spcPts val="0"/>
              </a:spcBef>
              <a:buNone/>
              <a:defRPr sz="1600"/>
            </a:lvl7pPr>
            <a:lvl8pPr marL="0" indent="0">
              <a:spcBef>
                <a:spcPts val="0"/>
              </a:spcBef>
              <a:buNone/>
              <a:defRPr sz="1600"/>
            </a:lvl8pPr>
            <a:lvl9pPr marL="0" indent="0">
              <a:spcBef>
                <a:spcPts val="0"/>
              </a:spcBef>
              <a:buNone/>
              <a:defRPr sz="1600"/>
            </a:lvl9pPr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1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8/7/2018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Pearso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10" y="6376789"/>
            <a:ext cx="918000" cy="279915"/>
          </a:xfrm>
          <a:prstGeom prst="rect">
            <a:avLst/>
          </a:prstGeom>
        </p:spPr>
      </p:pic>
      <p:sp>
        <p:nvSpPr>
          <p:cNvPr id="9" name="TextBox 8"/>
          <p:cNvSpPr txBox="1"/>
          <p:nvPr userDrawn="1"/>
        </p:nvSpPr>
        <p:spPr>
          <a:xfrm>
            <a:off x="1600200" y="6429345"/>
            <a:ext cx="71628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700" b="1" dirty="0">
                <a:ea typeface="Verdana" panose="020B0604030504040204" pitchFamily="34" charset="0"/>
                <a:cs typeface="Verdana" panose="020B0604030504040204" pitchFamily="34" charset="0"/>
              </a:rPr>
              <a:t>Copyright © 2018, 2017, 2016 Pearson Education, Inc.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203796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57200" y="3962400"/>
            <a:ext cx="82296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8/7/2018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799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447800"/>
            <a:ext cx="7772400" cy="2152651"/>
          </a:xfrm>
        </p:spPr>
        <p:txBody>
          <a:bodyPr anchor="b">
            <a:noAutofit/>
          </a:bodyPr>
          <a:lstStyle>
            <a:lvl1pPr algn="l">
              <a:defRPr sz="3400" b="1" cap="none" baseline="0">
                <a:solidFill>
                  <a:srgbClr val="007FA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4687" y="3962400"/>
            <a:ext cx="7794627" cy="175260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rgbClr val="007FA3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8/7/2018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704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8/7/2018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126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8/7/2018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 descr="Pearso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10" y="6376789"/>
            <a:ext cx="918000" cy="279915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1600200" y="6429345"/>
            <a:ext cx="71628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700" b="1" dirty="0">
                <a:ea typeface="Verdana" panose="020B0604030504040204" pitchFamily="34" charset="0"/>
                <a:cs typeface="Verdana" panose="020B0604030504040204" pitchFamily="34" charset="0"/>
              </a:rPr>
              <a:t>Copyright © 2018, 2017, 2016 Pearson Education, Inc.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711136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109728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3969" y="6172200"/>
            <a:ext cx="8595360" cy="235463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35713" y="113072"/>
            <a:ext cx="213360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8/7/2018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9312" y="113072"/>
            <a:ext cx="551783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Pearson Logo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76789"/>
            <a:ext cx="918000" cy="279915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600200" y="6429345"/>
            <a:ext cx="71628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700" b="1" dirty="0">
                <a:ea typeface="Verdana" panose="020B0604030504040204" pitchFamily="34" charset="0"/>
                <a:cs typeface="Verdana" panose="020B0604030504040204" pitchFamily="34" charset="0"/>
              </a:rPr>
              <a:t>Copyright © 2018, 2017, 2016 Pearson Education, Inc.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691570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6" r:id="rId3"/>
    <p:sldLayoutId id="2147483650" r:id="rId4"/>
    <p:sldLayoutId id="2147483661" r:id="rId5"/>
    <p:sldLayoutId id="2147483659" r:id="rId6"/>
    <p:sldLayoutId id="2147483658" r:id="rId7"/>
    <p:sldLayoutId id="2147483660" r:id="rId8"/>
    <p:sldLayoutId id="2147483651" r:id="rId9"/>
    <p:sldLayoutId id="2147483654" r:id="rId10"/>
    <p:sldLayoutId id="214748365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400" b="1" kern="1200">
          <a:solidFill>
            <a:srgbClr val="007FA3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56032" indent="-256032" algn="l" defTabSz="914400" rtl="0" eaLnBrk="1" latinLnBrk="0" hangingPunct="1">
        <a:spcBef>
          <a:spcPts val="15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ts val="600"/>
        </a:spcBef>
        <a:buClr>
          <a:srgbClr val="007FA3"/>
        </a:buClr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ts val="600"/>
        </a:spcBef>
        <a:buClr>
          <a:srgbClr val="007FA3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ts val="600"/>
        </a:spcBef>
        <a:buClr>
          <a:srgbClr val="007FA3"/>
        </a:buClr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ts val="6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Management Information Systems: Managing the Digital Firm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1300845"/>
            <a:ext cx="8229600" cy="478970"/>
          </a:xfrm>
        </p:spPr>
        <p:txBody>
          <a:bodyPr/>
          <a:lstStyle/>
          <a:p>
            <a:r>
              <a:rPr lang="en-US" dirty="0"/>
              <a:t>Fifteenth edition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Chapter 8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Securing Information Systems</a:t>
            </a:r>
          </a:p>
        </p:txBody>
      </p:sp>
      <p:pic>
        <p:nvPicPr>
          <p:cNvPr id="6" name="Picture 5" descr="Book cover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057476"/>
            <a:ext cx="2940655" cy="37638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37321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Why Systems Are Vulnerable (1 of 2)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0D0D0D"/>
                </a:solidFill>
              </a:rPr>
              <a:t>Security</a:t>
            </a:r>
          </a:p>
          <a:p>
            <a:pPr lvl="1"/>
            <a:r>
              <a:rPr lang="en-US" altLang="en-US" dirty="0"/>
              <a:t>Policies, procedures, and technical measures used to prevent unauthorized access, alteration, theft, or physical damage to information systems</a:t>
            </a:r>
          </a:p>
          <a:p>
            <a:r>
              <a:rPr lang="en-US" altLang="en-US" dirty="0">
                <a:solidFill>
                  <a:srgbClr val="0D0D0D"/>
                </a:solidFill>
              </a:rPr>
              <a:t>Controls</a:t>
            </a:r>
          </a:p>
          <a:p>
            <a:pPr lvl="1"/>
            <a:r>
              <a:rPr lang="en-US" altLang="en-US" dirty="0"/>
              <a:t>Methods, policies, and organizational procedures that ensure safety of organization</a:t>
            </a:r>
            <a:r>
              <a:rPr lang="en-US" altLang="ja-JP" dirty="0"/>
              <a:t>’s assets; accuracy and reliability of its accounting records; and operational adherence to management standards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79569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Why Systems Are Vulnerable (2 of 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Accessibility of networks</a:t>
            </a:r>
          </a:p>
          <a:p>
            <a:r>
              <a:rPr lang="en-US" altLang="en-US" sz="2400" dirty="0"/>
              <a:t>Hardware problems (breakdowns, configuration errors, damage from improper use or crime)</a:t>
            </a:r>
          </a:p>
          <a:p>
            <a:r>
              <a:rPr lang="en-US" altLang="en-US" sz="2400" dirty="0"/>
              <a:t>Software problems (programming errors, installation errors, unauthorized changes)</a:t>
            </a:r>
          </a:p>
          <a:p>
            <a:r>
              <a:rPr lang="en-US" altLang="en-US" sz="2400" dirty="0"/>
              <a:t>Disasters</a:t>
            </a:r>
          </a:p>
          <a:p>
            <a:r>
              <a:rPr lang="en-US" altLang="en-US" sz="2400" dirty="0"/>
              <a:t>Use of networks/computers outside of firm</a:t>
            </a:r>
            <a:r>
              <a:rPr lang="en-US" altLang="ja-JP" sz="2400" dirty="0"/>
              <a:t>’s control</a:t>
            </a:r>
          </a:p>
          <a:p>
            <a:r>
              <a:rPr lang="en-US" altLang="en-US" sz="2400" dirty="0"/>
              <a:t>Loss and theft of portable devices </a:t>
            </a:r>
          </a:p>
        </p:txBody>
      </p:sp>
    </p:spTree>
    <p:extLst>
      <p:ext uri="{BB962C8B-B14F-4D97-AF65-F5344CB8AC3E}">
        <p14:creationId xmlns:p14="http://schemas.microsoft.com/office/powerpoint/2010/main" val="2269756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Figure 8.1: </a:t>
            </a:r>
            <a:r>
              <a:rPr lang="en-US" dirty="0"/>
              <a:t>Contemporary Security Challenges and Vulnerabilities</a:t>
            </a:r>
          </a:p>
        </p:txBody>
      </p:sp>
      <p:pic>
        <p:nvPicPr>
          <p:cNvPr id="3" name="Picture 2" descr="Figure 8.1 illustrates security challenges and vulnerabilities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905000"/>
            <a:ext cx="7554122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542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ＭＳ Ｐゴシック" charset="0"/>
              </a:rPr>
              <a:t>Internet Vulnerabilities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Char char="–"/>
              <a:defRPr/>
            </a:pPr>
            <a:r>
              <a:rPr lang="en-US" sz="2400" dirty="0"/>
              <a:t>Network open to anyone</a:t>
            </a:r>
          </a:p>
          <a:p>
            <a:pPr>
              <a:buFont typeface="Arial" charset="0"/>
              <a:buChar char="–"/>
              <a:defRPr/>
            </a:pPr>
            <a:r>
              <a:rPr lang="en-US" sz="2400" dirty="0"/>
              <a:t>Size of Internet means abuses can have wide impact</a:t>
            </a:r>
          </a:p>
          <a:p>
            <a:pPr>
              <a:buFont typeface="Arial" charset="0"/>
              <a:buChar char="–"/>
              <a:defRPr/>
            </a:pPr>
            <a:r>
              <a:rPr lang="en-US" sz="2400" dirty="0"/>
              <a:t>Use of fixed Internet addresses with cable / DSL modems creates fixed targets for hackers</a:t>
            </a:r>
          </a:p>
          <a:p>
            <a:pPr>
              <a:buFont typeface="Arial" charset="0"/>
              <a:buChar char="–"/>
              <a:defRPr/>
            </a:pPr>
            <a:r>
              <a:rPr lang="en-US" sz="2400" dirty="0"/>
              <a:t>Unencrypted VOIP</a:t>
            </a:r>
          </a:p>
          <a:p>
            <a:pPr>
              <a:buFont typeface="Arial" charset="0"/>
              <a:buChar char="–"/>
              <a:defRPr/>
            </a:pPr>
            <a:r>
              <a:rPr lang="en-US" sz="2400" dirty="0"/>
              <a:t>E-mail, P2P, IM </a:t>
            </a:r>
          </a:p>
          <a:p>
            <a:pPr lvl="1">
              <a:buFont typeface="Arial" charset="0"/>
              <a:buChar char="•"/>
              <a:defRPr/>
            </a:pPr>
            <a:r>
              <a:rPr lang="en-US" sz="1800" dirty="0"/>
              <a:t>Interception</a:t>
            </a:r>
          </a:p>
          <a:p>
            <a:pPr lvl="1">
              <a:buFont typeface="Arial" charset="0"/>
              <a:buChar char="•"/>
              <a:defRPr/>
            </a:pPr>
            <a:r>
              <a:rPr lang="en-US" sz="1800" dirty="0"/>
              <a:t>Attachments with malicious software</a:t>
            </a:r>
          </a:p>
          <a:p>
            <a:pPr lvl="1">
              <a:buFont typeface="Arial" charset="0"/>
              <a:buChar char="•"/>
              <a:defRPr/>
            </a:pPr>
            <a:r>
              <a:rPr lang="en-US" sz="1800" dirty="0"/>
              <a:t>Transmitting trade secrets</a:t>
            </a:r>
          </a:p>
        </p:txBody>
      </p:sp>
    </p:spTree>
    <p:extLst>
      <p:ext uri="{BB962C8B-B14F-4D97-AF65-F5344CB8AC3E}">
        <p14:creationId xmlns:p14="http://schemas.microsoft.com/office/powerpoint/2010/main" val="3046184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Wireless Security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Radio frequency bands easy to scan</a:t>
            </a:r>
          </a:p>
          <a:p>
            <a:r>
              <a:rPr lang="en-US" dirty="0"/>
              <a:t>SSIDs (service set identifiers)</a:t>
            </a:r>
          </a:p>
          <a:p>
            <a:pPr lvl="1"/>
            <a:r>
              <a:rPr lang="en-US" dirty="0"/>
              <a:t>Identify access points, broadcast multiple times, can be identified by sniffer programs</a:t>
            </a:r>
          </a:p>
          <a:p>
            <a:r>
              <a:rPr lang="en-US" dirty="0"/>
              <a:t>War driving</a:t>
            </a:r>
          </a:p>
          <a:p>
            <a:pPr lvl="1"/>
            <a:r>
              <a:rPr lang="en-US" dirty="0"/>
              <a:t>Eavesdroppers drive by buildings and try to detect SSID and gain access to network and resources</a:t>
            </a:r>
          </a:p>
          <a:p>
            <a:pPr lvl="1"/>
            <a:r>
              <a:rPr lang="en-US" dirty="0"/>
              <a:t>Once access point is breached, intruder can gain access to networked drives and files</a:t>
            </a:r>
          </a:p>
          <a:p>
            <a:r>
              <a:rPr lang="en-US" dirty="0"/>
              <a:t>Rogue access points</a:t>
            </a:r>
          </a:p>
        </p:txBody>
      </p:sp>
    </p:spTree>
    <p:extLst>
      <p:ext uri="{BB962C8B-B14F-4D97-AF65-F5344CB8AC3E}">
        <p14:creationId xmlns:p14="http://schemas.microsoft.com/office/powerpoint/2010/main" val="3887300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Malicious Software: Viruses, Worms, Trojan Horses, and Spyware 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Malware (malicious software)</a:t>
            </a:r>
          </a:p>
          <a:p>
            <a:r>
              <a:rPr lang="en-US" dirty="0"/>
              <a:t>Viruses</a:t>
            </a:r>
          </a:p>
          <a:p>
            <a:r>
              <a:rPr lang="en-US" dirty="0"/>
              <a:t>Worms</a:t>
            </a:r>
          </a:p>
          <a:p>
            <a:r>
              <a:rPr lang="en-US" dirty="0"/>
              <a:t>Worms and viruses spread by</a:t>
            </a:r>
          </a:p>
          <a:p>
            <a:pPr lvl="1"/>
            <a:r>
              <a:rPr lang="en-US" dirty="0"/>
              <a:t>Downloads and drive-by downloads</a:t>
            </a:r>
          </a:p>
          <a:p>
            <a:pPr lvl="1"/>
            <a:r>
              <a:rPr lang="en-US" dirty="0"/>
              <a:t>E-mail, IM attachments</a:t>
            </a:r>
          </a:p>
          <a:p>
            <a:r>
              <a:rPr lang="en-US" dirty="0"/>
              <a:t>Mobile device malware</a:t>
            </a:r>
          </a:p>
          <a:p>
            <a:r>
              <a:rPr lang="en-US" dirty="0"/>
              <a:t>Social network malware</a:t>
            </a:r>
          </a:p>
        </p:txBody>
      </p:sp>
    </p:spTree>
    <p:extLst>
      <p:ext uri="{BB962C8B-B14F-4D97-AF65-F5344CB8AC3E}">
        <p14:creationId xmlns:p14="http://schemas.microsoft.com/office/powerpoint/2010/main" val="648600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Malicious Software: Viruses, Worms, Trojan Horses, and Spyware 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ct val="0"/>
              </a:spcAft>
            </a:pPr>
            <a:r>
              <a:rPr lang="en-US" altLang="en-US" dirty="0"/>
              <a:t>Trojan horse</a:t>
            </a:r>
          </a:p>
          <a:p>
            <a:pPr>
              <a:spcAft>
                <a:spcPct val="0"/>
              </a:spcAft>
            </a:pPr>
            <a:r>
              <a:rPr lang="en-US" altLang="en-US" dirty="0"/>
              <a:t>SQL injection attacks</a:t>
            </a:r>
          </a:p>
          <a:p>
            <a:r>
              <a:rPr lang="en-US" altLang="ja-JP" dirty="0"/>
              <a:t>Ransomware</a:t>
            </a:r>
          </a:p>
          <a:p>
            <a:pPr>
              <a:defRPr/>
            </a:pPr>
            <a:r>
              <a:rPr lang="en-US" dirty="0"/>
              <a:t>Spyware</a:t>
            </a:r>
          </a:p>
          <a:p>
            <a:pPr lvl="1">
              <a:defRPr/>
            </a:pPr>
            <a:r>
              <a:rPr lang="en-US" dirty="0"/>
              <a:t>Key loggers</a:t>
            </a:r>
          </a:p>
          <a:p>
            <a:pPr lvl="1">
              <a:defRPr/>
            </a:pPr>
            <a:r>
              <a:rPr lang="en-US" dirty="0"/>
              <a:t>Other types</a:t>
            </a:r>
          </a:p>
          <a:p>
            <a:pPr lvl="2">
              <a:defRPr/>
            </a:pPr>
            <a:r>
              <a:rPr lang="en-US" dirty="0"/>
              <a:t>Reset browser home page</a:t>
            </a:r>
          </a:p>
          <a:p>
            <a:pPr lvl="2">
              <a:defRPr/>
            </a:pPr>
            <a:r>
              <a:rPr lang="en-US" dirty="0"/>
              <a:t>Redirect search requests</a:t>
            </a:r>
          </a:p>
          <a:p>
            <a:pPr lvl="2">
              <a:defRPr/>
            </a:pPr>
            <a:r>
              <a:rPr lang="en-US" dirty="0"/>
              <a:t>Slow computer performance by taking up memory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916075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Hackers and Computer Crime (1 of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Hackers vs. crackers</a:t>
            </a:r>
          </a:p>
          <a:p>
            <a:r>
              <a:rPr lang="en-US" dirty="0"/>
              <a:t>Activities include:</a:t>
            </a:r>
          </a:p>
          <a:p>
            <a:pPr lvl="1"/>
            <a:r>
              <a:rPr lang="en-US" dirty="0"/>
              <a:t>System intrusion</a:t>
            </a:r>
          </a:p>
          <a:p>
            <a:pPr lvl="1"/>
            <a:r>
              <a:rPr lang="en-US" dirty="0"/>
              <a:t>System damage</a:t>
            </a:r>
          </a:p>
          <a:p>
            <a:pPr lvl="1"/>
            <a:r>
              <a:rPr lang="en-US" dirty="0"/>
              <a:t>Cybervandalism</a:t>
            </a:r>
          </a:p>
          <a:p>
            <a:pPr lvl="2"/>
            <a:r>
              <a:rPr lang="en-US" dirty="0"/>
              <a:t>Intentional disruption, defacement, destruction of website or corporate information system</a:t>
            </a:r>
          </a:p>
          <a:p>
            <a:r>
              <a:rPr lang="en-US" dirty="0"/>
              <a:t>Spoofing and sniffing</a:t>
            </a:r>
          </a:p>
        </p:txBody>
      </p:sp>
    </p:spTree>
    <p:extLst>
      <p:ext uri="{BB962C8B-B14F-4D97-AF65-F5344CB8AC3E}">
        <p14:creationId xmlns:p14="http://schemas.microsoft.com/office/powerpoint/2010/main" val="37142759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Hackers and Computer Crime (2 of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0D0D0D"/>
                </a:solidFill>
              </a:rPr>
              <a:t>Denial-of-service attacks (DoS)</a:t>
            </a:r>
          </a:p>
          <a:p>
            <a:r>
              <a:rPr lang="en-US" altLang="en-US" dirty="0">
                <a:solidFill>
                  <a:srgbClr val="0D0D0D"/>
                </a:solidFill>
              </a:rPr>
              <a:t>Distributed denial-of-service attacks (DDoS)</a:t>
            </a:r>
          </a:p>
          <a:p>
            <a:r>
              <a:rPr lang="en-US" altLang="en-US" dirty="0"/>
              <a:t>Botnets</a:t>
            </a:r>
          </a:p>
          <a:p>
            <a:r>
              <a:rPr lang="en-US" altLang="en-US" dirty="0"/>
              <a:t>Spam</a:t>
            </a:r>
          </a:p>
          <a:p>
            <a:r>
              <a:rPr lang="en-US" altLang="en-US" dirty="0">
                <a:solidFill>
                  <a:srgbClr val="0D0D0D"/>
                </a:solidFill>
              </a:rPr>
              <a:t>Computer crime</a:t>
            </a:r>
          </a:p>
          <a:p>
            <a:pPr lvl="1"/>
            <a:r>
              <a:rPr lang="en-US" altLang="en-US" dirty="0"/>
              <a:t>Computer may be target of crime</a:t>
            </a:r>
          </a:p>
          <a:p>
            <a:pPr lvl="1"/>
            <a:r>
              <a:rPr lang="en-US" altLang="en-US" dirty="0"/>
              <a:t>Computer may be instrument of crime</a:t>
            </a:r>
          </a:p>
        </p:txBody>
      </p:sp>
    </p:spTree>
    <p:extLst>
      <p:ext uri="{BB962C8B-B14F-4D97-AF65-F5344CB8AC3E}">
        <p14:creationId xmlns:p14="http://schemas.microsoft.com/office/powerpoint/2010/main" val="2615928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Hackers and Computer Crime (3 of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ct val="0"/>
              </a:spcAft>
            </a:pPr>
            <a:r>
              <a:rPr lang="en-US" altLang="en-US" dirty="0">
                <a:solidFill>
                  <a:srgbClr val="0D0D0D"/>
                </a:solidFill>
              </a:rPr>
              <a:t>Identity theft</a:t>
            </a:r>
          </a:p>
          <a:p>
            <a:pPr lvl="1">
              <a:spcAft>
                <a:spcPct val="0"/>
              </a:spcAft>
            </a:pPr>
            <a:r>
              <a:rPr lang="en-US" altLang="en-US" dirty="0">
                <a:solidFill>
                  <a:srgbClr val="0D0D0D"/>
                </a:solidFill>
              </a:rPr>
              <a:t>Phishing</a:t>
            </a:r>
          </a:p>
          <a:p>
            <a:pPr lvl="1">
              <a:spcAft>
                <a:spcPct val="0"/>
              </a:spcAft>
            </a:pPr>
            <a:r>
              <a:rPr lang="en-US" altLang="en-US" dirty="0">
                <a:solidFill>
                  <a:srgbClr val="0D0D0D"/>
                </a:solidFill>
              </a:rPr>
              <a:t>Evil twins</a:t>
            </a:r>
          </a:p>
          <a:p>
            <a:pPr lvl="1">
              <a:spcAft>
                <a:spcPct val="0"/>
              </a:spcAft>
            </a:pPr>
            <a:r>
              <a:rPr lang="en-US" altLang="en-US" dirty="0">
                <a:solidFill>
                  <a:srgbClr val="0D0D0D"/>
                </a:solidFill>
              </a:rPr>
              <a:t>Pharming</a:t>
            </a:r>
          </a:p>
          <a:p>
            <a:pPr>
              <a:buFont typeface="Arial" charset="0"/>
              <a:buChar char="•"/>
              <a:defRPr/>
            </a:pPr>
            <a:r>
              <a:rPr lang="en-US" dirty="0">
                <a:cs typeface="ＭＳ Ｐゴシック" charset="0"/>
              </a:rPr>
              <a:t>Click fraud</a:t>
            </a:r>
          </a:p>
          <a:p>
            <a:pPr>
              <a:buFont typeface="Arial" charset="0"/>
              <a:buChar char="•"/>
              <a:defRPr/>
            </a:pPr>
            <a:r>
              <a:rPr lang="en-US" dirty="0">
                <a:cs typeface="ＭＳ Ｐゴシック" charset="0"/>
              </a:rPr>
              <a:t>Cyberterrorism </a:t>
            </a:r>
          </a:p>
          <a:p>
            <a:pPr>
              <a:buFont typeface="Arial" charset="0"/>
              <a:buChar char="•"/>
              <a:defRPr/>
            </a:pPr>
            <a:r>
              <a:rPr lang="en-US" dirty="0">
                <a:cs typeface="ＭＳ Ｐゴシック" charset="0"/>
              </a:rPr>
              <a:t>Cyberwarfare</a:t>
            </a:r>
            <a:endParaRPr lang="en-US" altLang="en-US" dirty="0">
              <a:solidFill>
                <a:srgbClr val="0D0D0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5812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ＭＳ Ｐゴシック" charset="0"/>
              </a:rPr>
              <a:t>Internal Threats: Employees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Char char="–"/>
              <a:defRPr/>
            </a:pPr>
            <a:r>
              <a:rPr lang="en-US" dirty="0"/>
              <a:t>Security threats often originate inside an organization</a:t>
            </a:r>
          </a:p>
          <a:p>
            <a:pPr>
              <a:buFont typeface="Arial" charset="0"/>
              <a:buChar char="–"/>
              <a:defRPr/>
            </a:pPr>
            <a:r>
              <a:rPr lang="en-US" dirty="0"/>
              <a:t>Inside knowledge</a:t>
            </a:r>
          </a:p>
          <a:p>
            <a:pPr>
              <a:buFont typeface="Arial" charset="0"/>
              <a:buChar char="–"/>
              <a:defRPr/>
            </a:pPr>
            <a:r>
              <a:rPr lang="en-US" dirty="0"/>
              <a:t>Sloppy security procedures</a:t>
            </a:r>
          </a:p>
          <a:p>
            <a:pPr lvl="1">
              <a:buFont typeface="Arial" charset="0"/>
              <a:buChar char="•"/>
              <a:defRPr/>
            </a:pPr>
            <a:r>
              <a:rPr lang="en-US" dirty="0"/>
              <a:t>User lack of knowledge</a:t>
            </a:r>
          </a:p>
          <a:p>
            <a:pPr>
              <a:buFont typeface="Arial" charset="0"/>
              <a:buChar char="–"/>
              <a:defRPr/>
            </a:pPr>
            <a:r>
              <a:rPr lang="en-US" dirty="0"/>
              <a:t>Social engineering</a:t>
            </a:r>
          </a:p>
          <a:p>
            <a:pPr>
              <a:buFont typeface="Arial" charset="0"/>
              <a:buChar char="–"/>
              <a:defRPr/>
            </a:pPr>
            <a:r>
              <a:rPr lang="en-US" dirty="0"/>
              <a:t>Both end users and information systems specialists are sources of risk</a:t>
            </a:r>
          </a:p>
        </p:txBody>
      </p:sp>
    </p:spTree>
    <p:extLst>
      <p:ext uri="{BB962C8B-B14F-4D97-AF65-F5344CB8AC3E}">
        <p14:creationId xmlns:p14="http://schemas.microsoft.com/office/powerpoint/2010/main" val="3243248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Vulnerability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Commercial software contains flaws that create security vulnerabilities</a:t>
            </a:r>
          </a:p>
          <a:p>
            <a:pPr lvl="1"/>
            <a:r>
              <a:rPr lang="en-US" dirty="0"/>
              <a:t>Bugs (program code defects)</a:t>
            </a:r>
          </a:p>
          <a:p>
            <a:pPr lvl="1"/>
            <a:r>
              <a:rPr lang="en-US" dirty="0"/>
              <a:t>Zero defects cannot be achieved because complete testing is not possible with large programs</a:t>
            </a:r>
          </a:p>
          <a:p>
            <a:pPr lvl="1"/>
            <a:r>
              <a:rPr lang="en-US" dirty="0"/>
              <a:t>Flaws can open networks to intruders</a:t>
            </a:r>
          </a:p>
          <a:p>
            <a:r>
              <a:rPr lang="en-US" dirty="0"/>
              <a:t>Patches</a:t>
            </a:r>
          </a:p>
          <a:p>
            <a:pPr lvl="1"/>
            <a:r>
              <a:rPr lang="en-US" dirty="0"/>
              <a:t>Small pieces of software to repair flaws</a:t>
            </a:r>
          </a:p>
          <a:p>
            <a:pPr lvl="1"/>
            <a:r>
              <a:rPr lang="en-US" dirty="0"/>
              <a:t>Exploits often created faster than patches can be released and implemented</a:t>
            </a:r>
          </a:p>
        </p:txBody>
      </p:sp>
    </p:spTree>
    <p:extLst>
      <p:ext uri="{BB962C8B-B14F-4D97-AF65-F5344CB8AC3E}">
        <p14:creationId xmlns:p14="http://schemas.microsoft.com/office/powerpoint/2010/main" val="42808905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Business Value of Security and Control?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0D0D0D"/>
                </a:solidFill>
              </a:rPr>
              <a:t>Failed computer systems can lead to significant or total loss of business function</a:t>
            </a:r>
          </a:p>
          <a:p>
            <a:r>
              <a:rPr lang="en-US" altLang="en-US" dirty="0">
                <a:solidFill>
                  <a:srgbClr val="0D0D0D"/>
                </a:solidFill>
              </a:rPr>
              <a:t>Firms now are more vulnerable than ever</a:t>
            </a:r>
          </a:p>
          <a:p>
            <a:pPr lvl="1"/>
            <a:r>
              <a:rPr lang="en-US" altLang="en-US" dirty="0"/>
              <a:t>Confidential personal and financial data</a:t>
            </a:r>
          </a:p>
          <a:p>
            <a:pPr lvl="1"/>
            <a:r>
              <a:rPr lang="en-US" altLang="en-US" dirty="0"/>
              <a:t>Trade secrets, new products, strategies</a:t>
            </a:r>
          </a:p>
          <a:p>
            <a:r>
              <a:rPr lang="en-US" altLang="en-US" dirty="0">
                <a:solidFill>
                  <a:srgbClr val="0D0D0D"/>
                </a:solidFill>
              </a:rPr>
              <a:t>A security breach may cut into a firm</a:t>
            </a:r>
            <a:r>
              <a:rPr lang="en-US" altLang="ja-JP" dirty="0">
                <a:solidFill>
                  <a:srgbClr val="0D0D0D"/>
                </a:solidFill>
              </a:rPr>
              <a:t>’s market value almost immediately</a:t>
            </a:r>
          </a:p>
          <a:p>
            <a:r>
              <a:rPr lang="en-US" altLang="en-US" dirty="0">
                <a:solidFill>
                  <a:srgbClr val="0D0D0D"/>
                </a:solidFill>
              </a:rPr>
              <a:t>Inadequate security and controls also bring forth issues of liability</a:t>
            </a:r>
          </a:p>
        </p:txBody>
      </p:sp>
    </p:spTree>
    <p:extLst>
      <p:ext uri="{BB962C8B-B14F-4D97-AF65-F5344CB8AC3E}">
        <p14:creationId xmlns:p14="http://schemas.microsoft.com/office/powerpoint/2010/main" val="21153894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Legal and Regulatory Requirements for Electronic Records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HIPAA</a:t>
            </a:r>
          </a:p>
          <a:p>
            <a:pPr lvl="1"/>
            <a:r>
              <a:rPr lang="en-US" dirty="0"/>
              <a:t>Medical security and privacy rules and procedures</a:t>
            </a:r>
          </a:p>
          <a:p>
            <a:r>
              <a:rPr lang="en-US" dirty="0"/>
              <a:t>Gramm-Leach-Bliley Act </a:t>
            </a:r>
          </a:p>
          <a:p>
            <a:pPr lvl="1"/>
            <a:r>
              <a:rPr lang="en-US" dirty="0"/>
              <a:t>Requires financial institutions to ensure the security and confidentiality of customer data</a:t>
            </a:r>
          </a:p>
          <a:p>
            <a:r>
              <a:rPr lang="en-US" dirty="0"/>
              <a:t>Sarbanes-Oxley Act </a:t>
            </a:r>
          </a:p>
          <a:p>
            <a:pPr lvl="1"/>
            <a:r>
              <a:rPr lang="en-US" dirty="0"/>
              <a:t>Imposes responsibility on companies and their management to safeguard the accuracy and integrity of financial information that is used internally and released externally</a:t>
            </a:r>
          </a:p>
        </p:txBody>
      </p:sp>
    </p:spTree>
    <p:extLst>
      <p:ext uri="{BB962C8B-B14F-4D97-AF65-F5344CB8AC3E}">
        <p14:creationId xmlns:p14="http://schemas.microsoft.com/office/powerpoint/2010/main" val="5858884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Electronic Evidence and Computer Forensics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Char char="•"/>
              <a:defRPr/>
            </a:pPr>
            <a:r>
              <a:rPr lang="en-US" dirty="0">
                <a:cs typeface="ＭＳ Ｐゴシック" charset="0"/>
              </a:rPr>
              <a:t>Electronic evidence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Evidence for white collar crimes often in digital form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Proper control of data can save time and money when responding to legal discovery request</a:t>
            </a:r>
          </a:p>
          <a:p>
            <a:pPr>
              <a:buFont typeface="Arial" charset="0"/>
              <a:buChar char="•"/>
              <a:defRPr/>
            </a:pPr>
            <a:r>
              <a:rPr lang="en-US" dirty="0">
                <a:cs typeface="ＭＳ Ｐゴシック" charset="0"/>
              </a:rPr>
              <a:t>Computer forensics 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Scientific collection, examination, authentication, preservation, and analysis of data from computer storage media for use as evidence in court of law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Recovery of ambient data</a:t>
            </a:r>
          </a:p>
        </p:txBody>
      </p:sp>
    </p:spTree>
    <p:extLst>
      <p:ext uri="{BB962C8B-B14F-4D97-AF65-F5344CB8AC3E}">
        <p14:creationId xmlns:p14="http://schemas.microsoft.com/office/powerpoint/2010/main" val="40842713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Information Systems Controls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May be automated or manual</a:t>
            </a:r>
          </a:p>
          <a:p>
            <a:r>
              <a:rPr lang="en-US" altLang="en-US" dirty="0"/>
              <a:t>General controls</a:t>
            </a:r>
          </a:p>
          <a:p>
            <a:pPr lvl="1"/>
            <a:r>
              <a:rPr lang="en-US" altLang="en-US" dirty="0"/>
              <a:t>Govern design, security, and use of computer programs and security of data files in general throughout organization</a:t>
            </a:r>
          </a:p>
          <a:p>
            <a:pPr lvl="1"/>
            <a:r>
              <a:rPr lang="en-US" altLang="en-US" dirty="0"/>
              <a:t>Software controls, hardware controls, computer operations controls, data security controls, system development controls, administrative controls,</a:t>
            </a:r>
          </a:p>
          <a:p>
            <a:pPr>
              <a:buFont typeface="Arial" charset="0"/>
              <a:buChar char="•"/>
              <a:defRPr/>
            </a:pPr>
            <a:r>
              <a:rPr lang="en-US" dirty="0">
                <a:cs typeface="ＭＳ Ｐゴシック" charset="0"/>
              </a:rPr>
              <a:t>Application controls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Controls unique to each computerized application</a:t>
            </a:r>
          </a:p>
          <a:p>
            <a:pPr lvl="1">
              <a:buFont typeface="Arial" charset="0"/>
              <a:buChar char="–"/>
              <a:defRPr/>
            </a:pPr>
            <a:r>
              <a:rPr lang="en-US" altLang="en-US" dirty="0"/>
              <a:t>Input controls, processing controls, output controls</a:t>
            </a:r>
          </a:p>
        </p:txBody>
      </p:sp>
    </p:spTree>
    <p:extLst>
      <p:ext uri="{BB962C8B-B14F-4D97-AF65-F5344CB8AC3E}">
        <p14:creationId xmlns:p14="http://schemas.microsoft.com/office/powerpoint/2010/main" val="26784515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Char char="•"/>
              <a:defRPr/>
            </a:pPr>
            <a:r>
              <a:rPr lang="en-US" dirty="0">
                <a:cs typeface="ＭＳ Ｐゴシック" charset="0"/>
              </a:rPr>
              <a:t>Determines level of risk to firm if specific activity or process is not properly controlled</a:t>
            </a:r>
          </a:p>
          <a:p>
            <a:pPr lvl="2">
              <a:buFont typeface="Arial" charset="0"/>
              <a:buChar char="•"/>
              <a:defRPr/>
            </a:pPr>
            <a:r>
              <a:rPr lang="en-US" sz="2000" dirty="0"/>
              <a:t>Types of threat</a:t>
            </a:r>
          </a:p>
          <a:p>
            <a:pPr lvl="2">
              <a:buFont typeface="Arial" charset="0"/>
              <a:buChar char="•"/>
              <a:defRPr/>
            </a:pPr>
            <a:r>
              <a:rPr lang="en-US" sz="2000" dirty="0"/>
              <a:t>Probability of occurrence during year</a:t>
            </a:r>
          </a:p>
          <a:p>
            <a:pPr lvl="2">
              <a:buFont typeface="Arial" charset="0"/>
              <a:buChar char="•"/>
              <a:defRPr/>
            </a:pPr>
            <a:r>
              <a:rPr lang="en-US" sz="2000" dirty="0"/>
              <a:t>Potential losses, value of threat</a:t>
            </a:r>
          </a:p>
          <a:p>
            <a:pPr lvl="2">
              <a:buFont typeface="Arial" charset="0"/>
              <a:buChar char="•"/>
              <a:defRPr/>
            </a:pPr>
            <a:r>
              <a:rPr lang="en-US" sz="2000" dirty="0"/>
              <a:t>Expected annual loss</a:t>
            </a:r>
          </a:p>
        </p:txBody>
      </p:sp>
    </p:spTree>
    <p:extLst>
      <p:ext uri="{BB962C8B-B14F-4D97-AF65-F5344CB8AC3E}">
        <p14:creationId xmlns:p14="http://schemas.microsoft.com/office/powerpoint/2010/main" val="41963625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8.5 Online Order Processing Risk Assessment</a:t>
            </a:r>
          </a:p>
        </p:txBody>
      </p:sp>
      <p:graphicFrame>
        <p:nvGraphicFramePr>
          <p:cNvPr id="4" name="Content Placeholder 3" descr="This table illustrates sample results of a risk assessment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7416677"/>
              </p:ext>
            </p:extLst>
          </p:nvPr>
        </p:nvGraphicFramePr>
        <p:xfrm>
          <a:off x="457200" y="1600200"/>
          <a:ext cx="8310880" cy="28346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757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EXPOSURE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PROBABILITY OF OCCURRENCE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LOSS RANGE</a:t>
                      </a:r>
                    </a:p>
                    <a:p>
                      <a:r>
                        <a:rPr lang="en-US" dirty="0"/>
                        <a:t>(AVERAGE) ($)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EXPECTED ANNUAL LOSS ($)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Power</a:t>
                      </a:r>
                      <a:r>
                        <a:rPr lang="en-US" baseline="0" dirty="0"/>
                        <a:t> failure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$5,000</a:t>
                      </a:r>
                      <a:r>
                        <a:rPr lang="en-US" baseline="0" dirty="0"/>
                        <a:t> - $200,000</a:t>
                      </a:r>
                    </a:p>
                    <a:p>
                      <a:r>
                        <a:rPr lang="en-US" baseline="0" dirty="0"/>
                        <a:t>($102,500)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$30,750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Embezzlement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$1,000 - $50,000</a:t>
                      </a:r>
                    </a:p>
                    <a:p>
                      <a:r>
                        <a:rPr lang="en-US" dirty="0"/>
                        <a:t>($25,500)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$1275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User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$200 - $40,000 ($20,100)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$19,698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65929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Security Policy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Ranks information risks, identifies acceptable security goals, and identifies mechanisms for achieving these goals</a:t>
            </a:r>
          </a:p>
          <a:p>
            <a:r>
              <a:rPr lang="en-US" altLang="en-US" dirty="0"/>
              <a:t>Drives other policies</a:t>
            </a:r>
          </a:p>
          <a:p>
            <a:pPr lvl="1"/>
            <a:r>
              <a:rPr lang="en-US" altLang="en-US" dirty="0"/>
              <a:t>Acceptable use policy (AUP)</a:t>
            </a:r>
          </a:p>
          <a:p>
            <a:pPr lvl="2"/>
            <a:r>
              <a:rPr lang="en-US" altLang="en-US" dirty="0"/>
              <a:t>Defines acceptable uses of firm</a:t>
            </a:r>
            <a:r>
              <a:rPr lang="en-US" altLang="ja-JP" dirty="0"/>
              <a:t>’s information resources and computing equipment</a:t>
            </a:r>
          </a:p>
          <a:p>
            <a:r>
              <a:rPr lang="en-US" altLang="ja-JP" dirty="0"/>
              <a:t>Identity management</a:t>
            </a:r>
          </a:p>
          <a:p>
            <a:pPr lvl="1"/>
            <a:r>
              <a:rPr lang="en-US" altLang="en-US" dirty="0"/>
              <a:t>Identifying valid users</a:t>
            </a:r>
          </a:p>
          <a:p>
            <a:pPr lvl="1"/>
            <a:r>
              <a:rPr lang="en-US" altLang="en-US" dirty="0"/>
              <a:t>Controlling access</a:t>
            </a:r>
          </a:p>
        </p:txBody>
      </p:sp>
    </p:spTree>
    <p:extLst>
      <p:ext uri="{BB962C8B-B14F-4D97-AF65-F5344CB8AC3E}">
        <p14:creationId xmlns:p14="http://schemas.microsoft.com/office/powerpoint/2010/main" val="25632587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Disaster Recovery Planning and Business Continuity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0D0D0D"/>
                </a:solidFill>
              </a:rPr>
              <a:t>Disaster recovery planning</a:t>
            </a:r>
          </a:p>
          <a:p>
            <a:pPr lvl="1"/>
            <a:r>
              <a:rPr lang="en-US" altLang="en-US" dirty="0">
                <a:solidFill>
                  <a:srgbClr val="0D0D0D"/>
                </a:solidFill>
              </a:rPr>
              <a:t>Devises plans for restoration of disrupted services</a:t>
            </a:r>
          </a:p>
          <a:p>
            <a:r>
              <a:rPr lang="en-US" altLang="en-US" dirty="0">
                <a:solidFill>
                  <a:srgbClr val="0D0D0D"/>
                </a:solidFill>
              </a:rPr>
              <a:t>Business continuity planning</a:t>
            </a:r>
          </a:p>
          <a:p>
            <a:pPr lvl="1"/>
            <a:r>
              <a:rPr lang="en-US" altLang="en-US" dirty="0">
                <a:solidFill>
                  <a:srgbClr val="0D0D0D"/>
                </a:solidFill>
              </a:rPr>
              <a:t>Focuses on restoring business operations after disaster</a:t>
            </a:r>
          </a:p>
          <a:p>
            <a:r>
              <a:rPr lang="en-US" altLang="en-US" dirty="0"/>
              <a:t>Both types of plans needed to identify firm</a:t>
            </a:r>
            <a:r>
              <a:rPr lang="en-US" altLang="ja-JP" dirty="0"/>
              <a:t>’s most critical systems</a:t>
            </a:r>
          </a:p>
          <a:p>
            <a:pPr lvl="1"/>
            <a:r>
              <a:rPr lang="en-US" altLang="en-US" dirty="0"/>
              <a:t>Business impact analysis to determine impact of an outage</a:t>
            </a:r>
          </a:p>
          <a:p>
            <a:pPr lvl="1"/>
            <a:r>
              <a:rPr lang="en-US" altLang="en-US" dirty="0"/>
              <a:t>Management must determine which systems restored first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8635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Role of Auditing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rgbClr val="0D0D0D"/>
                </a:solidFill>
              </a:rPr>
              <a:t>Information systems audit</a:t>
            </a:r>
          </a:p>
          <a:p>
            <a:pPr lvl="1"/>
            <a:r>
              <a:rPr lang="en-US" altLang="en-US" sz="1800" dirty="0"/>
              <a:t>Examines firm</a:t>
            </a:r>
            <a:r>
              <a:rPr lang="en-US" altLang="ja-JP" sz="1800" dirty="0"/>
              <a:t>’s overall security environment as well as controls governing individual information systems</a:t>
            </a:r>
          </a:p>
          <a:p>
            <a:r>
              <a:rPr lang="en-US" altLang="ja-JP" sz="2400" dirty="0"/>
              <a:t>Security audits</a:t>
            </a:r>
          </a:p>
          <a:p>
            <a:pPr lvl="1"/>
            <a:r>
              <a:rPr lang="en-US" altLang="en-US" sz="1800" dirty="0"/>
              <a:t>Review technologies, procedures, documentation, training, and personnel</a:t>
            </a:r>
          </a:p>
          <a:p>
            <a:pPr lvl="1"/>
            <a:r>
              <a:rPr lang="en-US" altLang="en-US" sz="1800" dirty="0"/>
              <a:t>May even simulate disaster to test responses</a:t>
            </a:r>
          </a:p>
          <a:p>
            <a:r>
              <a:rPr lang="en-US" altLang="en-US" sz="2400" dirty="0"/>
              <a:t>List and rank control weaknesses and the probability of occurrence</a:t>
            </a:r>
          </a:p>
          <a:p>
            <a:r>
              <a:rPr lang="en-US" altLang="en-US" sz="2400" dirty="0"/>
              <a:t>Assess financial and organizational impact of each threat</a:t>
            </a:r>
          </a:p>
        </p:txBody>
      </p:sp>
    </p:spTree>
    <p:extLst>
      <p:ext uri="{BB962C8B-B14F-4D97-AF65-F5344CB8AC3E}">
        <p14:creationId xmlns:p14="http://schemas.microsoft.com/office/powerpoint/2010/main" val="25657397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What Are the Most Important Tools and Technologies for Safeguarding Information Systems? (1 of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4068763"/>
          </a:xfrm>
        </p:spPr>
        <p:txBody>
          <a:bodyPr/>
          <a:lstStyle/>
          <a:p>
            <a:pPr>
              <a:buFont typeface="Arial" charset="0"/>
              <a:buChar char="•"/>
              <a:defRPr/>
            </a:pPr>
            <a:r>
              <a:rPr lang="en-US" dirty="0">
                <a:cs typeface="ＭＳ Ｐゴシック" charset="0"/>
              </a:rPr>
              <a:t>Identity management software</a:t>
            </a:r>
          </a:p>
          <a:p>
            <a:pPr lvl="1">
              <a:spcBef>
                <a:spcPts val="0"/>
              </a:spcBef>
              <a:buFont typeface="Arial" charset="0"/>
              <a:buChar char="–"/>
              <a:defRPr/>
            </a:pPr>
            <a:r>
              <a:rPr lang="en-US" dirty="0"/>
              <a:t>Automates keeping track of all users and privileges</a:t>
            </a:r>
          </a:p>
          <a:p>
            <a:pPr lvl="1">
              <a:spcBef>
                <a:spcPts val="0"/>
              </a:spcBef>
              <a:buFont typeface="Arial" charset="0"/>
              <a:buChar char="–"/>
              <a:defRPr/>
            </a:pPr>
            <a:r>
              <a:rPr lang="en-US" dirty="0"/>
              <a:t>Authenticates users, protecting identities, controlling access</a:t>
            </a:r>
          </a:p>
          <a:p>
            <a:pPr>
              <a:buFont typeface="Arial" charset="0"/>
              <a:buChar char="•"/>
              <a:defRPr/>
            </a:pPr>
            <a:r>
              <a:rPr lang="en-US" dirty="0">
                <a:cs typeface="ＭＳ Ｐゴシック" charset="0"/>
              </a:rPr>
              <a:t>Authentication</a:t>
            </a:r>
          </a:p>
          <a:p>
            <a:pPr lvl="1">
              <a:spcBef>
                <a:spcPts val="0"/>
              </a:spcBef>
              <a:buFont typeface="Arial" charset="0"/>
              <a:buChar char="–"/>
              <a:defRPr/>
            </a:pPr>
            <a:r>
              <a:rPr lang="en-US" dirty="0"/>
              <a:t>Password systems</a:t>
            </a:r>
          </a:p>
          <a:p>
            <a:pPr lvl="1">
              <a:spcBef>
                <a:spcPts val="0"/>
              </a:spcBef>
              <a:buFont typeface="Arial" charset="0"/>
              <a:buChar char="–"/>
              <a:defRPr/>
            </a:pPr>
            <a:r>
              <a:rPr lang="en-US" dirty="0"/>
              <a:t>Tokens</a:t>
            </a:r>
          </a:p>
          <a:p>
            <a:pPr lvl="1">
              <a:spcBef>
                <a:spcPts val="0"/>
              </a:spcBef>
              <a:buFont typeface="Arial" charset="0"/>
              <a:buChar char="–"/>
              <a:defRPr/>
            </a:pPr>
            <a:r>
              <a:rPr lang="en-US" dirty="0"/>
              <a:t>Smart cards</a:t>
            </a:r>
          </a:p>
          <a:p>
            <a:pPr lvl="1">
              <a:spcBef>
                <a:spcPts val="0"/>
              </a:spcBef>
              <a:buFont typeface="Arial" charset="0"/>
              <a:buChar char="–"/>
              <a:defRPr/>
            </a:pPr>
            <a:r>
              <a:rPr lang="en-US" dirty="0"/>
              <a:t>Biometric authentication</a:t>
            </a:r>
          </a:p>
          <a:p>
            <a:pPr lvl="1">
              <a:spcBef>
                <a:spcPts val="0"/>
              </a:spcBef>
              <a:buFont typeface="Arial" charset="0"/>
              <a:buChar char="–"/>
              <a:defRPr/>
            </a:pPr>
            <a:r>
              <a:rPr lang="en-US" dirty="0"/>
              <a:t>Two-factor authentication</a:t>
            </a:r>
          </a:p>
        </p:txBody>
      </p:sp>
    </p:spTree>
    <p:extLst>
      <p:ext uri="{BB962C8B-B14F-4D97-AF65-F5344CB8AC3E}">
        <p14:creationId xmlns:p14="http://schemas.microsoft.com/office/powerpoint/2010/main" val="30039156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What Are the Most Important Tools and Technologies for Safeguarding Information Systems? (2 of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4068763"/>
          </a:xfrm>
        </p:spPr>
        <p:txBody>
          <a:bodyPr anchor="t"/>
          <a:lstStyle/>
          <a:p>
            <a:r>
              <a:rPr lang="en-US" dirty="0"/>
              <a:t>Firewall</a:t>
            </a:r>
          </a:p>
          <a:p>
            <a:pPr lvl="1"/>
            <a:r>
              <a:rPr lang="en-US" dirty="0"/>
              <a:t>Combination of hardware and software that prevents unauthorized users from accessing private networks</a:t>
            </a:r>
          </a:p>
          <a:p>
            <a:pPr lvl="1"/>
            <a:r>
              <a:rPr lang="en-US" dirty="0"/>
              <a:t>Technologies include:</a:t>
            </a:r>
          </a:p>
          <a:p>
            <a:pPr lvl="2"/>
            <a:r>
              <a:rPr lang="en-US" dirty="0"/>
              <a:t>Packet filtering</a:t>
            </a:r>
          </a:p>
          <a:p>
            <a:pPr lvl="2"/>
            <a:r>
              <a:rPr lang="en-US" dirty="0"/>
              <a:t>Stateful inspection</a:t>
            </a:r>
          </a:p>
          <a:p>
            <a:pPr lvl="2"/>
            <a:r>
              <a:rPr lang="en-US" dirty="0"/>
              <a:t>Network address translation (NAT)</a:t>
            </a:r>
          </a:p>
          <a:p>
            <a:pPr lvl="2"/>
            <a:r>
              <a:rPr lang="en-US" dirty="0"/>
              <a:t>Application proxy filtering</a:t>
            </a:r>
          </a:p>
        </p:txBody>
      </p:sp>
    </p:spTree>
    <p:extLst>
      <p:ext uri="{BB962C8B-B14F-4D97-AF65-F5344CB8AC3E}">
        <p14:creationId xmlns:p14="http://schemas.microsoft.com/office/powerpoint/2010/main" val="14056420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What Are the Most Important Tools and Technologies for Safeguarding Information Systems? (3 of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09800"/>
            <a:ext cx="8229600" cy="3916363"/>
          </a:xfrm>
        </p:spPr>
        <p:txBody>
          <a:bodyPr/>
          <a:lstStyle/>
          <a:p>
            <a:pPr>
              <a:defRPr/>
            </a:pPr>
            <a:r>
              <a:rPr lang="en-US" dirty="0">
                <a:cs typeface="ＭＳ Ｐゴシック" charset="0"/>
              </a:rPr>
              <a:t>Intrusion detection system</a:t>
            </a:r>
          </a:p>
          <a:p>
            <a:pPr lvl="1">
              <a:defRPr/>
            </a:pPr>
            <a:r>
              <a:rPr lang="en-US" dirty="0"/>
              <a:t>Monitors hot spots on corporate networks to detect and deter intruders</a:t>
            </a:r>
          </a:p>
          <a:p>
            <a:pPr>
              <a:defRPr/>
            </a:pPr>
            <a:r>
              <a:rPr lang="en-US" dirty="0">
                <a:cs typeface="ＭＳ Ｐゴシック" charset="0"/>
              </a:rPr>
              <a:t>Antivirus and antispyware software</a:t>
            </a:r>
          </a:p>
          <a:p>
            <a:pPr lvl="1">
              <a:defRPr/>
            </a:pPr>
            <a:r>
              <a:rPr lang="en-US" dirty="0"/>
              <a:t>Checks computers for presence of malware and can often eliminate it as well</a:t>
            </a:r>
          </a:p>
          <a:p>
            <a:pPr lvl="1">
              <a:defRPr/>
            </a:pPr>
            <a:r>
              <a:rPr lang="en-US" dirty="0"/>
              <a:t>Requires continual updating</a:t>
            </a:r>
          </a:p>
          <a:p>
            <a:pPr>
              <a:defRPr/>
            </a:pPr>
            <a:r>
              <a:rPr lang="en-US" dirty="0">
                <a:cs typeface="ＭＳ Ｐゴシック" charset="0"/>
              </a:rPr>
              <a:t>Unified threat management (UTM) systems</a:t>
            </a:r>
          </a:p>
        </p:txBody>
      </p:sp>
    </p:spTree>
    <p:extLst>
      <p:ext uri="{BB962C8B-B14F-4D97-AF65-F5344CB8AC3E}">
        <p14:creationId xmlns:p14="http://schemas.microsoft.com/office/powerpoint/2010/main" val="20669466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Encryption and Public Key Infrastructure (1 of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Encryption</a:t>
            </a:r>
          </a:p>
          <a:p>
            <a:pPr lvl="1"/>
            <a:r>
              <a:rPr lang="en-US" dirty="0"/>
              <a:t>Transforming text or data into cipher text that cannot be read by unintended recipients</a:t>
            </a:r>
          </a:p>
          <a:p>
            <a:pPr lvl="1"/>
            <a:r>
              <a:rPr lang="en-US" dirty="0"/>
              <a:t>Two methods for encryption on networks</a:t>
            </a:r>
          </a:p>
          <a:p>
            <a:pPr lvl="2"/>
            <a:r>
              <a:rPr lang="en-US" dirty="0"/>
              <a:t>Secure Sockets Layer (SSL) and successor Transport Layer Security (TLS)</a:t>
            </a:r>
          </a:p>
          <a:p>
            <a:pPr lvl="2"/>
            <a:r>
              <a:rPr lang="en-US" dirty="0"/>
              <a:t>Secure Hypertext Transfer Protocol (S-HTTP)</a:t>
            </a:r>
          </a:p>
        </p:txBody>
      </p:sp>
    </p:spTree>
    <p:extLst>
      <p:ext uri="{BB962C8B-B14F-4D97-AF65-F5344CB8AC3E}">
        <p14:creationId xmlns:p14="http://schemas.microsoft.com/office/powerpoint/2010/main" val="13016038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Encryption and Public Key Infrastructure (2 of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Two methods of encryption</a:t>
            </a:r>
          </a:p>
          <a:p>
            <a:pPr lvl="1"/>
            <a:r>
              <a:rPr lang="en-US" altLang="en-US" dirty="0"/>
              <a:t>Symmetric key encryption</a:t>
            </a:r>
          </a:p>
          <a:p>
            <a:pPr lvl="2"/>
            <a:r>
              <a:rPr lang="en-US" altLang="en-US" dirty="0"/>
              <a:t>Sender and receiver use single, shared key</a:t>
            </a:r>
          </a:p>
          <a:p>
            <a:pPr lvl="1"/>
            <a:r>
              <a:rPr lang="en-US" altLang="en-US" dirty="0"/>
              <a:t>Public key encryption</a:t>
            </a:r>
          </a:p>
          <a:p>
            <a:pPr lvl="2"/>
            <a:r>
              <a:rPr lang="en-US" altLang="en-US" dirty="0"/>
              <a:t>Uses two, mathematically related keys: public key and private key</a:t>
            </a:r>
          </a:p>
          <a:p>
            <a:pPr lvl="2"/>
            <a:r>
              <a:rPr lang="en-US" altLang="en-US" dirty="0"/>
              <a:t>Sender encrypts message with recipient</a:t>
            </a:r>
            <a:r>
              <a:rPr lang="en-US" altLang="ja-JP" dirty="0"/>
              <a:t>’s public key</a:t>
            </a:r>
          </a:p>
          <a:p>
            <a:pPr lvl="2"/>
            <a:r>
              <a:rPr lang="en-US" altLang="en-US" dirty="0"/>
              <a:t>Recipient decrypts with private key</a:t>
            </a:r>
          </a:p>
        </p:txBody>
      </p:sp>
    </p:spTree>
    <p:extLst>
      <p:ext uri="{BB962C8B-B14F-4D97-AF65-F5344CB8AC3E}">
        <p14:creationId xmlns:p14="http://schemas.microsoft.com/office/powerpoint/2010/main" val="23549894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Figure 8.6: </a:t>
            </a:r>
            <a:r>
              <a:rPr lang="en-US" dirty="0"/>
              <a:t>Public Key Encryption</a:t>
            </a:r>
          </a:p>
        </p:txBody>
      </p:sp>
      <p:pic>
        <p:nvPicPr>
          <p:cNvPr id="3" name="Picture 2" descr="Figure 8.6 illustrates the steps in public key encryption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977658"/>
            <a:ext cx="7162800" cy="1372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3679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Encryption and Public Key Infrastructure (3 of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Digital certificate</a:t>
            </a:r>
          </a:p>
          <a:p>
            <a:pPr lvl="1"/>
            <a:r>
              <a:rPr lang="en-US" altLang="en-US" dirty="0"/>
              <a:t>Data file used to establish the identity of users and electronic assets for protection of online transactions</a:t>
            </a:r>
          </a:p>
          <a:p>
            <a:pPr lvl="1"/>
            <a:r>
              <a:rPr lang="en-US" altLang="en-US" dirty="0"/>
              <a:t>Uses a trusted third party, certification authority (CA), to validate a user</a:t>
            </a:r>
            <a:r>
              <a:rPr lang="en-US" altLang="ja-JP" dirty="0"/>
              <a:t>'s identity</a:t>
            </a:r>
          </a:p>
          <a:p>
            <a:pPr lvl="1"/>
            <a:r>
              <a:rPr lang="en-US" altLang="en-US" dirty="0"/>
              <a:t>CA verifies user</a:t>
            </a:r>
            <a:r>
              <a:rPr lang="en-US" altLang="ja-JP" dirty="0"/>
              <a:t>’s identity, stores information in CA server, which generates encrypted digital certificate containing owner ID information and copy of owner’s public key</a:t>
            </a:r>
          </a:p>
          <a:p>
            <a:r>
              <a:rPr lang="en-US" altLang="en-US" dirty="0"/>
              <a:t>Public key infrastructure (PKI)</a:t>
            </a:r>
          </a:p>
          <a:p>
            <a:pPr lvl="1"/>
            <a:r>
              <a:rPr lang="en-US" altLang="en-US" dirty="0"/>
              <a:t>Use of public key cryptography working with certificate authority</a:t>
            </a:r>
          </a:p>
          <a:p>
            <a:pPr lvl="1"/>
            <a:r>
              <a:rPr lang="en-US" altLang="en-US" dirty="0"/>
              <a:t>Widely used in e-commerce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0657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Ensuring System Availability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Online transaction processing requires 100% availability</a:t>
            </a:r>
          </a:p>
          <a:p>
            <a:r>
              <a:rPr lang="en-US" dirty="0"/>
              <a:t>Fault-tolerant computer systems</a:t>
            </a:r>
          </a:p>
          <a:p>
            <a:pPr lvl="1"/>
            <a:r>
              <a:rPr lang="en-US" dirty="0"/>
              <a:t>Contain redundant hardware, software, and power supply components that create an environment that provides continuous, uninterrupted service</a:t>
            </a:r>
          </a:p>
          <a:p>
            <a:r>
              <a:rPr lang="en-US" dirty="0"/>
              <a:t>Deep packet inspection</a:t>
            </a:r>
          </a:p>
          <a:p>
            <a:r>
              <a:rPr lang="en-US" dirty="0"/>
              <a:t>Security outsourcing</a:t>
            </a:r>
          </a:p>
          <a:p>
            <a:pPr lvl="1"/>
            <a:r>
              <a:rPr lang="en-US" dirty="0"/>
              <a:t>Managed security service providers (MSSPs)</a:t>
            </a:r>
          </a:p>
        </p:txBody>
      </p:sp>
    </p:spTree>
    <p:extLst>
      <p:ext uri="{BB962C8B-B14F-4D97-AF65-F5344CB8AC3E}">
        <p14:creationId xmlns:p14="http://schemas.microsoft.com/office/powerpoint/2010/main" val="31754552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Issues for Cloud Computing and the Mobile Digital Platform 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Security in the cloud</a:t>
            </a:r>
          </a:p>
          <a:p>
            <a:pPr lvl="1"/>
            <a:r>
              <a:rPr lang="en-US" dirty="0"/>
              <a:t>Responsibility for security resides with company owning the data</a:t>
            </a:r>
          </a:p>
          <a:p>
            <a:pPr lvl="1"/>
            <a:r>
              <a:rPr lang="en-US" dirty="0"/>
              <a:t>Firms must ensure providers provide adequate protection:</a:t>
            </a:r>
          </a:p>
          <a:p>
            <a:pPr lvl="2"/>
            <a:r>
              <a:rPr lang="en-US" dirty="0"/>
              <a:t>Where data are stored</a:t>
            </a:r>
          </a:p>
          <a:p>
            <a:pPr lvl="2"/>
            <a:r>
              <a:rPr lang="en-US" dirty="0"/>
              <a:t>Meeting corporate requirements, legal privacy laws</a:t>
            </a:r>
          </a:p>
          <a:p>
            <a:pPr lvl="2"/>
            <a:r>
              <a:rPr lang="en-US" dirty="0"/>
              <a:t>Segregation of data from other clients</a:t>
            </a:r>
          </a:p>
          <a:p>
            <a:pPr lvl="2"/>
            <a:r>
              <a:rPr lang="en-US" dirty="0"/>
              <a:t>Audits and security certifications</a:t>
            </a:r>
          </a:p>
          <a:p>
            <a:pPr lvl="1"/>
            <a:r>
              <a:rPr lang="en-US" dirty="0"/>
              <a:t>Service level agreements (SLAs)</a:t>
            </a:r>
          </a:p>
        </p:txBody>
      </p:sp>
    </p:spTree>
    <p:extLst>
      <p:ext uri="{BB962C8B-B14F-4D97-AF65-F5344CB8AC3E}">
        <p14:creationId xmlns:p14="http://schemas.microsoft.com/office/powerpoint/2010/main" val="24150644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Issues for Cloud Computing and the Mobile Digital Platform 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ＭＳ Ｐゴシック" charset="0"/>
              </a:rPr>
              <a:t>Securing mobile platforms</a:t>
            </a:r>
          </a:p>
          <a:p>
            <a:pPr lvl="1">
              <a:defRPr/>
            </a:pPr>
            <a:r>
              <a:rPr lang="en-US" dirty="0"/>
              <a:t>Security policies should include and cover any special requirements for mobile devices</a:t>
            </a:r>
          </a:p>
          <a:p>
            <a:pPr lvl="2">
              <a:defRPr/>
            </a:pPr>
            <a:r>
              <a:rPr lang="en-US" dirty="0"/>
              <a:t>Guidelines for use of platforms and applications</a:t>
            </a:r>
          </a:p>
          <a:p>
            <a:pPr lvl="1">
              <a:defRPr/>
            </a:pPr>
            <a:r>
              <a:rPr lang="en-US" dirty="0"/>
              <a:t>Mobile device management tools </a:t>
            </a:r>
          </a:p>
          <a:p>
            <a:pPr lvl="2">
              <a:defRPr/>
            </a:pPr>
            <a:r>
              <a:rPr lang="en-US" dirty="0"/>
              <a:t>Authorization</a:t>
            </a:r>
          </a:p>
          <a:p>
            <a:pPr lvl="2">
              <a:defRPr/>
            </a:pPr>
            <a:r>
              <a:rPr lang="en-US" dirty="0"/>
              <a:t>Inventory records</a:t>
            </a:r>
          </a:p>
          <a:p>
            <a:pPr lvl="2">
              <a:defRPr/>
            </a:pPr>
            <a:r>
              <a:rPr lang="en-US" dirty="0"/>
              <a:t>Control updates</a:t>
            </a:r>
          </a:p>
          <a:p>
            <a:pPr lvl="2">
              <a:defRPr/>
            </a:pPr>
            <a:r>
              <a:rPr lang="en-US" dirty="0"/>
              <a:t>Lock down/erase lost devices</a:t>
            </a:r>
          </a:p>
          <a:p>
            <a:pPr lvl="2">
              <a:defRPr/>
            </a:pPr>
            <a:r>
              <a:rPr lang="en-US" dirty="0"/>
              <a:t>Encryption</a:t>
            </a:r>
          </a:p>
          <a:p>
            <a:pPr lvl="1">
              <a:defRPr/>
            </a:pPr>
            <a:r>
              <a:rPr lang="en-US" dirty="0"/>
              <a:t>Software for segregating corporate data on devices</a:t>
            </a:r>
          </a:p>
        </p:txBody>
      </p:sp>
    </p:spTree>
    <p:extLst>
      <p:ext uri="{BB962C8B-B14F-4D97-AF65-F5344CB8AC3E}">
        <p14:creationId xmlns:p14="http://schemas.microsoft.com/office/powerpoint/2010/main" val="8302507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Ensuring Software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Software metrics: Objective assessments of system in form of quantified measurements</a:t>
            </a:r>
          </a:p>
          <a:p>
            <a:pPr lvl="1"/>
            <a:r>
              <a:rPr lang="en-US" sz="1800" dirty="0"/>
              <a:t>Number of transactions</a:t>
            </a:r>
          </a:p>
          <a:p>
            <a:pPr lvl="1"/>
            <a:r>
              <a:rPr lang="en-US" sz="1800" dirty="0"/>
              <a:t>Online response time</a:t>
            </a:r>
          </a:p>
          <a:p>
            <a:pPr lvl="1"/>
            <a:r>
              <a:rPr lang="en-US" sz="1800" dirty="0"/>
              <a:t>Payroll checks printed per hour</a:t>
            </a:r>
          </a:p>
          <a:p>
            <a:pPr lvl="1"/>
            <a:r>
              <a:rPr lang="en-US" sz="1800" dirty="0"/>
              <a:t>Known bugs per hundred lines of code</a:t>
            </a:r>
          </a:p>
          <a:p>
            <a:r>
              <a:rPr lang="en-US" sz="2400" dirty="0"/>
              <a:t>Early and regular testing</a:t>
            </a:r>
          </a:p>
          <a:p>
            <a:r>
              <a:rPr lang="en-US" sz="2400" dirty="0"/>
              <a:t>Walkthrough: Review of specification or design document by small group of qualified people</a:t>
            </a:r>
          </a:p>
          <a:p>
            <a:r>
              <a:rPr lang="en-US" sz="2400" dirty="0"/>
              <a:t>Debugging: Process by which errors are eliminated</a:t>
            </a:r>
          </a:p>
        </p:txBody>
      </p:sp>
    </p:spTree>
    <p:extLst>
      <p:ext uri="{BB962C8B-B14F-4D97-AF65-F5344CB8AC3E}">
        <p14:creationId xmlns:p14="http://schemas.microsoft.com/office/powerpoint/2010/main" val="40364572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30BA7-F239-4666-A66E-907904DBA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499D2-3E04-4801-8A99-1F44D91BE0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847263"/>
      </p:ext>
    </p:extLst>
  </p:cSld>
  <p:clrMapOvr>
    <a:masterClrMapping/>
  </p:clrMapOvr>
</p:sld>
</file>

<file path=ppt/theme/theme1.xml><?xml version="1.0" encoding="utf-8"?>
<a:theme xmlns:a="http://schemas.openxmlformats.org/drawingml/2006/main" name="508 Lecture">
  <a:themeElements>
    <a:clrScheme name="Custom 7">
      <a:dk1>
        <a:sysClr val="windowText" lastClr="000000"/>
      </a:dk1>
      <a:lt1>
        <a:sysClr val="window" lastClr="FFFFFF"/>
      </a:lt1>
      <a:dk2>
        <a:srgbClr val="000000"/>
      </a:dk2>
      <a:lt2>
        <a:srgbClr val="007FA3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20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2000"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earson 508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Pearson 508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3659</TotalTime>
  <Words>1645</Words>
  <Application>Microsoft Office PowerPoint</Application>
  <PresentationFormat>On-screen Show (4:3)</PresentationFormat>
  <Paragraphs>308</Paragraphs>
  <Slides>34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ＭＳ Ｐゴシック</vt:lpstr>
      <vt:lpstr>Arial</vt:lpstr>
      <vt:lpstr>Times New Roman</vt:lpstr>
      <vt:lpstr>Verdana</vt:lpstr>
      <vt:lpstr>Wingdings</vt:lpstr>
      <vt:lpstr>508 Lecture</vt:lpstr>
      <vt:lpstr>Management Information Systems: Managing the Digital Firm</vt:lpstr>
      <vt:lpstr>Why Systems Are Vulnerable (1 of 2)</vt:lpstr>
      <vt:lpstr>Why Systems Are Vulnerable (2 of 2)</vt:lpstr>
      <vt:lpstr>Figure 8.1: Contemporary Security Challenges and Vulnerabilities</vt:lpstr>
      <vt:lpstr>Internet Vulnerabilities</vt:lpstr>
      <vt:lpstr>Wireless Security Challenges</vt:lpstr>
      <vt:lpstr>Malicious Software: Viruses, Worms, Trojan Horses, and Spyware (1 of 2)</vt:lpstr>
      <vt:lpstr>Malicious Software: Viruses, Worms, Trojan Horses, and Spyware (2 of 2)</vt:lpstr>
      <vt:lpstr>Hackers and Computer Crime (1 of 3)</vt:lpstr>
      <vt:lpstr>Hackers and Computer Crime (2 of 3)</vt:lpstr>
      <vt:lpstr>Hackers and Computer Crime (3 of 3)</vt:lpstr>
      <vt:lpstr>Internal Threats: Employees</vt:lpstr>
      <vt:lpstr>Software Vulnerability</vt:lpstr>
      <vt:lpstr>What Is the Business Value of Security and Control?</vt:lpstr>
      <vt:lpstr>Legal and Regulatory Requirements for Electronic Records Management</vt:lpstr>
      <vt:lpstr>Electronic Evidence and Computer Forensics</vt:lpstr>
      <vt:lpstr>Information Systems Controls </vt:lpstr>
      <vt:lpstr>Risk Assessment</vt:lpstr>
      <vt:lpstr>Table 8.5 Online Order Processing Risk Assessment</vt:lpstr>
      <vt:lpstr>Security Policy</vt:lpstr>
      <vt:lpstr>Disaster Recovery Planning and Business Continuity Planning</vt:lpstr>
      <vt:lpstr>The Role of Auditing</vt:lpstr>
      <vt:lpstr>What Are the Most Important Tools and Technologies for Safeguarding Information Systems? (1 of 3)</vt:lpstr>
      <vt:lpstr>What Are the Most Important Tools and Technologies for Safeguarding Information Systems? (2 of 3)</vt:lpstr>
      <vt:lpstr>What Are the Most Important Tools and Technologies for Safeguarding Information Systems? (3 of 3)</vt:lpstr>
      <vt:lpstr>Encryption and Public Key Infrastructure (1 of 3)</vt:lpstr>
      <vt:lpstr>Encryption and Public Key Infrastructure (2 of 3)</vt:lpstr>
      <vt:lpstr>Figure 8.6: Public Key Encryption</vt:lpstr>
      <vt:lpstr>Encryption and Public Key Infrastructure (3 of 3)</vt:lpstr>
      <vt:lpstr>Ensuring System Availability</vt:lpstr>
      <vt:lpstr>Security Issues for Cloud Computing and the Mobile Digital Platform (1 of 2)</vt:lpstr>
      <vt:lpstr>Security Issues for Cloud Computing and the Mobile Digital Platform (2 of 2)</vt:lpstr>
      <vt:lpstr>Ensuring Software Quality</vt:lpstr>
      <vt:lpstr>End</vt:lpstr>
    </vt:vector>
  </TitlesOfParts>
  <Company>Pearson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 Compliant Lecture PowerPoint</dc:title>
  <dc:subject>Management Information Systems:  Managing the Digital Firm, 15th edition</dc:subject>
  <dc:creator>Kenneth C. Laudon/Jane P. Laudon</dc:creator>
  <cp:keywords>Management Information Systems</cp:keywords>
  <cp:lastModifiedBy>Hansen, Atanas Y.</cp:lastModifiedBy>
  <cp:revision>222</cp:revision>
  <dcterms:created xsi:type="dcterms:W3CDTF">2014-07-14T20:04:21Z</dcterms:created>
  <dcterms:modified xsi:type="dcterms:W3CDTF">2018-08-07T17:25:49Z</dcterms:modified>
  <cp:category>Information Systems</cp:category>
</cp:coreProperties>
</file>