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349" r:id="rId2"/>
    <p:sldId id="351" r:id="rId3"/>
    <p:sldId id="420" r:id="rId4"/>
    <p:sldId id="369" r:id="rId5"/>
    <p:sldId id="421" r:id="rId6"/>
    <p:sldId id="410" r:id="rId7"/>
    <p:sldId id="411" r:id="rId8"/>
    <p:sldId id="422" r:id="rId9"/>
    <p:sldId id="423" r:id="rId10"/>
    <p:sldId id="412" r:id="rId11"/>
    <p:sldId id="424" r:id="rId12"/>
    <p:sldId id="426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34" r:id="rId21"/>
    <p:sldId id="414" r:id="rId22"/>
    <p:sldId id="415" r:id="rId23"/>
    <p:sldId id="435" r:id="rId24"/>
    <p:sldId id="416" r:id="rId25"/>
    <p:sldId id="436" r:id="rId26"/>
    <p:sldId id="437" r:id="rId27"/>
    <p:sldId id="439" r:id="rId28"/>
    <p:sldId id="417" r:id="rId29"/>
    <p:sldId id="440" r:id="rId30"/>
    <p:sldId id="418" r:id="rId31"/>
    <p:sldId id="441" r:id="rId32"/>
    <p:sldId id="442" r:id="rId33"/>
    <p:sldId id="443" r:id="rId34"/>
    <p:sldId id="444" r:id="rId35"/>
    <p:sldId id="445" r:id="rId36"/>
    <p:sldId id="446" r:id="rId37"/>
    <p:sldId id="447" r:id="rId38"/>
    <p:sldId id="450" r:id="rId39"/>
    <p:sldId id="451" r:id="rId40"/>
    <p:sldId id="452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gan Miller" initials="MM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38"/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 autoAdjust="0"/>
    <p:restoredTop sz="79930" autoAdjust="0"/>
  </p:normalViewPr>
  <p:slideViewPr>
    <p:cSldViewPr>
      <p:cViewPr varScale="1">
        <p:scale>
          <a:sx n="69" d="100"/>
          <a:sy n="69" d="100"/>
        </p:scale>
        <p:origin x="1627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968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64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5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53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435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911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607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088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998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184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681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980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559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9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587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428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603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633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8314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410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8729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3791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8882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184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9609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3805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607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844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533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9961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2809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2737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7478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2404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2302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384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000"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GH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63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638"/>
              </a:buClr>
              <a:buSzPct val="100000"/>
              <a:defRPr sz="2800"/>
            </a:lvl1pPr>
            <a:lvl2pPr>
              <a:buClr>
                <a:srgbClr val="008638"/>
              </a:buClr>
              <a:defRPr sz="2000"/>
            </a:lvl2pPr>
            <a:lvl3pPr>
              <a:buClr>
                <a:srgbClr val="008638"/>
              </a:buClr>
              <a:defRPr/>
            </a:lvl3pPr>
            <a:lvl4pPr>
              <a:buClr>
                <a:srgbClr val="008638"/>
              </a:buClr>
              <a:defRPr/>
            </a:lvl4pPr>
            <a:lvl5pPr>
              <a:buClr>
                <a:srgbClr val="008638"/>
              </a:buClr>
              <a:defRPr/>
            </a:lvl5pPr>
            <a:lvl6pPr>
              <a:buClr>
                <a:srgbClr val="008638"/>
              </a:buClr>
              <a:defRPr/>
            </a:lvl6pPr>
            <a:lvl7pPr>
              <a:buClr>
                <a:srgbClr val="008638"/>
              </a:buClr>
              <a:defRPr/>
            </a:lvl7pPr>
            <a:lvl8pPr>
              <a:buClr>
                <a:srgbClr val="008638"/>
              </a:buClr>
              <a:defRPr/>
            </a:lvl8pPr>
            <a:lvl9pPr>
              <a:buClr>
                <a:srgbClr val="008638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68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61" r:id="rId5"/>
    <p:sldLayoutId id="2147483659" r:id="rId6"/>
    <p:sldLayoutId id="2147483658" r:id="rId7"/>
    <p:sldLayoutId id="2147483660" r:id="rId8"/>
    <p:sldLayoutId id="2147483651" r:id="rId9"/>
    <p:sldLayoutId id="2147483654" r:id="rId10"/>
    <p:sldLayoutId id="214748365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Information Systems: Managing the Digital Firm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300845"/>
            <a:ext cx="8229600" cy="478970"/>
          </a:xfrm>
        </p:spPr>
        <p:txBody>
          <a:bodyPr/>
          <a:lstStyle/>
          <a:p>
            <a:r>
              <a:rPr lang="en-US" dirty="0"/>
              <a:t>Fifteenth edition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Chapter 13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Building Information Systems</a:t>
            </a:r>
          </a:p>
        </p:txBody>
      </p:sp>
      <p:pic>
        <p:nvPicPr>
          <p:cNvPr id="6" name="Picture 5" descr="Book cove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57476"/>
            <a:ext cx="2940655" cy="3763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732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Development and Organizational Change (1 of 2)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IT-enabled organizational change</a:t>
            </a:r>
          </a:p>
          <a:p>
            <a:r>
              <a:rPr lang="en-US" dirty="0"/>
              <a:t>Automation</a:t>
            </a:r>
          </a:p>
          <a:p>
            <a:pPr lvl="1"/>
            <a:r>
              <a:rPr lang="en-US" dirty="0"/>
              <a:t>Increases efficiency</a:t>
            </a:r>
          </a:p>
          <a:p>
            <a:pPr lvl="1"/>
            <a:r>
              <a:rPr lang="en-US" dirty="0"/>
              <a:t>Replaces manual tasks</a:t>
            </a:r>
          </a:p>
          <a:p>
            <a:r>
              <a:rPr lang="en-US" dirty="0"/>
              <a:t>Rationalization of procedures</a:t>
            </a:r>
          </a:p>
          <a:p>
            <a:pPr lvl="1"/>
            <a:r>
              <a:rPr lang="en-US" dirty="0"/>
              <a:t>Streamlines standard operating procedures</a:t>
            </a:r>
          </a:p>
          <a:p>
            <a:pPr lvl="1"/>
            <a:r>
              <a:rPr lang="en-US" dirty="0"/>
              <a:t>Often found in programs for making continuous quality improvements</a:t>
            </a:r>
          </a:p>
          <a:p>
            <a:pPr lvl="2"/>
            <a:r>
              <a:rPr lang="en-US" dirty="0"/>
              <a:t>Total quality management (TQM)</a:t>
            </a:r>
          </a:p>
          <a:p>
            <a:pPr lvl="2"/>
            <a:r>
              <a:rPr lang="en-US" dirty="0"/>
              <a:t>Six sigma</a:t>
            </a:r>
          </a:p>
        </p:txBody>
      </p:sp>
    </p:spTree>
    <p:extLst>
      <p:ext uri="{BB962C8B-B14F-4D97-AF65-F5344CB8AC3E}">
        <p14:creationId xmlns:p14="http://schemas.microsoft.com/office/powerpoint/2010/main" val="97956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Development and Organizational Change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process redesign </a:t>
            </a:r>
          </a:p>
          <a:p>
            <a:pPr lvl="1"/>
            <a:r>
              <a:rPr lang="en-US" dirty="0"/>
              <a:t>Analyze, simplify, and redesign business processes</a:t>
            </a:r>
          </a:p>
          <a:p>
            <a:pPr lvl="1"/>
            <a:r>
              <a:rPr lang="en-US" dirty="0"/>
              <a:t>Reorganize workflow, combine steps, eliminate repetition</a:t>
            </a:r>
          </a:p>
          <a:p>
            <a:r>
              <a:rPr lang="en-US" dirty="0"/>
              <a:t>Paradigm shifts</a:t>
            </a:r>
          </a:p>
          <a:p>
            <a:pPr lvl="1"/>
            <a:r>
              <a:rPr lang="en-US" dirty="0"/>
              <a:t>Rethink nature of business</a:t>
            </a:r>
          </a:p>
          <a:p>
            <a:pPr lvl="1"/>
            <a:r>
              <a:rPr lang="en-US" dirty="0"/>
              <a:t>Define new business model</a:t>
            </a:r>
          </a:p>
          <a:p>
            <a:pPr lvl="1"/>
            <a:r>
              <a:rPr lang="en-US" dirty="0"/>
              <a:t>Change nature of organization</a:t>
            </a:r>
          </a:p>
        </p:txBody>
      </p:sp>
    </p:spTree>
    <p:extLst>
      <p:ext uri="{BB962C8B-B14F-4D97-AF65-F5344CB8AC3E}">
        <p14:creationId xmlns:p14="http://schemas.microsoft.com/office/powerpoint/2010/main" val="324551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13.1: Organizational Change Carries Risks and Rewards</a:t>
            </a:r>
          </a:p>
        </p:txBody>
      </p:sp>
      <p:pic>
        <p:nvPicPr>
          <p:cNvPr id="3" name="Picture 2" descr="This graphic illustrates the four types of chan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524000"/>
            <a:ext cx="4953000" cy="462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4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Process Redesign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Business process management (BPM)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Variety of tools, methodologies to analyze, design, optimize processes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Used by firms to manage business process redesign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Steps in BPM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400" dirty="0"/>
              <a:t>Identify processes for change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400" dirty="0"/>
              <a:t>Analyze existing processes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400" dirty="0"/>
              <a:t>Design the new process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400" dirty="0"/>
              <a:t>Implement the new process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400" dirty="0"/>
              <a:t>Continuous measurement</a:t>
            </a:r>
          </a:p>
        </p:txBody>
      </p:sp>
    </p:spTree>
    <p:extLst>
      <p:ext uri="{BB962C8B-B14F-4D97-AF65-F5344CB8AC3E}">
        <p14:creationId xmlns:p14="http://schemas.microsoft.com/office/powerpoint/2010/main" val="1584190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13.2: As-is Business Process for Purchasing a Book from a Physical Bookstore</a:t>
            </a:r>
          </a:p>
        </p:txBody>
      </p:sp>
      <p:pic>
        <p:nvPicPr>
          <p:cNvPr id="3" name="Picture 2" descr="This slide’s graphic illustrates the process of purchasing a book prior to reengineering, including the steps if a book is not available.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81200"/>
            <a:ext cx="778250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49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13.3: Redesigned Process for Purchasing a Book Online</a:t>
            </a:r>
          </a:p>
        </p:txBody>
      </p:sp>
      <p:pic>
        <p:nvPicPr>
          <p:cNvPr id="3" name="Picture 2" descr="This graphic illustrates the book purchasing process after reengineering as an online process.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2362200"/>
            <a:ext cx="774197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73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Business Process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Identify and document existing processes </a:t>
            </a:r>
          </a:p>
          <a:p>
            <a:pPr lvl="1"/>
            <a:r>
              <a:rPr lang="en-US" sz="1800" dirty="0"/>
              <a:t>Identify inefficiencies</a:t>
            </a:r>
          </a:p>
          <a:p>
            <a:r>
              <a:rPr lang="en-US" sz="2400" dirty="0"/>
              <a:t>Create models of improved processes </a:t>
            </a:r>
          </a:p>
          <a:p>
            <a:r>
              <a:rPr lang="en-US" sz="2400" dirty="0"/>
              <a:t>Capture and enforce business rules for performing, automating processes</a:t>
            </a:r>
          </a:p>
          <a:p>
            <a:r>
              <a:rPr lang="en-US" sz="2400" dirty="0"/>
              <a:t>Integrate existing systems to support process improvements</a:t>
            </a:r>
          </a:p>
          <a:p>
            <a:r>
              <a:rPr lang="en-US" sz="2400" dirty="0"/>
              <a:t>Verify that new processes have improved</a:t>
            </a:r>
          </a:p>
          <a:p>
            <a:r>
              <a:rPr lang="en-US" sz="2400" dirty="0"/>
              <a:t>Measure impact of process changes on key business performance indicators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560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Activities that go into producing an information system solution to an organizational problem or opportunity</a:t>
            </a:r>
          </a:p>
          <a:p>
            <a:pPr lvl="1"/>
            <a:r>
              <a:rPr lang="en-US" dirty="0"/>
              <a:t>Systems analysis</a:t>
            </a:r>
          </a:p>
          <a:p>
            <a:pPr lvl="1"/>
            <a:r>
              <a:rPr lang="en-US" dirty="0"/>
              <a:t>Systems design</a:t>
            </a:r>
          </a:p>
          <a:p>
            <a:pPr lvl="1"/>
            <a:r>
              <a:rPr lang="en-US" dirty="0"/>
              <a:t>Programming</a:t>
            </a:r>
          </a:p>
          <a:p>
            <a:pPr lvl="1"/>
            <a:r>
              <a:rPr lang="en-US" dirty="0"/>
              <a:t>Testing</a:t>
            </a:r>
          </a:p>
          <a:p>
            <a:pPr lvl="1"/>
            <a:r>
              <a:rPr lang="en-US" dirty="0"/>
              <a:t>Conversion</a:t>
            </a:r>
          </a:p>
          <a:p>
            <a:pPr lvl="1"/>
            <a:r>
              <a:rPr lang="en-US" dirty="0"/>
              <a:t>Production and maintenance</a:t>
            </a:r>
          </a:p>
        </p:txBody>
      </p:sp>
    </p:spTree>
    <p:extLst>
      <p:ext uri="{BB962C8B-B14F-4D97-AF65-F5344CB8AC3E}">
        <p14:creationId xmlns:p14="http://schemas.microsoft.com/office/powerpoint/2010/main" val="2385353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13.4: The Systems Development Process</a:t>
            </a:r>
          </a:p>
        </p:txBody>
      </p:sp>
      <p:pic>
        <p:nvPicPr>
          <p:cNvPr id="3" name="Picture 2" descr="This graphic illustrates the six core activities of systems building.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303587"/>
            <a:ext cx="484946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08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of problem to be solved by new system</a:t>
            </a:r>
          </a:p>
          <a:p>
            <a:pPr lvl="1"/>
            <a:r>
              <a:rPr lang="en-US" dirty="0"/>
              <a:t>Defining the problem</a:t>
            </a:r>
          </a:p>
          <a:p>
            <a:pPr lvl="1"/>
            <a:r>
              <a:rPr lang="en-US" dirty="0"/>
              <a:t>Identifying causes</a:t>
            </a:r>
          </a:p>
          <a:p>
            <a:pPr lvl="1"/>
            <a:r>
              <a:rPr lang="en-US" dirty="0"/>
              <a:t>Specifying solutions</a:t>
            </a:r>
          </a:p>
          <a:p>
            <a:pPr lvl="1"/>
            <a:r>
              <a:rPr lang="en-US" dirty="0"/>
              <a:t>Identifying information requirements</a:t>
            </a:r>
          </a:p>
          <a:p>
            <a:r>
              <a:rPr lang="en-US" dirty="0"/>
              <a:t>Feasibility study</a:t>
            </a:r>
          </a:p>
          <a:p>
            <a:r>
              <a:rPr lang="en-US" dirty="0"/>
              <a:t>Systems proposal report</a:t>
            </a:r>
          </a:p>
          <a:p>
            <a:r>
              <a:rPr lang="en-US" dirty="0"/>
              <a:t>Information requirements</a:t>
            </a:r>
          </a:p>
          <a:p>
            <a:pPr lvl="1"/>
            <a:r>
              <a:rPr lang="en-US" dirty="0"/>
              <a:t>Faulty requirements analysis is a leading cause of systems failure and high systems development costs</a:t>
            </a:r>
          </a:p>
        </p:txBody>
      </p:sp>
    </p:spTree>
    <p:extLst>
      <p:ext uri="{BB962C8B-B14F-4D97-AF65-F5344CB8AC3E}">
        <p14:creationId xmlns:p14="http://schemas.microsoft.com/office/powerpoint/2010/main" val="2412745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Describes system specifications that will deliver functions identified during systems analysis</a:t>
            </a:r>
          </a:p>
          <a:p>
            <a:r>
              <a:rPr lang="en-US" dirty="0"/>
              <a:t>Should address all managerial, organizational, and technological components of system solution</a:t>
            </a:r>
          </a:p>
          <a:p>
            <a:r>
              <a:rPr lang="en-US" dirty="0"/>
              <a:t>Role of end users</a:t>
            </a:r>
          </a:p>
          <a:p>
            <a:pPr lvl="1"/>
            <a:r>
              <a:rPr lang="en-US" dirty="0"/>
              <a:t>User information requirements drive system building</a:t>
            </a:r>
          </a:p>
          <a:p>
            <a:pPr lvl="1"/>
            <a:r>
              <a:rPr lang="en-US" dirty="0"/>
              <a:t>Users must have sufficient control over design process to ensure system reflects their business priorities and information needs</a:t>
            </a:r>
          </a:p>
          <a:p>
            <a:pPr lvl="1"/>
            <a:r>
              <a:rPr lang="en-US" dirty="0"/>
              <a:t>Insufficient user involvement in design effort is major cause of system failure</a:t>
            </a:r>
          </a:p>
        </p:txBody>
      </p:sp>
    </p:spTree>
    <p:extLst>
      <p:ext uri="{BB962C8B-B14F-4D97-AF65-F5344CB8AC3E}">
        <p14:creationId xmlns:p14="http://schemas.microsoft.com/office/powerpoint/2010/main" val="2994986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13.1 System Design Specifications (1 of 2)</a:t>
            </a:r>
          </a:p>
        </p:txBody>
      </p:sp>
      <p:graphicFrame>
        <p:nvGraphicFramePr>
          <p:cNvPr id="6" name="Content Placeholder 5" descr="This table lists the various types of specifications that must be detailed and described in a systems design. 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50531"/>
              </p:ext>
            </p:extLst>
          </p:nvPr>
        </p:nvGraphicFramePr>
        <p:xfrm>
          <a:off x="457200" y="1600200"/>
          <a:ext cx="8229600" cy="4592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Medium, Content,</a:t>
                      </a:r>
                      <a:r>
                        <a:rPr lang="en-US" baseline="0" dirty="0"/>
                        <a:t> Timing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Origins, Flow, Data 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Simplicity, Efficiency,</a:t>
                      </a:r>
                      <a:r>
                        <a:rPr lang="en-US" baseline="0" dirty="0"/>
                        <a:t> Logic, Feedback, Errors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Database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Logical data model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Volume and speed requirements, File organization and design, Record specifications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Computations, Program modules, Required reports, Timing of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Manual Procedures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activities, Who performs them, When, How, Where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Input controls (characters, limit, reasonableness), Processing controls (consistency, record counts), Output controls (totals, samples of output), Procedural controls (passwords, special forms)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994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13.1 System Design Specifications (2 of 2)</a:t>
            </a:r>
          </a:p>
        </p:txBody>
      </p:sp>
      <p:graphicFrame>
        <p:nvGraphicFramePr>
          <p:cNvPr id="6" name="Content Placeholder 5" descr="This table is continued from the previous page. It lists the various types of specifications that must be detailed and described in a systems design. 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7480059"/>
              </p:ext>
            </p:extLst>
          </p:nvPr>
        </p:nvGraphicFramePr>
        <p:xfrm>
          <a:off x="457200" y="1600200"/>
          <a:ext cx="8229600" cy="3302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Access controls, Catastrophe plans, Audit trails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Operations documentation, Systems documents, User documentation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Transfer files, Initiate new procedures, Select testing method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Cut over to new system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Select training techniques, Develop training modules, Identify training facilities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Organizational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Task redesign, Job redesign, Process design, Organization structure design, Reporting relationships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804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Completing the Systems Development Process (1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</a:t>
            </a:r>
          </a:p>
          <a:p>
            <a:pPr lvl="1"/>
            <a:r>
              <a:rPr lang="en-US" dirty="0"/>
              <a:t>System specifications from design stage are translated into software program code</a:t>
            </a:r>
          </a:p>
          <a:p>
            <a:r>
              <a:rPr lang="en-US" dirty="0"/>
              <a:t>Testing </a:t>
            </a:r>
          </a:p>
          <a:p>
            <a:pPr lvl="1"/>
            <a:r>
              <a:rPr lang="en-US" dirty="0"/>
              <a:t>Ensures system produces right results</a:t>
            </a:r>
          </a:p>
          <a:p>
            <a:pPr lvl="1"/>
            <a:r>
              <a:rPr lang="en-US" dirty="0"/>
              <a:t>Unit testing: Tests each program in system separately</a:t>
            </a:r>
          </a:p>
          <a:p>
            <a:pPr lvl="1"/>
            <a:r>
              <a:rPr lang="en-US" dirty="0"/>
              <a:t>System testing: Test functioning of system as a whole </a:t>
            </a:r>
          </a:p>
          <a:p>
            <a:pPr lvl="1"/>
            <a:r>
              <a:rPr lang="en-US" dirty="0"/>
              <a:t>Acceptance testing: Makes sure system is ready to be used in production setting</a:t>
            </a:r>
          </a:p>
          <a:p>
            <a:pPr lvl="1"/>
            <a:r>
              <a:rPr lang="en-US" dirty="0"/>
              <a:t>Test plan: All preparations for series of tests</a:t>
            </a:r>
          </a:p>
        </p:txBody>
      </p:sp>
    </p:spTree>
    <p:extLst>
      <p:ext uri="{BB962C8B-B14F-4D97-AF65-F5344CB8AC3E}">
        <p14:creationId xmlns:p14="http://schemas.microsoft.com/office/powerpoint/2010/main" val="287868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Completing the Systems Development Process (2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Conversion </a:t>
            </a:r>
          </a:p>
          <a:p>
            <a:pPr lvl="1"/>
            <a:r>
              <a:rPr lang="en-US" dirty="0"/>
              <a:t>Process of changing from old system to new system</a:t>
            </a:r>
          </a:p>
          <a:p>
            <a:pPr lvl="1"/>
            <a:r>
              <a:rPr lang="en-US" dirty="0"/>
              <a:t>Four main strategies</a:t>
            </a:r>
          </a:p>
          <a:p>
            <a:pPr lvl="2"/>
            <a:r>
              <a:rPr lang="en-US" dirty="0"/>
              <a:t>Parallel strategy</a:t>
            </a:r>
          </a:p>
          <a:p>
            <a:pPr lvl="2"/>
            <a:r>
              <a:rPr lang="en-US" dirty="0"/>
              <a:t>Direct cutover</a:t>
            </a:r>
          </a:p>
          <a:p>
            <a:pPr lvl="2"/>
            <a:r>
              <a:rPr lang="en-US" dirty="0"/>
              <a:t>Pilot study</a:t>
            </a:r>
          </a:p>
          <a:p>
            <a:pPr lvl="2"/>
            <a:r>
              <a:rPr lang="en-US" dirty="0"/>
              <a:t>Phased approach</a:t>
            </a:r>
          </a:p>
          <a:p>
            <a:pPr lvl="1"/>
            <a:r>
              <a:rPr lang="en-US" dirty="0"/>
              <a:t>Requires end-user training</a:t>
            </a:r>
          </a:p>
          <a:p>
            <a:pPr lvl="1"/>
            <a:r>
              <a:rPr lang="en-US" dirty="0"/>
              <a:t>Finalization of detailed documentation showing how system works from technical and end-user standpoint </a:t>
            </a:r>
          </a:p>
        </p:txBody>
      </p:sp>
    </p:spTree>
    <p:extLst>
      <p:ext uri="{BB962C8B-B14F-4D97-AF65-F5344CB8AC3E}">
        <p14:creationId xmlns:p14="http://schemas.microsoft.com/office/powerpoint/2010/main" val="3208821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Completing the Systems Development Process (3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D0D0D"/>
                </a:solidFill>
              </a:rPr>
              <a:t>Production and maintenance</a:t>
            </a:r>
          </a:p>
          <a:p>
            <a:pPr lvl="1"/>
            <a:r>
              <a:rPr lang="en-US" altLang="en-US" dirty="0"/>
              <a:t>System reviewed to determine if revisions needed</a:t>
            </a:r>
          </a:p>
          <a:p>
            <a:pPr lvl="1"/>
            <a:r>
              <a:rPr lang="en-US" altLang="en-US" dirty="0"/>
              <a:t>May include post-implementation audit document</a:t>
            </a:r>
          </a:p>
          <a:p>
            <a:pPr lvl="1">
              <a:spcAft>
                <a:spcPct val="0"/>
              </a:spcAft>
            </a:pPr>
            <a:r>
              <a:rPr lang="en-US" altLang="en-US" dirty="0"/>
              <a:t>Maintenance</a:t>
            </a:r>
          </a:p>
          <a:p>
            <a:pPr lvl="2">
              <a:spcAft>
                <a:spcPct val="0"/>
              </a:spcAft>
            </a:pPr>
            <a:r>
              <a:rPr lang="en-US" altLang="en-US" dirty="0"/>
              <a:t>Changes in hardware, software, documentation, or procedures to a production system to correct errors, meet new requirements, or improve processing efficiency</a:t>
            </a:r>
          </a:p>
          <a:p>
            <a:pPr lvl="3">
              <a:spcAft>
                <a:spcPct val="0"/>
              </a:spcAft>
            </a:pPr>
            <a:r>
              <a:rPr lang="en-US" altLang="en-US" dirty="0"/>
              <a:t>20 percent debugging, emergency work</a:t>
            </a:r>
          </a:p>
          <a:p>
            <a:pPr lvl="3">
              <a:spcAft>
                <a:spcPct val="0"/>
              </a:spcAft>
            </a:pPr>
            <a:r>
              <a:rPr lang="en-US" altLang="en-US" dirty="0"/>
              <a:t>20 percent changes to hardware, software, data, reporting</a:t>
            </a:r>
          </a:p>
          <a:p>
            <a:pPr lvl="3">
              <a:spcAft>
                <a:spcPct val="0"/>
              </a:spcAft>
            </a:pPr>
            <a:r>
              <a:rPr lang="en-US" altLang="en-US" dirty="0"/>
              <a:t>60 percent of work: user enhancements, improving documentation, recoding for greater processing efficiency</a:t>
            </a:r>
          </a:p>
        </p:txBody>
      </p:sp>
    </p:spTree>
    <p:extLst>
      <p:ext uri="{BB962C8B-B14F-4D97-AF65-F5344CB8AC3E}">
        <p14:creationId xmlns:p14="http://schemas.microsoft.com/office/powerpoint/2010/main" val="3488848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13.2 Systems Development</a:t>
            </a:r>
          </a:p>
        </p:txBody>
      </p:sp>
      <p:graphicFrame>
        <p:nvGraphicFramePr>
          <p:cNvPr id="6" name="Content Placeholder 5" descr="This table summarizes the six stages in system development. 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6311719"/>
              </p:ext>
            </p:extLst>
          </p:nvPr>
        </p:nvGraphicFramePr>
        <p:xfrm>
          <a:off x="457200" y="1600200"/>
          <a:ext cx="8229600" cy="3672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CORE 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CORE ACTIVITY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Systems analysis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Identify problem(s), Specify solutions, Establish information requirements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Systems design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design specifications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Translate design specifications into program code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unit testing, Perform systems testing, Perform acceptance testing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Plan conversion, Prepare documentation, Train users and technical staff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Production and maintenance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Operate the system, Evaluate the system, Modify the system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056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Methodologies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Structured: Techniques are step-by-step, progressive</a:t>
            </a:r>
          </a:p>
          <a:p>
            <a:r>
              <a:rPr lang="en-US" dirty="0"/>
              <a:t>Process-oriented: Focusing on modeling processes or actions that manipulate data</a:t>
            </a:r>
          </a:p>
          <a:p>
            <a:r>
              <a:rPr lang="en-US" dirty="0"/>
              <a:t>Separate data from processes</a:t>
            </a:r>
          </a:p>
          <a:p>
            <a:r>
              <a:rPr lang="en-US" altLang="en-US" dirty="0"/>
              <a:t>Data flow diagram (DFD)</a:t>
            </a:r>
          </a:p>
          <a:p>
            <a:pPr lvl="1"/>
            <a:r>
              <a:rPr lang="en-US" altLang="en-US" dirty="0"/>
              <a:t>Represents system’</a:t>
            </a:r>
            <a:r>
              <a:rPr lang="en-US" altLang="ja-JP" dirty="0"/>
              <a:t>s component processes and flow of data between them</a:t>
            </a:r>
          </a:p>
          <a:p>
            <a:pPr lvl="1"/>
            <a:r>
              <a:rPr lang="en-US" altLang="en-US" dirty="0"/>
              <a:t>Logical graphic model of information flow</a:t>
            </a:r>
          </a:p>
        </p:txBody>
      </p:sp>
    </p:spTree>
    <p:extLst>
      <p:ext uri="{BB962C8B-B14F-4D97-AF65-F5344CB8AC3E}">
        <p14:creationId xmlns:p14="http://schemas.microsoft.com/office/powerpoint/2010/main" val="2393012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Methodologies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 dictionary</a:t>
            </a:r>
          </a:p>
          <a:p>
            <a:pPr lvl="1"/>
            <a:r>
              <a:rPr lang="en-US" altLang="en-US" dirty="0"/>
              <a:t>Defines contents of data flows and data stores</a:t>
            </a:r>
          </a:p>
          <a:p>
            <a:r>
              <a:rPr lang="en-US" altLang="en-US" dirty="0"/>
              <a:t>Process specifications </a:t>
            </a:r>
          </a:p>
          <a:p>
            <a:pPr lvl="1"/>
            <a:r>
              <a:rPr lang="en-US" altLang="en-US" dirty="0"/>
              <a:t>Describe transformation occurring within lowest level of data flow diagrams </a:t>
            </a:r>
          </a:p>
          <a:p>
            <a:r>
              <a:rPr lang="en-US" altLang="en-US" dirty="0"/>
              <a:t>Structure chart </a:t>
            </a:r>
          </a:p>
          <a:p>
            <a:pPr lvl="1"/>
            <a:r>
              <a:rPr lang="en-US" altLang="en-US" dirty="0"/>
              <a:t>Top-down chart, showing each level of design, relationship to other levels, and place in overall design structure</a:t>
            </a:r>
          </a:p>
        </p:txBody>
      </p:sp>
    </p:spTree>
    <p:extLst>
      <p:ext uri="{BB962C8B-B14F-4D97-AF65-F5344CB8AC3E}">
        <p14:creationId xmlns:p14="http://schemas.microsoft.com/office/powerpoint/2010/main" val="2233045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13.6: Data Flow Diagram for Mail-in University Registration System</a:t>
            </a:r>
          </a:p>
        </p:txBody>
      </p:sp>
      <p:pic>
        <p:nvPicPr>
          <p:cNvPr id="3" name="Picture 2" descr="This graphic is a data flow diagram.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69" y="1676400"/>
            <a:ext cx="7912261" cy="447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40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13.7: High-level Structure Chart for a Payroll System</a:t>
            </a:r>
          </a:p>
        </p:txBody>
      </p:sp>
      <p:pic>
        <p:nvPicPr>
          <p:cNvPr id="3" name="Picture 2" descr="This graphic shows a high-level structure chart.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89" y="2590800"/>
            <a:ext cx="8099737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16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Development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</a:t>
            </a:r>
          </a:p>
          <a:p>
            <a:pPr lvl="1"/>
            <a:r>
              <a:rPr lang="en-US" dirty="0"/>
              <a:t>Basic unit of systems analysis and design</a:t>
            </a:r>
          </a:p>
          <a:p>
            <a:pPr lvl="1"/>
            <a:r>
              <a:rPr lang="en-US" dirty="0"/>
              <a:t>Combines data and the processes that operate on those data</a:t>
            </a:r>
          </a:p>
          <a:p>
            <a:pPr lvl="1"/>
            <a:r>
              <a:rPr lang="en-US" dirty="0"/>
              <a:t>Data in object can be accessed only by operations associated with that object</a:t>
            </a:r>
          </a:p>
          <a:p>
            <a:r>
              <a:rPr lang="en-US" dirty="0"/>
              <a:t>Object-oriented modeling </a:t>
            </a:r>
          </a:p>
          <a:p>
            <a:pPr lvl="1"/>
            <a:r>
              <a:rPr lang="en-US" dirty="0"/>
              <a:t>Based on concepts of class and inheritance</a:t>
            </a:r>
          </a:p>
          <a:p>
            <a:pPr lvl="1"/>
            <a:r>
              <a:rPr lang="en-US" dirty="0"/>
              <a:t>Objects belong to a certain class and have features of that class</a:t>
            </a:r>
          </a:p>
          <a:p>
            <a:pPr lvl="1"/>
            <a:r>
              <a:rPr lang="en-US" dirty="0"/>
              <a:t>May inherit structures and behaviors of a more general, ancestor class</a:t>
            </a:r>
          </a:p>
        </p:txBody>
      </p:sp>
    </p:spTree>
    <p:extLst>
      <p:ext uri="{BB962C8B-B14F-4D97-AF65-F5344CB8AC3E}">
        <p14:creationId xmlns:p14="http://schemas.microsoft.com/office/powerpoint/2010/main" val="1828091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13.8: Class and Inheritance</a:t>
            </a:r>
          </a:p>
        </p:txBody>
      </p:sp>
      <p:pic>
        <p:nvPicPr>
          <p:cNvPr id="3" name="Picture 2" descr="This graphic illustrates the concept of class and inheritance in object-oriented development.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371600"/>
            <a:ext cx="6349353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79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Development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iterative and incremental than traditional structured development</a:t>
            </a:r>
          </a:p>
          <a:p>
            <a:pPr lvl="1"/>
            <a:r>
              <a:rPr lang="en-US" dirty="0"/>
              <a:t>Systems analysis: Interactions between system and users analyzed to identify objects </a:t>
            </a:r>
          </a:p>
          <a:p>
            <a:pPr lvl="1"/>
            <a:r>
              <a:rPr lang="en-US" dirty="0"/>
              <a:t>Design phase: Describes how objects will behave and interact; grouped into classes, subclasses, and hierarchies</a:t>
            </a:r>
          </a:p>
          <a:p>
            <a:pPr lvl="1"/>
            <a:r>
              <a:rPr lang="en-US" dirty="0"/>
              <a:t>Implementation: Some classes may be reused from existing library of classes, others created or inherited</a:t>
            </a:r>
          </a:p>
          <a:p>
            <a:r>
              <a:rPr lang="en-US" dirty="0"/>
              <a:t>Objects are reusable</a:t>
            </a:r>
          </a:p>
          <a:p>
            <a:pPr lvl="1"/>
            <a:r>
              <a:rPr lang="en-US" dirty="0"/>
              <a:t>Object-oriented development can potentially reduce time and cost of development</a:t>
            </a:r>
          </a:p>
        </p:txBody>
      </p:sp>
    </p:spTree>
    <p:extLst>
      <p:ext uri="{BB962C8B-B14F-4D97-AF65-F5344CB8AC3E}">
        <p14:creationId xmlns:p14="http://schemas.microsoft.com/office/powerpoint/2010/main" val="185646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Computer-Aided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Software tools to automate development and reduce repetitive work, including:</a:t>
            </a:r>
          </a:p>
          <a:p>
            <a:pPr lvl="1"/>
            <a:r>
              <a:rPr lang="en-US" sz="1800" dirty="0"/>
              <a:t>Graphics facilities for producing charts and diagrams</a:t>
            </a:r>
          </a:p>
          <a:p>
            <a:pPr lvl="1"/>
            <a:r>
              <a:rPr lang="en-US" sz="1800" dirty="0"/>
              <a:t>Screen and report generators, reporting facilities</a:t>
            </a:r>
          </a:p>
          <a:p>
            <a:pPr lvl="1"/>
            <a:r>
              <a:rPr lang="en-US" sz="1800" dirty="0"/>
              <a:t>Analysis and checking tools</a:t>
            </a:r>
          </a:p>
          <a:p>
            <a:pPr lvl="1"/>
            <a:r>
              <a:rPr lang="en-US" sz="1800" dirty="0"/>
              <a:t>Data dictionaries</a:t>
            </a:r>
          </a:p>
          <a:p>
            <a:pPr lvl="1"/>
            <a:r>
              <a:rPr lang="en-US" sz="1800" dirty="0"/>
              <a:t>Code and documentation generators</a:t>
            </a:r>
          </a:p>
          <a:p>
            <a:r>
              <a:rPr lang="en-US" sz="2400" dirty="0"/>
              <a:t>Support iterative design by automating revisions and changes and providing prototyping facilities</a:t>
            </a:r>
          </a:p>
          <a:p>
            <a:r>
              <a:rPr lang="en-US" sz="2400" dirty="0"/>
              <a:t>Require organizational discipline to be used effectively</a:t>
            </a:r>
          </a:p>
        </p:txBody>
      </p:sp>
    </p:spTree>
    <p:extLst>
      <p:ext uri="{BB962C8B-B14F-4D97-AF65-F5344CB8AC3E}">
        <p14:creationId xmlns:p14="http://schemas.microsoft.com/office/powerpoint/2010/main" val="1324420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Systems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Oldest method for building information systems</a:t>
            </a:r>
          </a:p>
          <a:p>
            <a:r>
              <a:rPr lang="en-US" altLang="en-US" sz="2400" dirty="0"/>
              <a:t>Phased approach</a:t>
            </a:r>
          </a:p>
          <a:p>
            <a:pPr lvl="1"/>
            <a:r>
              <a:rPr lang="en-US" altLang="en-US" sz="1800" dirty="0"/>
              <a:t>Development divided into formal stages</a:t>
            </a:r>
          </a:p>
          <a:p>
            <a:pPr lvl="1"/>
            <a:r>
              <a:rPr lang="ja-JP" altLang="en-US" sz="1800" dirty="0"/>
              <a:t>“</a:t>
            </a:r>
            <a:r>
              <a:rPr lang="en-US" altLang="ja-JP" sz="1800" dirty="0"/>
              <a:t>Waterfall</a:t>
            </a:r>
            <a:r>
              <a:rPr lang="ja-JP" altLang="en-US" sz="1800" dirty="0"/>
              <a:t>”</a:t>
            </a:r>
            <a:r>
              <a:rPr lang="en-US" altLang="ja-JP" sz="1800" dirty="0"/>
              <a:t> approach: One stage finishes before next stage begins</a:t>
            </a:r>
          </a:p>
          <a:p>
            <a:r>
              <a:rPr lang="en-US" altLang="en-US" sz="2400" dirty="0"/>
              <a:t>Formal division of labor between end users and information systems specialists</a:t>
            </a:r>
          </a:p>
          <a:p>
            <a:r>
              <a:rPr lang="en-US" altLang="en-US" sz="2400" dirty="0"/>
              <a:t>Emphasizes formal specifications and paperwork</a:t>
            </a:r>
          </a:p>
          <a:p>
            <a:r>
              <a:rPr lang="en-US" altLang="en-US" sz="2400" dirty="0"/>
              <a:t>Still used for building large complex systems</a:t>
            </a:r>
          </a:p>
          <a:p>
            <a:r>
              <a:rPr lang="en-US" altLang="en-US" sz="2400" dirty="0"/>
              <a:t>Can be costly, time-consuming, and inflexible</a:t>
            </a:r>
          </a:p>
        </p:txBody>
      </p:sp>
    </p:spTree>
    <p:extLst>
      <p:ext uri="{BB962C8B-B14F-4D97-AF65-F5344CB8AC3E}">
        <p14:creationId xmlns:p14="http://schemas.microsoft.com/office/powerpoint/2010/main" val="2494605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13.9: The Traditional Systems Development Life Cycle</a:t>
            </a:r>
          </a:p>
        </p:txBody>
      </p:sp>
      <p:pic>
        <p:nvPicPr>
          <p:cNvPr id="3" name="Picture 2" descr="This figure illustrates the traditional systems development life cycle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76400"/>
            <a:ext cx="698971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02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experimental system rapidly and inexpensively for end users to evaluate</a:t>
            </a:r>
          </a:p>
          <a:p>
            <a:r>
              <a:rPr lang="en-US" dirty="0"/>
              <a:t>Prototype: Working but preliminary version of information system</a:t>
            </a:r>
          </a:p>
          <a:p>
            <a:pPr lvl="1"/>
            <a:r>
              <a:rPr lang="en-US" dirty="0"/>
              <a:t>Approved prototype serves as template for final system </a:t>
            </a:r>
          </a:p>
          <a:p>
            <a:r>
              <a:rPr lang="en-US" dirty="0"/>
              <a:t>Steps in prototyping</a:t>
            </a:r>
          </a:p>
          <a:p>
            <a:pPr lvl="2"/>
            <a:r>
              <a:rPr lang="en-US" dirty="0"/>
              <a:t>Identify user requirements</a:t>
            </a:r>
          </a:p>
          <a:p>
            <a:pPr lvl="2"/>
            <a:r>
              <a:rPr lang="en-US" dirty="0"/>
              <a:t>Develop initial prototype</a:t>
            </a:r>
          </a:p>
          <a:p>
            <a:pPr lvl="2"/>
            <a:r>
              <a:rPr lang="en-US" dirty="0"/>
              <a:t>Use prototype</a:t>
            </a:r>
          </a:p>
          <a:p>
            <a:pPr lvl="2"/>
            <a:r>
              <a:rPr lang="en-US" dirty="0"/>
              <a:t>Revise and enhance prototype</a:t>
            </a:r>
          </a:p>
        </p:txBody>
      </p:sp>
    </p:spTree>
    <p:extLst>
      <p:ext uri="{BB962C8B-B14F-4D97-AF65-F5344CB8AC3E}">
        <p14:creationId xmlns:p14="http://schemas.microsoft.com/office/powerpoint/2010/main" val="2081486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13.10: The Prototyping Process</a:t>
            </a:r>
          </a:p>
        </p:txBody>
      </p:sp>
      <p:pic>
        <p:nvPicPr>
          <p:cNvPr id="3" name="Picture 2" descr="This graphic illustrates the four steps  of prototyping.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19200"/>
            <a:ext cx="3962400" cy="468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33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 of prototyping</a:t>
            </a:r>
          </a:p>
          <a:p>
            <a:pPr lvl="1"/>
            <a:r>
              <a:rPr lang="en-US" dirty="0"/>
              <a:t>Useful if some uncertainty in requirements or design solutions</a:t>
            </a:r>
          </a:p>
          <a:p>
            <a:pPr lvl="1"/>
            <a:r>
              <a:rPr lang="en-US" dirty="0"/>
              <a:t>Often used for end-user interface design</a:t>
            </a:r>
          </a:p>
          <a:p>
            <a:pPr lvl="1"/>
            <a:r>
              <a:rPr lang="en-US" dirty="0"/>
              <a:t>More likely to fulfill end-user requirements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May gloss over essential steps</a:t>
            </a:r>
          </a:p>
          <a:p>
            <a:pPr lvl="1"/>
            <a:r>
              <a:rPr lang="en-US" dirty="0"/>
              <a:t>May not accommodate large quantities of data or large number of users</a:t>
            </a:r>
          </a:p>
          <a:p>
            <a:pPr lvl="2"/>
            <a:r>
              <a:rPr lang="en-US" dirty="0"/>
              <a:t>May not undergo full testing or documentation</a:t>
            </a:r>
          </a:p>
        </p:txBody>
      </p:sp>
    </p:spTree>
    <p:extLst>
      <p:ext uri="{BB962C8B-B14F-4D97-AF65-F5344CB8AC3E}">
        <p14:creationId xmlns:p14="http://schemas.microsoft.com/office/powerpoint/2010/main" val="72382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End-User Development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end users to develop simple information systems with little or no help from technical specialists</a:t>
            </a:r>
          </a:p>
          <a:p>
            <a:r>
              <a:rPr lang="en-US" dirty="0"/>
              <a:t>Reduces time and steps required to produce finished application</a:t>
            </a:r>
          </a:p>
          <a:p>
            <a:r>
              <a:rPr lang="en-US" dirty="0"/>
              <a:t>Tools include</a:t>
            </a:r>
          </a:p>
          <a:p>
            <a:pPr lvl="1"/>
            <a:r>
              <a:rPr lang="en-US" dirty="0"/>
              <a:t>User friendly query languages and reporting</a:t>
            </a:r>
          </a:p>
          <a:p>
            <a:pPr lvl="1"/>
            <a:r>
              <a:rPr lang="en-US" dirty="0"/>
              <a:t>PC software tools</a:t>
            </a:r>
          </a:p>
        </p:txBody>
      </p:sp>
    </p:spTree>
    <p:extLst>
      <p:ext uri="{BB962C8B-B14F-4D97-AF65-F5344CB8AC3E}">
        <p14:creationId xmlns:p14="http://schemas.microsoft.com/office/powerpoint/2010/main" val="3894132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End-User Development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More rapid completion of projects</a:t>
            </a:r>
          </a:p>
          <a:p>
            <a:pPr lvl="1"/>
            <a:r>
              <a:rPr lang="en-US" dirty="0"/>
              <a:t>High level of user involvement and satisfaction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Not designed for processing-intensive applications</a:t>
            </a:r>
          </a:p>
          <a:p>
            <a:pPr lvl="1"/>
            <a:r>
              <a:rPr lang="en-US" dirty="0"/>
              <a:t>Inadequate management and control, testing, documentation</a:t>
            </a:r>
          </a:p>
          <a:p>
            <a:pPr lvl="1"/>
            <a:r>
              <a:rPr lang="en-US" dirty="0"/>
              <a:t>Loss of control over data</a:t>
            </a:r>
          </a:p>
          <a:p>
            <a:r>
              <a:rPr lang="en-US" dirty="0"/>
              <a:t>Managing end-user development</a:t>
            </a:r>
          </a:p>
          <a:p>
            <a:pPr lvl="1"/>
            <a:r>
              <a:rPr lang="en-US" dirty="0"/>
              <a:t>Require cost-justification of end-user system projects</a:t>
            </a:r>
          </a:p>
          <a:p>
            <a:pPr lvl="1"/>
            <a:r>
              <a:rPr lang="en-US" dirty="0"/>
              <a:t>Establish hardware, software, and quality standards</a:t>
            </a:r>
          </a:p>
        </p:txBody>
      </p:sp>
    </p:spTree>
    <p:extLst>
      <p:ext uri="{BB962C8B-B14F-4D97-AF65-F5344CB8AC3E}">
        <p14:creationId xmlns:p14="http://schemas.microsoft.com/office/powerpoint/2010/main" val="1498640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Software Packages and Cloud Software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software packages and cloud software services</a:t>
            </a:r>
          </a:p>
          <a:p>
            <a:pPr lvl="1"/>
            <a:r>
              <a:rPr lang="en-US" dirty="0"/>
              <a:t>Save time and money</a:t>
            </a:r>
          </a:p>
          <a:p>
            <a:pPr lvl="1"/>
            <a:r>
              <a:rPr lang="en-US" dirty="0"/>
              <a:t>Many packages offer customization features </a:t>
            </a:r>
          </a:p>
          <a:p>
            <a:r>
              <a:rPr lang="en-US" dirty="0"/>
              <a:t>Evaluation criteria for systems analysis include:</a:t>
            </a:r>
          </a:p>
          <a:p>
            <a:pPr lvl="1"/>
            <a:r>
              <a:rPr lang="en-US" dirty="0"/>
              <a:t>Functions provided, flexibility, user friendliness, required resources, database requirements, installation and maintenance efforts, documentation, vendor quality, and cost </a:t>
            </a:r>
          </a:p>
          <a:p>
            <a:r>
              <a:rPr lang="en-US" dirty="0"/>
              <a:t>Request for Proposal (RFP)</a:t>
            </a:r>
          </a:p>
          <a:p>
            <a:pPr lvl="1"/>
            <a:r>
              <a:rPr lang="en-US" dirty="0"/>
              <a:t>Detailed list of questions submitted to packaged-software vendors</a:t>
            </a:r>
          </a:p>
          <a:p>
            <a:pPr lvl="1"/>
            <a:r>
              <a:rPr lang="en-US" dirty="0"/>
              <a:t>Used to evaluate alternative software packages</a:t>
            </a:r>
          </a:p>
        </p:txBody>
      </p:sp>
    </p:spTree>
    <p:extLst>
      <p:ext uri="{BB962C8B-B14F-4D97-AF65-F5344CB8AC3E}">
        <p14:creationId xmlns:p14="http://schemas.microsoft.com/office/powerpoint/2010/main" val="2783041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Outsourcing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types</a:t>
            </a:r>
          </a:p>
          <a:p>
            <a:pPr lvl="1"/>
            <a:r>
              <a:rPr lang="en-US" dirty="0"/>
              <a:t>Cloud and SaaS providers</a:t>
            </a:r>
          </a:p>
          <a:p>
            <a:pPr lvl="2"/>
            <a:r>
              <a:rPr lang="en-US" dirty="0"/>
              <a:t>Subscribing companies use software and computer hardware provided by vendors</a:t>
            </a:r>
          </a:p>
          <a:p>
            <a:pPr lvl="1"/>
            <a:r>
              <a:rPr lang="en-US" dirty="0"/>
              <a:t>External vendors</a:t>
            </a:r>
          </a:p>
          <a:p>
            <a:pPr lvl="2"/>
            <a:r>
              <a:rPr lang="en-US" dirty="0"/>
              <a:t>Hired to design, create software</a:t>
            </a:r>
          </a:p>
          <a:p>
            <a:pPr lvl="2"/>
            <a:r>
              <a:rPr lang="en-US" dirty="0"/>
              <a:t>Domestic outsourcing</a:t>
            </a:r>
          </a:p>
          <a:p>
            <a:pPr lvl="3"/>
            <a:r>
              <a:rPr lang="en-US" dirty="0"/>
              <a:t>Driven by firm’s need for additional skills, resources, assets</a:t>
            </a:r>
          </a:p>
          <a:p>
            <a:pPr lvl="2"/>
            <a:r>
              <a:rPr lang="en-US" dirty="0"/>
              <a:t>Offshore outsourcing</a:t>
            </a:r>
          </a:p>
          <a:p>
            <a:pPr lvl="3"/>
            <a:r>
              <a:rPr lang="en-US" dirty="0"/>
              <a:t>Driven by cost-savings</a:t>
            </a:r>
          </a:p>
        </p:txBody>
      </p:sp>
    </p:spTree>
    <p:extLst>
      <p:ext uri="{BB962C8B-B14F-4D97-AF65-F5344CB8AC3E}">
        <p14:creationId xmlns:p14="http://schemas.microsoft.com/office/powerpoint/2010/main" val="35865525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Outsourcing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Allows organization flexibility in IT needs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Hidden costs, for example:</a:t>
            </a:r>
          </a:p>
          <a:p>
            <a:pPr lvl="2"/>
            <a:r>
              <a:rPr lang="en-US" dirty="0"/>
              <a:t>Identifying and selecting vendor</a:t>
            </a:r>
          </a:p>
          <a:p>
            <a:pPr lvl="2"/>
            <a:r>
              <a:rPr lang="en-US" dirty="0"/>
              <a:t>Transitioning to vendor</a:t>
            </a:r>
          </a:p>
          <a:p>
            <a:pPr lvl="1"/>
            <a:r>
              <a:rPr lang="en-US" dirty="0"/>
              <a:t>Opening up proprietary business processes to third party</a:t>
            </a:r>
          </a:p>
        </p:txBody>
      </p:sp>
    </p:spTree>
    <p:extLst>
      <p:ext uri="{BB962C8B-B14F-4D97-AF65-F5344CB8AC3E}">
        <p14:creationId xmlns:p14="http://schemas.microsoft.com/office/powerpoint/2010/main" val="38639256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 Application Development (RAD), Agile Development, and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Rapid application development (RAD)</a:t>
            </a:r>
          </a:p>
          <a:p>
            <a:pPr lvl="1"/>
            <a:r>
              <a:rPr lang="en-US" sz="1800" dirty="0"/>
              <a:t>Process of creating workable systems in a very short period of time</a:t>
            </a:r>
          </a:p>
          <a:p>
            <a:r>
              <a:rPr lang="en-US" altLang="en-US" sz="2400" dirty="0"/>
              <a:t>Joint application design (JAD)</a:t>
            </a:r>
          </a:p>
          <a:p>
            <a:pPr lvl="1"/>
            <a:r>
              <a:rPr lang="en-US" altLang="en-US" sz="1800" dirty="0"/>
              <a:t>Used to accelerate generation of information requirements and to develop initial systems design </a:t>
            </a:r>
          </a:p>
          <a:p>
            <a:r>
              <a:rPr lang="en-US" sz="2400" dirty="0"/>
              <a:t>Agile development</a:t>
            </a:r>
          </a:p>
          <a:p>
            <a:pPr lvl="1"/>
            <a:r>
              <a:rPr lang="en-US" sz="1800" dirty="0"/>
              <a:t>Focuses on rapid delivery of working software by breaking large project into several small subprojects</a:t>
            </a:r>
          </a:p>
          <a:p>
            <a:r>
              <a:rPr lang="en-US" sz="2400" dirty="0"/>
              <a:t>DevOps </a:t>
            </a:r>
          </a:p>
          <a:p>
            <a:pPr lvl="1"/>
            <a:r>
              <a:rPr lang="en-US" sz="1800" dirty="0"/>
              <a:t>Builds on Agile development principles as an organizational strategy</a:t>
            </a:r>
          </a:p>
        </p:txBody>
      </p:sp>
    </p:spTree>
    <p:extLst>
      <p:ext uri="{BB962C8B-B14F-4D97-AF65-F5344CB8AC3E}">
        <p14:creationId xmlns:p14="http://schemas.microsoft.com/office/powerpoint/2010/main" val="9268548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Component-Based Development and Web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Component-based development</a:t>
            </a:r>
          </a:p>
          <a:p>
            <a:pPr lvl="1"/>
            <a:r>
              <a:rPr lang="en-US" dirty="0"/>
              <a:t>Groups of objects that provide software for common functions (e.g., online ordering) and can be combined to create large-scale business applications</a:t>
            </a:r>
          </a:p>
          <a:p>
            <a:r>
              <a:rPr lang="en-US" dirty="0"/>
              <a:t>Web services</a:t>
            </a:r>
          </a:p>
          <a:p>
            <a:pPr lvl="1"/>
            <a:r>
              <a:rPr lang="en-US" dirty="0"/>
              <a:t>Reusable software components that use XML and open Internet standards (platform independent)</a:t>
            </a:r>
          </a:p>
          <a:p>
            <a:pPr lvl="1"/>
            <a:r>
              <a:rPr lang="en-US" dirty="0"/>
              <a:t>Enable applications to communicate with no custom programming required to share data and services </a:t>
            </a:r>
          </a:p>
          <a:p>
            <a:pPr lvl="1"/>
            <a:r>
              <a:rPr lang="en-US" dirty="0"/>
              <a:t>Can engage other web services for more complex transactions</a:t>
            </a:r>
          </a:p>
        </p:txBody>
      </p:sp>
    </p:spTree>
    <p:extLst>
      <p:ext uri="{BB962C8B-B14F-4D97-AF65-F5344CB8AC3E}">
        <p14:creationId xmlns:p14="http://schemas.microsoft.com/office/powerpoint/2010/main" val="162060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Application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Mobile websites</a:t>
            </a:r>
          </a:p>
          <a:p>
            <a:r>
              <a:rPr lang="en-US" altLang="en-US" dirty="0"/>
              <a:t>Mobile web apps</a:t>
            </a:r>
          </a:p>
          <a:p>
            <a:r>
              <a:rPr lang="en-US" altLang="en-US" dirty="0"/>
              <a:t>Native apps</a:t>
            </a:r>
          </a:p>
          <a:p>
            <a:r>
              <a:rPr lang="en-US" altLang="en-US" dirty="0"/>
              <a:t>Special requirements for mobile platform</a:t>
            </a:r>
          </a:p>
          <a:p>
            <a:pPr lvl="1"/>
            <a:r>
              <a:rPr lang="en-US" altLang="en-US" dirty="0"/>
              <a:t>Smaller screens, keyboards, multitouch gestures, saving resources (memory, processing)</a:t>
            </a:r>
          </a:p>
          <a:p>
            <a:r>
              <a:rPr lang="en-US" altLang="en-US" dirty="0"/>
              <a:t>Responsive web design</a:t>
            </a:r>
          </a:p>
          <a:p>
            <a:pPr lvl="1"/>
            <a:r>
              <a:rPr lang="en-US" altLang="en-US" dirty="0"/>
              <a:t>Websites programmed so that layouts change automatically according to user</a:t>
            </a:r>
            <a:r>
              <a:rPr lang="en-US" altLang="ja-JP" dirty="0"/>
              <a:t>’s computing device</a:t>
            </a:r>
          </a:p>
        </p:txBody>
      </p:sp>
    </p:spTree>
    <p:extLst>
      <p:ext uri="{BB962C8B-B14F-4D97-AF65-F5344CB8AC3E}">
        <p14:creationId xmlns:p14="http://schemas.microsoft.com/office/powerpoint/2010/main" val="496657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39264-EDD1-4166-A018-88EC683F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F2C8-4070-42C3-987F-E92E1841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32950"/>
      </p:ext>
    </p:extLst>
  </p:cSld>
  <p:clrMapOvr>
    <a:masterClrMapping/>
  </p:clrMapOvr>
</p:sld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3793</TotalTime>
  <Words>1869</Words>
  <Application>Microsoft Office PowerPoint</Application>
  <PresentationFormat>On-screen Show (4:3)</PresentationFormat>
  <Paragraphs>356</Paragraphs>
  <Slides>40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ＭＳ Ｐゴシック</vt:lpstr>
      <vt:lpstr>Arial</vt:lpstr>
      <vt:lpstr>Times New Roman</vt:lpstr>
      <vt:lpstr>Verdana</vt:lpstr>
      <vt:lpstr>Wingdings</vt:lpstr>
      <vt:lpstr>508 Lecture</vt:lpstr>
      <vt:lpstr>Management Information Systems: Managing the Digital Firm</vt:lpstr>
      <vt:lpstr>Systems Development and Organizational Change (1 of 2)</vt:lpstr>
      <vt:lpstr>Systems Development and Organizational Change (2 of 2)</vt:lpstr>
      <vt:lpstr>Figure 13.1: Organizational Change Carries Risks and Rewards</vt:lpstr>
      <vt:lpstr>Business Process Redesign</vt:lpstr>
      <vt:lpstr>Figure 13.2: As-is Business Process for Purchasing a Book from a Physical Bookstore</vt:lpstr>
      <vt:lpstr>Figure 13.3: Redesigned Process for Purchasing a Book Online</vt:lpstr>
      <vt:lpstr>Tools for Business Process Management</vt:lpstr>
      <vt:lpstr>Systems Development</vt:lpstr>
      <vt:lpstr>Figure 13.4: The Systems Development Process</vt:lpstr>
      <vt:lpstr>Systems Analysis</vt:lpstr>
      <vt:lpstr>Systems Design</vt:lpstr>
      <vt:lpstr>Table 13.1 System Design Specifications (1 of 2)</vt:lpstr>
      <vt:lpstr>Table 13.1 System Design Specifications (2 of 2)</vt:lpstr>
      <vt:lpstr>Completing the Systems Development Process (1 of 3)</vt:lpstr>
      <vt:lpstr>Completing the Systems Development Process (2 of 3)</vt:lpstr>
      <vt:lpstr>Completing the Systems Development Process (3 of 3)</vt:lpstr>
      <vt:lpstr>Table 13.2 Systems Development</vt:lpstr>
      <vt:lpstr>Structured Methodologies (1 of 2)</vt:lpstr>
      <vt:lpstr>Structured Methodologies (2 of 2)</vt:lpstr>
      <vt:lpstr>Figure 13.6: Data Flow Diagram for Mail-in University Registration System</vt:lpstr>
      <vt:lpstr>Figure 13.7: High-level Structure Chart for a Payroll System</vt:lpstr>
      <vt:lpstr>Object-Oriented Development (1 of 2)</vt:lpstr>
      <vt:lpstr>Figure 13.8: Class and Inheritance</vt:lpstr>
      <vt:lpstr>Object-Oriented Development (2 of 2)</vt:lpstr>
      <vt:lpstr>Computer-Aided Software Engineering</vt:lpstr>
      <vt:lpstr>Traditional Systems Life Cycle</vt:lpstr>
      <vt:lpstr>Figure 13.9: The Traditional Systems Development Life Cycle</vt:lpstr>
      <vt:lpstr>Prototyping (1 of 2)</vt:lpstr>
      <vt:lpstr>Figure 13.10: The Prototyping Process</vt:lpstr>
      <vt:lpstr>Prototyping (2 of 2)</vt:lpstr>
      <vt:lpstr>End-User Development (1 of 2)</vt:lpstr>
      <vt:lpstr>End-User Development (2 of 2)</vt:lpstr>
      <vt:lpstr>Application Software Packages and Cloud Software Services</vt:lpstr>
      <vt:lpstr>Outsourcing (1 of 2)</vt:lpstr>
      <vt:lpstr>Outsourcing (2 of 2)</vt:lpstr>
      <vt:lpstr>Rapid Application Development (RAD), Agile Development, and DevOps</vt:lpstr>
      <vt:lpstr>Component-Based Development and Web Services</vt:lpstr>
      <vt:lpstr>Mobile Application Development</vt:lpstr>
      <vt:lpstr>End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Compliant Lecture PowerPoint</dc:title>
  <dc:subject>Management Information Systems:  Managing the Digital Firm, 15th edition</dc:subject>
  <dc:creator>Kenneth C. Laudon/Jane P. Laudon</dc:creator>
  <cp:keywords>Management Information Systems</cp:keywords>
  <cp:lastModifiedBy>Hansen, Atanas Y.</cp:lastModifiedBy>
  <cp:revision>223</cp:revision>
  <dcterms:created xsi:type="dcterms:W3CDTF">2014-07-14T20:04:21Z</dcterms:created>
  <dcterms:modified xsi:type="dcterms:W3CDTF">2018-08-07T17:27:30Z</dcterms:modified>
  <cp:category>Information Systems</cp:category>
</cp:coreProperties>
</file>