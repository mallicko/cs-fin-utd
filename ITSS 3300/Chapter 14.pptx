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49" r:id="rId2"/>
    <p:sldId id="351" r:id="rId3"/>
    <p:sldId id="369" r:id="rId4"/>
    <p:sldId id="417" r:id="rId5"/>
    <p:sldId id="418" r:id="rId6"/>
    <p:sldId id="409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7" r:id="rId15"/>
    <p:sldId id="408" r:id="rId16"/>
    <p:sldId id="428" r:id="rId17"/>
    <p:sldId id="430" r:id="rId18"/>
    <p:sldId id="432" r:id="rId19"/>
    <p:sldId id="433" r:id="rId20"/>
    <p:sldId id="434" r:id="rId21"/>
    <p:sldId id="411" r:id="rId22"/>
    <p:sldId id="435" r:id="rId23"/>
    <p:sldId id="437" r:id="rId24"/>
    <p:sldId id="439" r:id="rId25"/>
    <p:sldId id="44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Miller" initials="MM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8"/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4" autoAdjust="0"/>
    <p:restoredTop sz="77553" autoAdjust="0"/>
  </p:normalViewPr>
  <p:slideViewPr>
    <p:cSldViewPr>
      <p:cViewPr varScale="1">
        <p:scale>
          <a:sx n="67" d="100"/>
          <a:sy n="67" d="100"/>
        </p:scale>
        <p:origin x="1762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96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6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592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33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76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39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732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027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01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23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460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58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36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0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095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54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1903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1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000"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6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638"/>
              </a:buClr>
              <a:buSzPct val="100000"/>
              <a:defRPr sz="2800"/>
            </a:lvl1pPr>
            <a:lvl2pPr>
              <a:buClr>
                <a:srgbClr val="008638"/>
              </a:buClr>
              <a:defRPr sz="2000"/>
            </a:lvl2pPr>
            <a:lvl3pPr>
              <a:buClr>
                <a:srgbClr val="008638"/>
              </a:buClr>
              <a:defRPr/>
            </a:lvl3pPr>
            <a:lvl4pPr>
              <a:buClr>
                <a:srgbClr val="008638"/>
              </a:buClr>
              <a:defRPr/>
            </a:lvl4pPr>
            <a:lvl5pPr>
              <a:buClr>
                <a:srgbClr val="008638"/>
              </a:buClr>
              <a:defRPr/>
            </a:lvl5pPr>
            <a:lvl6pPr>
              <a:buClr>
                <a:srgbClr val="008638"/>
              </a:buClr>
              <a:defRPr/>
            </a:lvl6pPr>
            <a:lvl7pPr>
              <a:buClr>
                <a:srgbClr val="008638"/>
              </a:buClr>
              <a:defRPr/>
            </a:lvl7pPr>
            <a:lvl8pPr>
              <a:buClr>
                <a:srgbClr val="008638"/>
              </a:buClr>
              <a:defRPr/>
            </a:lvl8pPr>
            <a:lvl9pPr>
              <a:buClr>
                <a:srgbClr val="008638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61" r:id="rId5"/>
    <p:sldLayoutId id="2147483659" r:id="rId6"/>
    <p:sldLayoutId id="2147483658" r:id="rId7"/>
    <p:sldLayoutId id="2147483660" r:id="rId8"/>
    <p:sldLayoutId id="2147483651" r:id="rId9"/>
    <p:sldLayoutId id="2147483654" r:id="rId10"/>
    <p:sldLayoutId id="214748365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Information Systems: Managing the Digital Firm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300845"/>
            <a:ext cx="8229600" cy="478970"/>
          </a:xfrm>
        </p:spPr>
        <p:txBody>
          <a:bodyPr/>
          <a:lstStyle/>
          <a:p>
            <a:r>
              <a:rPr lang="en-US" dirty="0"/>
              <a:t>Fifteenth 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Managing Projects</a:t>
            </a:r>
          </a:p>
        </p:txBody>
      </p:sp>
      <p:pic>
        <p:nvPicPr>
          <p:cNvPr id="6" name="Picture 5" descr="Book cove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76"/>
            <a:ext cx="2940655" cy="3763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732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Runaway Projects and System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Runaway projects: 30–40 percent IT projects</a:t>
            </a:r>
          </a:p>
          <a:p>
            <a:pPr lvl="1"/>
            <a:r>
              <a:rPr lang="en-US" altLang="en-US" dirty="0"/>
              <a:t>Exceed schedule, budget</a:t>
            </a:r>
          </a:p>
          <a:p>
            <a:pPr lvl="1"/>
            <a:r>
              <a:rPr lang="en-US" altLang="en-US" dirty="0"/>
              <a:t>Fail to perform as specified</a:t>
            </a:r>
          </a:p>
          <a:p>
            <a:r>
              <a:rPr lang="en-US" altLang="en-US" dirty="0"/>
              <a:t>Types of system failure</a:t>
            </a:r>
          </a:p>
          <a:p>
            <a:pPr lvl="1"/>
            <a:r>
              <a:rPr lang="en-US" altLang="en-US" dirty="0"/>
              <a:t>Fail to capture essential business requirements</a:t>
            </a:r>
          </a:p>
          <a:p>
            <a:pPr lvl="1"/>
            <a:r>
              <a:rPr lang="en-US" altLang="en-US" dirty="0"/>
              <a:t>Fail to provide organizational benefits</a:t>
            </a:r>
          </a:p>
          <a:p>
            <a:pPr lvl="1"/>
            <a:r>
              <a:rPr lang="en-US" altLang="en-US" dirty="0"/>
              <a:t>Complicated, poorly organized user interface</a:t>
            </a:r>
          </a:p>
          <a:p>
            <a:pPr lvl="1"/>
            <a:r>
              <a:rPr lang="en-US" altLang="en-US" dirty="0"/>
              <a:t>Inaccurate or inconsistent data</a:t>
            </a:r>
          </a:p>
        </p:txBody>
      </p:sp>
    </p:spTree>
    <p:extLst>
      <p:ext uri="{BB962C8B-B14F-4D97-AF65-F5344CB8AC3E}">
        <p14:creationId xmlns:p14="http://schemas.microsoft.com/office/powerpoint/2010/main" val="9795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14.1: Consequences of Poor Project Management</a:t>
            </a:r>
          </a:p>
        </p:txBody>
      </p:sp>
      <p:pic>
        <p:nvPicPr>
          <p:cNvPr id="3" name="Picture 2" descr="This graphic illustrates the main consequences when an information project is not properly managed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2590800"/>
            <a:ext cx="7519013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management</a:t>
            </a:r>
          </a:p>
          <a:p>
            <a:pPr lvl="1"/>
            <a:r>
              <a:rPr lang="en-US" dirty="0"/>
              <a:t>Activities include planning work, assessing risk, estimating resources required, organizing the work, assigning tasks, controlling project execution, reporting progress, analyzing results</a:t>
            </a:r>
          </a:p>
          <a:p>
            <a:r>
              <a:rPr lang="en-US" dirty="0"/>
              <a:t>Five major variables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Time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/>
              <a:t>Quality</a:t>
            </a:r>
          </a:p>
          <a:p>
            <a:pPr lvl="1"/>
            <a:r>
              <a:rPr lang="en-US" dirty="0"/>
              <a:t>Risk</a:t>
            </a:r>
          </a:p>
        </p:txBody>
      </p:sp>
    </p:spTree>
    <p:extLst>
      <p:ext uri="{BB962C8B-B14F-4D97-AF65-F5344CB8AC3E}">
        <p14:creationId xmlns:p14="http://schemas.microsoft.com/office/powerpoint/2010/main" val="3998706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Structure for Information</a:t>
            </a:r>
            <a:br>
              <a:rPr lang="en-US" dirty="0"/>
            </a:br>
            <a:r>
              <a:rPr lang="en-US" dirty="0"/>
              <a:t>Systems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Corporate strategic planning group</a:t>
            </a:r>
          </a:p>
          <a:p>
            <a:pPr lvl="1"/>
            <a:r>
              <a:rPr lang="en-US" altLang="en-US" dirty="0"/>
              <a:t>Responsible for firm</a:t>
            </a:r>
            <a:r>
              <a:rPr lang="en-US" altLang="ja-JP" dirty="0"/>
              <a:t>’s strategic plan</a:t>
            </a:r>
          </a:p>
          <a:p>
            <a:r>
              <a:rPr lang="en-US" altLang="en-US" dirty="0"/>
              <a:t>Information systems steering committee</a:t>
            </a:r>
          </a:p>
          <a:p>
            <a:pPr lvl="1"/>
            <a:r>
              <a:rPr lang="en-US" altLang="en-US" dirty="0"/>
              <a:t>Reviews and approves plans for systems in all divisions</a:t>
            </a:r>
          </a:p>
          <a:p>
            <a:r>
              <a:rPr lang="en-US" altLang="en-US" dirty="0"/>
              <a:t>Project management group</a:t>
            </a:r>
          </a:p>
          <a:p>
            <a:pPr lvl="1"/>
            <a:r>
              <a:rPr lang="en-US" altLang="en-US" dirty="0"/>
              <a:t>Responsible for overseeing specific projects</a:t>
            </a:r>
          </a:p>
          <a:p>
            <a:r>
              <a:rPr lang="en-US" altLang="en-US" dirty="0"/>
              <a:t>Project team</a:t>
            </a:r>
          </a:p>
          <a:p>
            <a:pPr lvl="1"/>
            <a:r>
              <a:rPr lang="en-US" altLang="en-US" dirty="0"/>
              <a:t>Responsible for individual systems project</a:t>
            </a:r>
          </a:p>
        </p:txBody>
      </p:sp>
    </p:spTree>
    <p:extLst>
      <p:ext uri="{BB962C8B-B14F-4D97-AF65-F5344CB8AC3E}">
        <p14:creationId xmlns:p14="http://schemas.microsoft.com/office/powerpoint/2010/main" val="2018989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14.2: Management Control of Systems Projects</a:t>
            </a:r>
          </a:p>
        </p:txBody>
      </p:sp>
      <p:pic>
        <p:nvPicPr>
          <p:cNvPr id="3" name="Picture 2" descr="This graphic illustrates what management levels the four main groups are at.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646685"/>
            <a:ext cx="6385503" cy="417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9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Systems Plan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Identifies systems projects that will deliver most business value</a:t>
            </a:r>
          </a:p>
          <a:p>
            <a:r>
              <a:rPr lang="en-US" sz="2400" dirty="0"/>
              <a:t>Links development to business plan</a:t>
            </a:r>
          </a:p>
          <a:p>
            <a:r>
              <a:rPr lang="en-US" sz="2400" dirty="0"/>
              <a:t>Road map indicating direction of systems development, includes:</a:t>
            </a:r>
          </a:p>
          <a:p>
            <a:pPr lvl="1"/>
            <a:r>
              <a:rPr lang="en-US" sz="1800" dirty="0"/>
              <a:t>Purpose of plan</a:t>
            </a:r>
          </a:p>
          <a:p>
            <a:pPr lvl="1"/>
            <a:r>
              <a:rPr lang="en-US" sz="1800" dirty="0"/>
              <a:t>Strategic business plan rationale</a:t>
            </a:r>
          </a:p>
          <a:p>
            <a:pPr lvl="1"/>
            <a:r>
              <a:rPr lang="en-US" sz="1800" dirty="0"/>
              <a:t>Current systems/situation</a:t>
            </a:r>
          </a:p>
          <a:p>
            <a:pPr lvl="1"/>
            <a:r>
              <a:rPr lang="en-US" sz="1800" dirty="0"/>
              <a:t>New developments</a:t>
            </a:r>
          </a:p>
          <a:p>
            <a:pPr lvl="1"/>
            <a:r>
              <a:rPr lang="en-US" sz="1800" dirty="0"/>
              <a:t>Management strategy</a:t>
            </a:r>
          </a:p>
          <a:p>
            <a:pPr lvl="1"/>
            <a:r>
              <a:rPr lang="en-US" sz="1800" dirty="0"/>
              <a:t>Implementation plan</a:t>
            </a:r>
          </a:p>
          <a:p>
            <a:pPr lvl="1"/>
            <a:r>
              <a:rPr lang="en-US" sz="1800" dirty="0"/>
              <a:t>Budget</a:t>
            </a:r>
          </a:p>
        </p:txBody>
      </p:sp>
    </p:spTree>
    <p:extLst>
      <p:ext uri="{BB962C8B-B14F-4D97-AF65-F5344CB8AC3E}">
        <p14:creationId xmlns:p14="http://schemas.microsoft.com/office/powerpoint/2010/main" val="3815667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Systems Plan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effective plan</a:t>
            </a:r>
          </a:p>
          <a:p>
            <a:pPr lvl="1"/>
            <a:r>
              <a:rPr lang="en-US" dirty="0"/>
              <a:t>Document existing systems and infrastructure components</a:t>
            </a:r>
          </a:p>
          <a:p>
            <a:pPr lvl="1"/>
            <a:r>
              <a:rPr lang="en-US" dirty="0"/>
              <a:t>Identify decision-making improvements</a:t>
            </a:r>
          </a:p>
          <a:p>
            <a:pPr lvl="1"/>
            <a:r>
              <a:rPr lang="en-US" dirty="0"/>
              <a:t>Develop metrics established for quantifying values</a:t>
            </a:r>
          </a:p>
          <a:p>
            <a:pPr lvl="1"/>
            <a:r>
              <a:rPr lang="en-US" dirty="0"/>
              <a:t>Clear understanding of long-term and short-term information requirements</a:t>
            </a:r>
          </a:p>
          <a:p>
            <a:r>
              <a:rPr lang="en-US" dirty="0"/>
              <a:t>Key performance indicators (KPIs)</a:t>
            </a:r>
          </a:p>
          <a:p>
            <a:pPr lvl="1"/>
            <a:r>
              <a:rPr lang="en-US" dirty="0"/>
              <a:t>Strategic analysis identifies small number of KPIs, determined by managers</a:t>
            </a:r>
          </a:p>
        </p:txBody>
      </p:sp>
    </p:spTree>
    <p:extLst>
      <p:ext uri="{BB962C8B-B14F-4D97-AF65-F5344CB8AC3E}">
        <p14:creationId xmlns:p14="http://schemas.microsoft.com/office/powerpoint/2010/main" val="190063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Used to evaluate alternative system projects</a:t>
            </a:r>
          </a:p>
          <a:p>
            <a:r>
              <a:rPr lang="en-US" altLang="en-US" dirty="0"/>
              <a:t>Inventories all of the organization</a:t>
            </a:r>
            <a:r>
              <a:rPr lang="en-US" altLang="ja-JP" dirty="0"/>
              <a:t>’s information systems projects and assets</a:t>
            </a:r>
          </a:p>
          <a:p>
            <a:r>
              <a:rPr lang="en-US" altLang="en-US" dirty="0"/>
              <a:t>Each system has profile of risk and benefit</a:t>
            </a:r>
          </a:p>
          <a:p>
            <a:pPr lvl="1"/>
            <a:r>
              <a:rPr lang="en-US" altLang="en-US" dirty="0"/>
              <a:t>High benefit, low risk</a:t>
            </a:r>
          </a:p>
          <a:p>
            <a:pPr lvl="1"/>
            <a:r>
              <a:rPr lang="en-US" altLang="en-US" dirty="0"/>
              <a:t>High benefit, high risk</a:t>
            </a:r>
          </a:p>
          <a:p>
            <a:pPr lvl="1"/>
            <a:r>
              <a:rPr lang="en-US" altLang="en-US" dirty="0"/>
              <a:t>Low benefit, low risk</a:t>
            </a:r>
          </a:p>
          <a:p>
            <a:pPr lvl="1"/>
            <a:r>
              <a:rPr lang="en-US" altLang="en-US" dirty="0"/>
              <a:t>Low benefit, high risk</a:t>
            </a:r>
          </a:p>
          <a:p>
            <a:r>
              <a:rPr lang="en-US" altLang="en-US" dirty="0"/>
              <a:t>To improve return on portfolio, balance risk and return from systems investments</a:t>
            </a:r>
          </a:p>
        </p:txBody>
      </p:sp>
    </p:spTree>
    <p:extLst>
      <p:ext uri="{BB962C8B-B14F-4D97-AF65-F5344CB8AC3E}">
        <p14:creationId xmlns:p14="http://schemas.microsoft.com/office/powerpoint/2010/main" val="332508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evaluate alternative system projects, especially when many criteria exist</a:t>
            </a:r>
          </a:p>
          <a:p>
            <a:r>
              <a:rPr lang="en-US" dirty="0"/>
              <a:t>Assigns weights to various features of system and calculates weighted totals</a:t>
            </a:r>
          </a:p>
          <a:p>
            <a:r>
              <a:rPr lang="en-US" dirty="0"/>
              <a:t>Many qualitative judgments involved</a:t>
            </a:r>
          </a:p>
          <a:p>
            <a:r>
              <a:rPr lang="en-US" dirty="0"/>
              <a:t>Requires experts who understand the issues and the technology</a:t>
            </a:r>
          </a:p>
        </p:txBody>
      </p:sp>
    </p:spTree>
    <p:extLst>
      <p:ext uri="{BB962C8B-B14F-4D97-AF65-F5344CB8AC3E}">
        <p14:creationId xmlns:p14="http://schemas.microsoft.com/office/powerpoint/2010/main" val="354510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14.2 Example of a Scoring Model for an ERP System</a:t>
            </a:r>
          </a:p>
        </p:txBody>
      </p:sp>
      <p:graphicFrame>
        <p:nvGraphicFramePr>
          <p:cNvPr id="6" name="Content Placeholder 5" descr="This table shows an example of a scoring model for an ERP system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660666"/>
              </p:ext>
            </p:extLst>
          </p:nvPr>
        </p:nvGraphicFramePr>
        <p:xfrm>
          <a:off x="457200" y="1600200"/>
          <a:ext cx="8229600" cy="44450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ERP SYSTEM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%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ERP SYSTEM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SCORE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ERP SYSTEM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 %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ERP SYSTEM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 SCORE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1.1 Online order entry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1.2 Online pricing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348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1.3 Inventory check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324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1.4 Customer credit check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177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1.5 Invoicing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2.1 Production forecasting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2.2 Production planning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(etc.)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GRAND</a:t>
                      </a:r>
                      <a:r>
                        <a:rPr lang="en-US" sz="1400" baseline="0" dirty="0"/>
                        <a:t> TOTALS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3,128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3,300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342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 Costs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Tangible benefits</a:t>
            </a:r>
          </a:p>
          <a:p>
            <a:pPr lvl="1"/>
            <a:r>
              <a:rPr lang="en-US" dirty="0"/>
              <a:t>Can be quantified and assigned monetary value</a:t>
            </a:r>
          </a:p>
          <a:p>
            <a:pPr lvl="1"/>
            <a:r>
              <a:rPr lang="en-US" dirty="0"/>
              <a:t>Systems that displace labor and save space: </a:t>
            </a:r>
          </a:p>
          <a:p>
            <a:pPr lvl="2"/>
            <a:r>
              <a:rPr lang="en-US" dirty="0"/>
              <a:t>Transaction and clerical systems</a:t>
            </a:r>
          </a:p>
          <a:p>
            <a:r>
              <a:rPr lang="en-US" dirty="0"/>
              <a:t>Intangible benefits</a:t>
            </a:r>
          </a:p>
          <a:p>
            <a:pPr lvl="1"/>
            <a:r>
              <a:rPr lang="en-US" dirty="0"/>
              <a:t>Cannot be immediately quantified but may lead to quantifiable gains in the long run</a:t>
            </a:r>
          </a:p>
          <a:p>
            <a:pPr lvl="2"/>
            <a:r>
              <a:rPr lang="en-US" dirty="0"/>
              <a:t>For example, more efficient customer service, enhanced decision making</a:t>
            </a:r>
          </a:p>
          <a:p>
            <a:pPr lvl="1"/>
            <a:r>
              <a:rPr lang="en-US" dirty="0"/>
              <a:t>Systems that influence decision making: </a:t>
            </a:r>
          </a:p>
          <a:p>
            <a:pPr lvl="2"/>
            <a:r>
              <a:rPr lang="en-US" dirty="0"/>
              <a:t>ESS, DSS, collaborative work systems</a:t>
            </a:r>
          </a:p>
        </p:txBody>
      </p:sp>
    </p:spTree>
    <p:extLst>
      <p:ext uri="{BB962C8B-B14F-4D97-AF65-F5344CB8AC3E}">
        <p14:creationId xmlns:p14="http://schemas.microsoft.com/office/powerpoint/2010/main" val="318545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 Budgeting for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Capital budgeting models</a:t>
            </a:r>
          </a:p>
          <a:p>
            <a:pPr lvl="1"/>
            <a:r>
              <a:rPr lang="en-US" altLang="en-US" dirty="0"/>
              <a:t>Measure value of long-term capital investment projects</a:t>
            </a:r>
          </a:p>
          <a:p>
            <a:pPr lvl="1"/>
            <a:r>
              <a:rPr lang="en-US" altLang="en-US" dirty="0"/>
              <a:t>Rely on measures of the firm</a:t>
            </a:r>
            <a:r>
              <a:rPr lang="en-US" altLang="ja-JP" dirty="0"/>
              <a:t>’s c</a:t>
            </a:r>
            <a:r>
              <a:rPr lang="en-US" altLang="en-US" dirty="0"/>
              <a:t>ash outflows and inflows</a:t>
            </a:r>
          </a:p>
          <a:p>
            <a:r>
              <a:rPr lang="en-US" altLang="en-US" dirty="0"/>
              <a:t>Principle capital budgeting models used to evaluate IT projects</a:t>
            </a:r>
          </a:p>
          <a:p>
            <a:pPr lvl="1"/>
            <a:r>
              <a:rPr lang="en-US" altLang="en-US" dirty="0"/>
              <a:t>Payback method</a:t>
            </a:r>
          </a:p>
          <a:p>
            <a:pPr lvl="1"/>
            <a:r>
              <a:rPr lang="en-US" altLang="en-US" dirty="0"/>
              <a:t>Accounting rate of return on investment (ROI)</a:t>
            </a:r>
          </a:p>
          <a:p>
            <a:pPr lvl="1"/>
            <a:r>
              <a:rPr lang="en-US" altLang="en-US" dirty="0"/>
              <a:t>Net present value</a:t>
            </a:r>
          </a:p>
          <a:p>
            <a:pPr lvl="1"/>
            <a:r>
              <a:rPr lang="en-US" altLang="en-US" dirty="0"/>
              <a:t>Internal rate of return (IRR)</a:t>
            </a:r>
          </a:p>
          <a:p>
            <a:r>
              <a:rPr lang="en-US" altLang="en-US" dirty="0"/>
              <a:t>Limitations of financial models</a:t>
            </a:r>
          </a:p>
        </p:txBody>
      </p:sp>
    </p:spTree>
    <p:extLst>
      <p:ext uri="{BB962C8B-B14F-4D97-AF65-F5344CB8AC3E}">
        <p14:creationId xmlns:p14="http://schemas.microsoft.com/office/powerpoint/2010/main" val="2030710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of Project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size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/>
              <a:t>Time</a:t>
            </a:r>
          </a:p>
          <a:p>
            <a:pPr lvl="1"/>
            <a:r>
              <a:rPr lang="en-US" dirty="0"/>
              <a:t>Number of organizational units affected</a:t>
            </a:r>
          </a:p>
          <a:p>
            <a:pPr lvl="1"/>
            <a:r>
              <a:rPr lang="en-US" dirty="0"/>
              <a:t>Organizational complexity </a:t>
            </a:r>
          </a:p>
          <a:p>
            <a:r>
              <a:rPr lang="en-US" dirty="0"/>
              <a:t>Project structure</a:t>
            </a:r>
          </a:p>
          <a:p>
            <a:pPr lvl="1"/>
            <a:r>
              <a:rPr lang="en-US" dirty="0"/>
              <a:t>Structured, defined requirements run lower risk</a:t>
            </a:r>
          </a:p>
          <a:p>
            <a:r>
              <a:rPr lang="en-US" dirty="0"/>
              <a:t>Experience with technology</a:t>
            </a:r>
          </a:p>
          <a:p>
            <a:pPr lvl="1"/>
            <a:r>
              <a:rPr lang="en-US" dirty="0"/>
              <a:t>Team familiar with hardware and software</a:t>
            </a:r>
          </a:p>
        </p:txBody>
      </p:sp>
    </p:spTree>
    <p:extLst>
      <p:ext uri="{BB962C8B-B14F-4D97-AF65-F5344CB8AC3E}">
        <p14:creationId xmlns:p14="http://schemas.microsoft.com/office/powerpoint/2010/main" val="4211227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Session: Management: Can the National Health Service Go Paperless?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discussion</a:t>
            </a:r>
          </a:p>
          <a:p>
            <a:pPr lvl="1"/>
            <a:r>
              <a:rPr lang="en-US" dirty="0"/>
              <a:t>Why is paperless NHS a risky project? Identify the key risk factors.</a:t>
            </a:r>
          </a:p>
          <a:p>
            <a:pPr lvl="1"/>
            <a:r>
              <a:rPr lang="en-US" dirty="0"/>
              <a:t>What management, organization, and technology problems is the paperless NHS likely to encounter?</a:t>
            </a:r>
          </a:p>
          <a:p>
            <a:pPr lvl="1"/>
            <a:r>
              <a:rPr lang="en-US" dirty="0"/>
              <a:t>What steps should be taken to make the paperless NHS more successful?</a:t>
            </a:r>
          </a:p>
        </p:txBody>
      </p:sp>
    </p:spTree>
    <p:extLst>
      <p:ext uri="{BB962C8B-B14F-4D97-AF65-F5344CB8AC3E}">
        <p14:creationId xmlns:p14="http://schemas.microsoft.com/office/powerpoint/2010/main" val="316918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and the Concept of</a:t>
            </a:r>
            <a:br>
              <a:rPr lang="en-US" dirty="0"/>
            </a:br>
            <a:r>
              <a:rPr lang="en-US" dirty="0"/>
              <a:t>Implementation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management</a:t>
            </a:r>
          </a:p>
          <a:p>
            <a:pPr lvl="1"/>
            <a:r>
              <a:rPr lang="en-US" dirty="0"/>
              <a:t>Required for successful system building</a:t>
            </a:r>
          </a:p>
          <a:p>
            <a:pPr lvl="1"/>
            <a:r>
              <a:rPr lang="en-US" dirty="0"/>
              <a:t>New information systems have powerful behavioral and organizational impact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All organizational activities working toward adoption, management, and routinization of an innovation</a:t>
            </a:r>
          </a:p>
          <a:p>
            <a:r>
              <a:rPr lang="en-US" dirty="0"/>
              <a:t>Change agent</a:t>
            </a:r>
          </a:p>
          <a:p>
            <a:pPr lvl="1"/>
            <a:r>
              <a:rPr lang="en-US" dirty="0"/>
              <a:t>One role of systems analyst </a:t>
            </a:r>
          </a:p>
          <a:p>
            <a:pPr lvl="1"/>
            <a:r>
              <a:rPr lang="en-US" dirty="0"/>
              <a:t>Redefines the configurations, interactions, job activities, and power relationships of organizational groups</a:t>
            </a:r>
          </a:p>
        </p:txBody>
      </p:sp>
    </p:spTree>
    <p:extLst>
      <p:ext uri="{BB962C8B-B14F-4D97-AF65-F5344CB8AC3E}">
        <p14:creationId xmlns:p14="http://schemas.microsoft.com/office/powerpoint/2010/main" val="3482657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and the Concept of</a:t>
            </a:r>
            <a:br>
              <a:rPr lang="en-US" dirty="0"/>
            </a:br>
            <a:r>
              <a:rPr lang="en-US" dirty="0"/>
              <a:t>Implementation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 of end users </a:t>
            </a:r>
          </a:p>
          <a:p>
            <a:pPr lvl="1"/>
            <a:r>
              <a:rPr lang="en-US" dirty="0"/>
              <a:t>With high levels of user involvement </a:t>
            </a:r>
          </a:p>
          <a:p>
            <a:pPr lvl="2"/>
            <a:r>
              <a:rPr lang="en-US" dirty="0"/>
              <a:t>System more likely to conform to requirements</a:t>
            </a:r>
          </a:p>
          <a:p>
            <a:pPr lvl="2"/>
            <a:r>
              <a:rPr lang="en-US" dirty="0"/>
              <a:t>Users more likely to accept system</a:t>
            </a:r>
          </a:p>
          <a:p>
            <a:r>
              <a:rPr lang="en-US" dirty="0"/>
              <a:t>User–designer communication gap </a:t>
            </a:r>
          </a:p>
          <a:p>
            <a:pPr lvl="1"/>
            <a:r>
              <a:rPr lang="en-US" dirty="0"/>
              <a:t>Users and information systems specialists</a:t>
            </a:r>
          </a:p>
          <a:p>
            <a:r>
              <a:rPr lang="en-US" dirty="0"/>
              <a:t>Management support and commitment</a:t>
            </a:r>
          </a:p>
          <a:p>
            <a:pPr lvl="1"/>
            <a:r>
              <a:rPr lang="en-US" dirty="0"/>
              <a:t>Effects positive perception by both users and technical staff</a:t>
            </a:r>
          </a:p>
          <a:p>
            <a:pPr lvl="1"/>
            <a:r>
              <a:rPr lang="en-US" dirty="0"/>
              <a:t>Ensures sufficient funding and resources</a:t>
            </a:r>
          </a:p>
          <a:p>
            <a:pPr lvl="1"/>
            <a:r>
              <a:rPr lang="en-US" dirty="0"/>
              <a:t>Helps enforce required organizational changes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2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Change Management Challenges for Business Process Reengineering, Enterprise Applications, and Mergers and Acquisitions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r>
              <a:rPr lang="en-US" altLang="en-US" dirty="0"/>
              <a:t>Very high failure rate among enterprise application and BPR projects (up to 70 percent for BPR)</a:t>
            </a:r>
          </a:p>
          <a:p>
            <a:pPr lvl="1"/>
            <a:r>
              <a:rPr lang="en-US" altLang="en-US" dirty="0"/>
              <a:t>Poor implementation and change management practices</a:t>
            </a:r>
          </a:p>
          <a:p>
            <a:pPr lvl="2"/>
            <a:r>
              <a:rPr lang="en-US" altLang="en-US" dirty="0"/>
              <a:t>Employee</a:t>
            </a:r>
            <a:r>
              <a:rPr lang="en-US" altLang="ja-JP" dirty="0"/>
              <a:t> concerns about change</a:t>
            </a:r>
          </a:p>
          <a:p>
            <a:pPr lvl="2"/>
            <a:r>
              <a:rPr lang="en-US" altLang="en-US" dirty="0"/>
              <a:t>Resistance by key managers</a:t>
            </a:r>
          </a:p>
          <a:p>
            <a:pPr lvl="2"/>
            <a:r>
              <a:rPr lang="en-US" altLang="en-US" dirty="0"/>
              <a:t>Changing job functions, career paths, recruitment practices</a:t>
            </a:r>
          </a:p>
          <a:p>
            <a:r>
              <a:rPr lang="en-US" altLang="en-US" dirty="0"/>
              <a:t>Mergers and acquisitions</a:t>
            </a:r>
          </a:p>
          <a:p>
            <a:pPr lvl="1"/>
            <a:r>
              <a:rPr lang="en-US" altLang="en-US" dirty="0"/>
              <a:t>Similarly high failure rate of integration projects</a:t>
            </a:r>
          </a:p>
          <a:p>
            <a:pPr lvl="1"/>
            <a:r>
              <a:rPr lang="en-US" altLang="en-US" dirty="0"/>
              <a:t>Merging of systems of two companies requires:</a:t>
            </a:r>
          </a:p>
          <a:p>
            <a:pPr lvl="2"/>
            <a:r>
              <a:rPr lang="en-US" altLang="en-US" dirty="0"/>
              <a:t>Considerable organizational change, complex systems projects</a:t>
            </a:r>
          </a:p>
        </p:txBody>
      </p:sp>
    </p:spTree>
    <p:extLst>
      <p:ext uri="{BB962C8B-B14F-4D97-AF65-F5344CB8AC3E}">
        <p14:creationId xmlns:p14="http://schemas.microsoft.com/office/powerpoint/2010/main" val="3764728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step in managing project risk involves identifying nature and level of risk of project.</a:t>
            </a:r>
          </a:p>
          <a:p>
            <a:r>
              <a:rPr lang="en-US" dirty="0"/>
              <a:t>Each project can then be managed with tools and risk-management approaches geared to level of risk.</a:t>
            </a:r>
          </a:p>
          <a:p>
            <a:r>
              <a:rPr lang="en-US" dirty="0"/>
              <a:t>Managing technical complexity</a:t>
            </a:r>
          </a:p>
          <a:p>
            <a:pPr lvl="1"/>
            <a:r>
              <a:rPr lang="en-US" dirty="0"/>
              <a:t>Internal integration tools</a:t>
            </a:r>
          </a:p>
          <a:p>
            <a:pPr lvl="2"/>
            <a:r>
              <a:rPr lang="en-US" dirty="0"/>
              <a:t>Project leaders with technical and administrative experience</a:t>
            </a:r>
          </a:p>
          <a:p>
            <a:pPr lvl="2"/>
            <a:r>
              <a:rPr lang="en-US" dirty="0"/>
              <a:t>Highly experienced team members</a:t>
            </a:r>
          </a:p>
          <a:p>
            <a:pPr lvl="2"/>
            <a:r>
              <a:rPr lang="en-US" dirty="0"/>
              <a:t>Frequent team meetings</a:t>
            </a:r>
          </a:p>
          <a:p>
            <a:pPr lvl="2"/>
            <a:r>
              <a:rPr lang="en-US" dirty="0"/>
              <a:t>Securing of technical experience outside firm if necessary</a:t>
            </a:r>
          </a:p>
        </p:txBody>
      </p:sp>
    </p:spTree>
    <p:extLst>
      <p:ext uri="{BB962C8B-B14F-4D97-AF65-F5344CB8AC3E}">
        <p14:creationId xmlns:p14="http://schemas.microsoft.com/office/powerpoint/2010/main" val="1127226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Planning and Control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documenting and monitoring project plans</a:t>
            </a:r>
          </a:p>
          <a:p>
            <a:r>
              <a:rPr lang="en-US" dirty="0"/>
              <a:t>Help identify bottlenecks and impact of problems</a:t>
            </a:r>
          </a:p>
          <a:p>
            <a:r>
              <a:rPr lang="en-US" dirty="0"/>
              <a:t>Gantt charts</a:t>
            </a:r>
          </a:p>
          <a:p>
            <a:pPr lvl="1"/>
            <a:r>
              <a:rPr lang="en-US" dirty="0"/>
              <a:t>Visual representation of timing and duration of tasks</a:t>
            </a:r>
          </a:p>
          <a:p>
            <a:pPr lvl="1"/>
            <a:r>
              <a:rPr lang="en-US" dirty="0"/>
              <a:t>Human resource requirements of tasks</a:t>
            </a:r>
          </a:p>
          <a:p>
            <a:r>
              <a:rPr lang="en-US" dirty="0"/>
              <a:t>PERT charts</a:t>
            </a:r>
          </a:p>
          <a:p>
            <a:pPr lvl="1"/>
            <a:r>
              <a:rPr lang="en-US" dirty="0"/>
              <a:t>Graphically depict tasks and interrelationships</a:t>
            </a:r>
          </a:p>
          <a:p>
            <a:pPr lvl="1"/>
            <a:r>
              <a:rPr lang="en-US" dirty="0"/>
              <a:t>Indicate sequence of tasks necessary</a:t>
            </a:r>
          </a:p>
        </p:txBody>
      </p:sp>
    </p:spTree>
    <p:extLst>
      <p:ext uri="{BB962C8B-B14F-4D97-AF65-F5344CB8AC3E}">
        <p14:creationId xmlns:p14="http://schemas.microsoft.com/office/powerpoint/2010/main" val="1522064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14.4: A Gantt Chart (1 of 3)</a:t>
            </a:r>
          </a:p>
        </p:txBody>
      </p:sp>
      <p:pic>
        <p:nvPicPr>
          <p:cNvPr id="3" name="Picture 2" descr="This figure shows the top portion of a Gantt Chart. 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7"/>
          <a:stretch/>
        </p:blipFill>
        <p:spPr>
          <a:xfrm>
            <a:off x="533399" y="1676400"/>
            <a:ext cx="799289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90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User Involvement and Overcoming User Resistance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integration tools </a:t>
            </a:r>
          </a:p>
          <a:p>
            <a:pPr lvl="1"/>
            <a:r>
              <a:rPr lang="en-US" dirty="0"/>
              <a:t>Link work of implementation team to users at all levels</a:t>
            </a:r>
          </a:p>
          <a:p>
            <a:r>
              <a:rPr lang="en-US" dirty="0"/>
              <a:t>User resistance to organizational change</a:t>
            </a:r>
          </a:p>
          <a:p>
            <a:pPr lvl="1"/>
            <a:r>
              <a:rPr lang="en-US" dirty="0"/>
              <a:t>Counterimplementation </a:t>
            </a:r>
          </a:p>
          <a:p>
            <a:r>
              <a:rPr lang="en-US" dirty="0"/>
              <a:t>Strategies to overcome user resistance</a:t>
            </a:r>
          </a:p>
          <a:p>
            <a:pPr lvl="1"/>
            <a:r>
              <a:rPr lang="en-US" dirty="0"/>
              <a:t>User participation, education and training</a:t>
            </a:r>
          </a:p>
          <a:p>
            <a:pPr lvl="1"/>
            <a:r>
              <a:rPr lang="en-US" dirty="0"/>
              <a:t>Management edicts and policies</a:t>
            </a:r>
          </a:p>
          <a:p>
            <a:pPr lvl="1"/>
            <a:r>
              <a:rPr lang="en-US" dirty="0"/>
              <a:t>Incentives for cooperation</a:t>
            </a:r>
          </a:p>
          <a:p>
            <a:pPr lvl="1"/>
            <a:r>
              <a:rPr lang="en-US" dirty="0"/>
              <a:t>Improvement of end-user interface</a:t>
            </a:r>
          </a:p>
          <a:p>
            <a:pPr lvl="1"/>
            <a:r>
              <a:rPr lang="en-US" dirty="0"/>
              <a:t>Resolution of organizational problems prior to introduction of new system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84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for the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address ways in which organization changes with new system</a:t>
            </a:r>
          </a:p>
          <a:p>
            <a:r>
              <a:rPr lang="en-US" dirty="0"/>
              <a:t>Ergonomics</a:t>
            </a:r>
          </a:p>
          <a:p>
            <a:pPr lvl="1"/>
            <a:r>
              <a:rPr lang="en-US" dirty="0"/>
              <a:t>Interaction of people and machines in work environment</a:t>
            </a:r>
          </a:p>
          <a:p>
            <a:r>
              <a:rPr lang="en-US" dirty="0"/>
              <a:t>Organizational impact analysis </a:t>
            </a:r>
          </a:p>
          <a:p>
            <a:pPr lvl="1"/>
            <a:r>
              <a:rPr lang="en-US" dirty="0"/>
              <a:t>How system will affect organizational structure, attitudes, decision making, operations</a:t>
            </a:r>
          </a:p>
          <a:p>
            <a:r>
              <a:rPr lang="en-US" dirty="0"/>
              <a:t>Sociotechnical design</a:t>
            </a:r>
          </a:p>
          <a:p>
            <a:pPr lvl="1"/>
            <a:r>
              <a:rPr lang="en-US" dirty="0"/>
              <a:t>Addresses human and organizational issues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37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 Software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automate many aspects of project management</a:t>
            </a:r>
          </a:p>
          <a:p>
            <a:r>
              <a:rPr lang="en-US" dirty="0"/>
              <a:t>Capabilities for defining, ordering tasks</a:t>
            </a:r>
          </a:p>
          <a:p>
            <a:pPr lvl="1"/>
            <a:r>
              <a:rPr lang="en-US" dirty="0"/>
              <a:t>Assigning resources to tasks, tracking progress</a:t>
            </a:r>
          </a:p>
          <a:p>
            <a:pPr lvl="1"/>
            <a:r>
              <a:rPr lang="en-US" dirty="0"/>
              <a:t>Manage very large numbers of tasks and relationships</a:t>
            </a:r>
          </a:p>
          <a:p>
            <a:r>
              <a:rPr lang="en-US" dirty="0"/>
              <a:t>Microsoft Project</a:t>
            </a:r>
          </a:p>
          <a:p>
            <a:r>
              <a:rPr lang="en-US" dirty="0"/>
              <a:t>Cloud-based software</a:t>
            </a:r>
          </a:p>
          <a:p>
            <a:r>
              <a:rPr lang="en-US" dirty="0"/>
              <a:t>Project portfolio management software</a:t>
            </a:r>
          </a:p>
        </p:txBody>
      </p:sp>
    </p:spTree>
    <p:extLst>
      <p:ext uri="{BB962C8B-B14F-4D97-AF65-F5344CB8AC3E}">
        <p14:creationId xmlns:p14="http://schemas.microsoft.com/office/powerpoint/2010/main" val="930874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62D7-11F4-4633-B50B-65DAD26D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15C19-970B-4D41-BF08-3448C16D4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63139"/>
      </p:ext>
    </p:extLst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3638</TotalTime>
  <Words>1190</Words>
  <Application>Microsoft Office PowerPoint</Application>
  <PresentationFormat>On-screen Show (4:3)</PresentationFormat>
  <Paragraphs>282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Times New Roman</vt:lpstr>
      <vt:lpstr>Verdana</vt:lpstr>
      <vt:lpstr>Wingdings</vt:lpstr>
      <vt:lpstr>508 Lecture</vt:lpstr>
      <vt:lpstr>Management Information Systems: Managing the Digital Firm</vt:lpstr>
      <vt:lpstr>Runaway Projects and System Failure</vt:lpstr>
      <vt:lpstr>Figure 14.1: Consequences of Poor Project Management</vt:lpstr>
      <vt:lpstr>Project Management Objectives</vt:lpstr>
      <vt:lpstr>Management Structure for Information Systems Projects</vt:lpstr>
      <vt:lpstr>Figure 14.2: Management Control of Systems Projects</vt:lpstr>
      <vt:lpstr>Information Systems Plan (1 of 2)</vt:lpstr>
      <vt:lpstr>Information Systems Plan (2 of 2)</vt:lpstr>
      <vt:lpstr>Portfolio Analysis</vt:lpstr>
      <vt:lpstr>Scoring Models</vt:lpstr>
      <vt:lpstr>Table 14.2 Example of a Scoring Model for an ERP System</vt:lpstr>
      <vt:lpstr>Information System Costs and Benefits</vt:lpstr>
      <vt:lpstr>Capital Budgeting for Information Systems</vt:lpstr>
      <vt:lpstr>Dimensions of Project Risk</vt:lpstr>
      <vt:lpstr>Interactive Session: Management: Can the National Health Service Go Paperless?</vt:lpstr>
      <vt:lpstr>Change Management and the Concept of Implementation (1 of 2)</vt:lpstr>
      <vt:lpstr>Change Management and the Concept of Implementation (2 of 2)</vt:lpstr>
      <vt:lpstr>Change Management Challenges for Business Process Reengineering, Enterprise Applications, and Mergers and Acquisitions</vt:lpstr>
      <vt:lpstr>Controlling Risk Factors</vt:lpstr>
      <vt:lpstr>Formal Planning and Control Tools</vt:lpstr>
      <vt:lpstr>Figure 14.4: A Gantt Chart (1 of 3)</vt:lpstr>
      <vt:lpstr>Increasing User Involvement and Overcoming User Resistance</vt:lpstr>
      <vt:lpstr>Designing for the Organization</vt:lpstr>
      <vt:lpstr>Project Management Software Tools</vt:lpstr>
      <vt:lpstr>End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Management Information Systems:  Managing the Digital Firm, 15th edition</dc:subject>
  <dc:creator>Kenneth C. Laudon/Jane P. Laudon</dc:creator>
  <cp:keywords>Management Information Systems</cp:keywords>
  <cp:lastModifiedBy>Hansen, Atanas Y.</cp:lastModifiedBy>
  <cp:revision>216</cp:revision>
  <dcterms:created xsi:type="dcterms:W3CDTF">2014-07-14T20:04:21Z</dcterms:created>
  <dcterms:modified xsi:type="dcterms:W3CDTF">2018-08-07T17:27:51Z</dcterms:modified>
  <cp:category>Information Systems</cp:category>
</cp:coreProperties>
</file>